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14b74005-b9ad-4dbf-2c2b-15d806cc1f07}">
          <p14:sldIdLst>
            <p14:sldId id="256"/>
            <p14:sldId id="257"/>
            <p14:sldId id="258"/>
            <p14:sldId id="259"/>
            <p14:sldId id="260"/>
            <p14:sldId id="261"/>
          </p14:sldIdLst>
        </p14:section>
        <p14:section name="How it works" id="{68ae3161-24a0-6c9a-2b36-1b3fd24e1ba1}">
          <p14:sldIdLst>
            <p14:sldId id="262"/>
            <p14:sldId id="263"/>
            <p14:sldId id="264"/>
            <p14:sldId id="265"/>
            <p14:sldId id="266"/>
          </p14:sldIdLst>
        </p14:section>
        <p14:section name="Delivery and operations" id="{96826f73-0c73-98f4-c04f-d9ea629aa4e4}">
          <p14:sldIdLst>
            <p14:sldId id="267"/>
            <p14:sldId id="268"/>
            <p14:sldId id="269"/>
            <p14:sldId id="270"/>
            <p14:sldId id="271"/>
            <p14:sldId id="272"/>
          </p14:sldIdLst>
        </p14:section>
        <p14:section name="Decision" id="{517f1d34-a87d-b10b-5fce-9962cb658129}">
          <p14:sldIdLst>
            <p14:sldId id="273"/>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summarizes the architecture document in Docs/AgentGateway/architecture.md. It describes one of two options under evaluation. Nothing here is selected, deployed or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capabilities need no hosted compute, so teams get value before any agent is deployed. Hosted agents are an additional offering. AgentCore is the other option and is evaluated on the same requirements, pilot workload, experiments and scorecard.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developer workflows. A service can publish only skills and prompts, or register an existing remote tool service. Agent teams decide when to adopt published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top to bottom. Agentgateway is the new layer. Conventional workloads and hosted MCP servers are new conventions on existing EKS. kagent with Agent Substrate is a candidate, labeled alpha upstream. Agentregistry and Langfuse are optional. Everything in gray exists today and still has to be inventoried.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document lists ten principles. These six drive most design choices. The fifth matters for the shared application library: it is a convenience, because a team can build without it, so nothing mandatory may live only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Versions and maturity labels are what each project's documentation showed on 5 October 2026. Nothing is pinned or tested. The Istio integration is listed because it is the alternative way to run Agentgateway; the working assumption is a standalone controller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gateway decides whether this caller may use this tool. The service still decides whether this payment belongs to this tenant. Agentgateway documents a native Okta provider for MCP authentication; compatibility with our actual clients is an experiment, not an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usually configure a model endpoint as a base URL and bearer credential, so the Okta MCP flow does not cover model requests by itself. What the caller presents is open decision D-4. Shared token budgets need a separately deployed rate-limit server, and its failure behavior is open decision D-6.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separates the human requesting work, the workload performing it, and the downstream service that authorizes the operation. Every supported connection needs a positive and a negative test. The connection matrix in the document lists twelve connections with the credential and the authorizing party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gateway is a control point only if calls around it fail. These are candidate controls; none is selected, because the cluster's network policy engine and secret mechanism are not yet inventoried. Each row needs a denied-path result in the pilot. The CI runners are self-hosted in this cluster, which is why job pods are on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kagent could avoid building a custom agent specification and session controller, but its 1.0 documentation is labeled alpha. It adds a controller, the Substrate control plane, worker pools and a snapshot store. The pilot runs the same agent on both paths where requirements permit, after checking it against the bring-your-own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uses the existing GitLab CI/CD and Helmfile pipeline. The same bytes move between environments; endpoints, identities and data bindings differ. There are exactly two recovery paths, and the notes do not propose a third, expedited pipeline. The runners run in the cluster, so the emergency path must work without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release moves left to right, and no later stage rewrites what an earlier one owns. AWS infrastructure stays in the existing Terraform, OpenTofu and Terragrunt units, with one state owner per resource. Catalog metadata is not deployment state. Adopting the registry's deployment integration would mean removing the conflicting Helm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developer goes only as far down this list as the use case needs. An existing REST API needs an explicit adapter or supported transformation before MCP clients can call it as a tool; registering a URL or publishing a skill does not establish protocol compatibility.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application conventions sit above the platform and apply to both options. Behavior is shared as versioned packages and a base application image; a thin starter supplies repository plumbing. If several teams reach level 3 for the same piece, the package boundary is in the wrong place. None of this is built yet: the library is to be extracted from the first hosted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existing OpenTelemetry collectors and vendor backend are reused. Which of New Relic or Dynatrace is the operational backend is still to be agreed, and the pilot runs against one. Proxy telemetry alone cannot explain an agent's internal reasoning, so applications instrument their own model and tool calls. Langfuse is optional and not in the initial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page for this option lists every line and prices none. AgentCore has a priced inventory with illustrative totals, so the two cannot be compared on totals yet. Both are to be priced for the same assumed session profile, then replaced with measurements. Count unsuccessful runs and retries, and do not treat existing capacity or open-source software as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describes one option and is not a comparison. The two options share the same requirement values, one pilot workload, twelve common experiments and one ten-criterion scorecard. Possible outcomes are a smaller tool-access platform, conventional EKS execution, conditional kagent adoption, AgentCore, hybrid use, deferral or rejection.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document's risk register has thirteen rows; these are the six that most affect the pilot plan. It also lists five topics the notes do not yet cover: Okta outage behavior, multi-region and disaster recovery, gateway count beyond the pilot, guardrail policy, and the format of the entitlement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document makes seven working assumptions so the design can be concrete; five are shown. Each is tied to an open decision and can be reversed by pilot evidence. Four forks carry no assumption because neither the notes nor the upstream documentation favors a side. The document lists fifteen open decisions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pilot begins with a thin useful workflow and adds components only when they solve an observed requirement. An experiment can produce observations before its threshold is agreed, but it cannot be declared a pass. A fifth stop condition applies at any step: if a requirement needed for the next step is still not agreed at the review date, that step pauses.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inputs needed before pilot step 2. The first is the precondition for everything else: without a duration and a review date, a missing threshold becomes an open-ended pilot instead of a blocked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721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309360" cy="9144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640080" y="2880360"/>
            <a:ext cx="6035040" cy="1097280"/>
          </a:xfrm>
          <a:prstGeom prst="rect">
            <a:avLst/>
          </a:prstGeom>
          <a:noFill/>
          <a:ln/>
        </p:spPr>
        <p:txBody>
          <a:bodyPr wrap="square" rtlCol="0"/>
          <a:lstStyle>
            <a:lvl1pPr algn="l" indent="0" marL="0">
              <a:buNone/>
              <a:defRPr lang="en-US" sz="2200" dirty="0">
                <a:solidFill>
                  <a:schemeClr val="bg1"/>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86868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EKS Agent Platform  |  Proposed architecture, not selected</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721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868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3.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309360" cy="914400"/>
          </a:xfrm>
          <a:prstGeom prst="rect">
            <a:avLst/>
          </a:prstGeom>
          <a:noFill/>
          <a:ln/>
        </p:spPr>
        <p:txBody>
          <a:bodyPr wrap="square" lIns="0" tIns="0" rIns="0" bIns="0" rtlCol="0" anchor="t"/>
          <a:lstStyle/>
          <a:p>
            <a:pPr algn="l" indent="0" marL="0">
              <a:buNone/>
            </a:pPr>
            <a:r>
              <a:rPr lang="en-US" sz="4800" b="1" dirty="0">
                <a:solidFill>
                  <a:schemeClr val="bg1"/>
                </a:solidFill>
              </a:rPr>
              <a:t>EKS Agent Platform</a:t>
            </a:r>
            <a:endParaRPr lang="en-US" sz="4800" dirty="0"/>
          </a:p>
        </p:txBody>
      </p:sp>
      <p:sp>
        <p:nvSpPr>
          <p:cNvPr id="3" name="Text 0"/>
          <p:cNvSpPr/>
          <p:nvPr>
            <p:ph idx="101" type="body" hasCustomPrompt="1"/>
          </p:nvPr>
        </p:nvSpPr>
        <p:spPr>
          <a:xfrm>
            <a:off x="640080" y="2880360"/>
            <a:ext cx="6035040" cy="1097280"/>
          </a:xfrm>
          <a:prstGeom prst="rect">
            <a:avLst/>
          </a:prstGeom>
          <a:noFill/>
          <a:ln/>
        </p:spPr>
        <p:txBody>
          <a:bodyPr wrap="square" lIns="0" tIns="0" rIns="0" bIns="0" rtlCol="0" anchor="t"/>
          <a:lstStyle/>
          <a:p>
            <a:pPr algn="l" indent="0" marL="0">
              <a:buNone/>
            </a:pPr>
            <a:r>
              <a:rPr lang="en-US" sz="2200" dirty="0">
                <a:solidFill>
                  <a:schemeClr val="bg1"/>
                </a:solidFill>
              </a:rPr>
              <a:t>Proposed target architecture, with Agentgateway as the connectivity layer</a:t>
            </a:r>
            <a:endParaRPr lang="en-US" sz="2200" dirty="0"/>
          </a:p>
        </p:txBody>
      </p:sp>
      <p:sp>
        <p:nvSpPr>
          <p:cNvPr id="4" name="Status pill"/>
          <p:cNvSpPr txBox="1"/>
          <p:nvPr/>
        </p:nvSpPr>
        <p:spPr>
          <a:xfrm>
            <a:off x="640080" y="4343400"/>
            <a:ext cx="6035040" cy="457200"/>
          </a:xfrm>
          <a:prstGeom prst="roundRect">
            <a:avLst>
              <a:gd name="adj" fmla="val 24000"/>
            </a:avLst>
          </a:prstGeom>
          <a:solidFill>
            <a:schemeClr val="bg1">
              <a:alpha val="10000"/>
            </a:schemeClr>
          </a:solidFill>
          <a:ln/>
        </p:spPr>
        <p:txBody>
          <a:bodyPr wrap="square" lIns="635" tIns="635" rIns="635" bIns="635" rtlCol="0" anchor="ctr"/>
          <a:lstStyle/>
          <a:p>
            <a:pPr algn="ctr" indent="0" marL="0">
              <a:buNone/>
            </a:pPr>
            <a:r>
              <a:rPr lang="en-US" sz="1300" dirty="0">
                <a:solidFill>
                  <a:schemeClr val="bg1"/>
                </a:solidFill>
              </a:rPr>
              <a:t>Draft 0.1  |  5 October 2026  |  Not selected, not deployed, no pilot results</a:t>
            </a:r>
            <a:endParaRPr lang="en-US" sz="1300" dirty="0"/>
          </a:p>
        </p:txBody>
      </p:sp>
      <p:sp>
        <p:nvSpPr>
          <p:cNvPr id="5" name="Layer 1"/>
          <p:cNvSpPr txBox="1"/>
          <p:nvPr/>
        </p:nvSpPr>
        <p:spPr>
          <a:xfrm>
            <a:off x="7635240" y="1417320"/>
            <a:ext cx="3977640" cy="676656"/>
          </a:xfrm>
          <a:prstGeom prst="roundRect">
            <a:avLst>
              <a:gd name="adj" fmla="val 13514"/>
            </a:avLst>
          </a:prstGeom>
          <a:solidFill>
            <a:schemeClr val="bg1">
              <a:alpha val="8000"/>
            </a:schemeClr>
          </a:solidFill>
          <a:ln w="12700">
            <a:solidFill>
              <a:schemeClr val="bg1">
                <a:alpha val="45000"/>
              </a:schemeClr>
            </a:solidFill>
          </a:ln>
        </p:spPr>
        <p:txBody>
          <a:bodyPr wrap="square" lIns="1016" tIns="1016" rIns="1016" bIns="1016" rtlCol="0" anchor="ctr"/>
          <a:lstStyle/>
          <a:p>
            <a:pPr algn="ctr" indent="0" marL="0">
              <a:buNone/>
            </a:pPr>
            <a:r>
              <a:rPr lang="en-US" sz="1300" dirty="0">
                <a:solidFill>
                  <a:schemeClr val="bg1"/>
                </a:solidFill>
              </a:rPr>
              <a:t>Developer clients and users of hosted agents</a:t>
            </a:r>
            <a:endParaRPr lang="en-US" sz="1300" dirty="0"/>
          </a:p>
        </p:txBody>
      </p:sp>
      <p:sp>
        <p:nvSpPr>
          <p:cNvPr id="6" name="Layer 2"/>
          <p:cNvSpPr txBox="1"/>
          <p:nvPr/>
        </p:nvSpPr>
        <p:spPr>
          <a:xfrm>
            <a:off x="7635240" y="2240280"/>
            <a:ext cx="3977640" cy="676656"/>
          </a:xfrm>
          <a:prstGeom prst="roundRect">
            <a:avLst>
              <a:gd name="adj" fmla="val 13514"/>
            </a:avLst>
          </a:prstGeom>
          <a:solidFill>
            <a:schemeClr val="accent1"/>
          </a:solidFill>
          <a:ln w="12700">
            <a:solidFill>
              <a:schemeClr val="accent1"/>
            </a:solidFill>
          </a:ln>
        </p:spPr>
        <p:txBody>
          <a:bodyPr wrap="square" lIns="1016" tIns="1016" rIns="1016" bIns="1016" rtlCol="0" anchor="ctr"/>
          <a:lstStyle/>
          <a:p>
            <a:pPr algn="ctr" indent="0" marL="0">
              <a:buNone/>
            </a:pPr>
            <a:r>
              <a:rPr lang="en-US" sz="1800" b="1" dirty="0">
                <a:solidFill>
                  <a:schemeClr val="bg1"/>
                </a:solidFill>
              </a:rPr>
              <a:t>Agentgateway</a:t>
            </a:r>
            <a:endParaRPr lang="en-US" sz="1800" dirty="0"/>
          </a:p>
        </p:txBody>
      </p:sp>
      <p:sp>
        <p:nvSpPr>
          <p:cNvPr id="7" name="Layer 3"/>
          <p:cNvSpPr txBox="1"/>
          <p:nvPr/>
        </p:nvSpPr>
        <p:spPr>
          <a:xfrm>
            <a:off x="7635240" y="3063240"/>
            <a:ext cx="3977640" cy="676656"/>
          </a:xfrm>
          <a:prstGeom prst="roundRect">
            <a:avLst>
              <a:gd name="adj" fmla="val 13514"/>
            </a:avLst>
          </a:prstGeom>
          <a:solidFill>
            <a:schemeClr val="bg1">
              <a:alpha val="8000"/>
            </a:schemeClr>
          </a:solidFill>
          <a:ln w="12700">
            <a:solidFill>
              <a:schemeClr val="bg1">
                <a:alpha val="45000"/>
              </a:schemeClr>
            </a:solidFill>
          </a:ln>
        </p:spPr>
        <p:txBody>
          <a:bodyPr wrap="square" lIns="1016" tIns="1016" rIns="1016" bIns="1016" rtlCol="0" anchor="ctr"/>
          <a:lstStyle/>
          <a:p>
            <a:pPr algn="ctr" indent="0" marL="0">
              <a:buNone/>
            </a:pPr>
            <a:r>
              <a:rPr lang="en-US" sz="1300" dirty="0">
                <a:solidFill>
                  <a:schemeClr val="bg1"/>
                </a:solidFill>
              </a:rPr>
              <a:t>Conventional workloads  |  kagent (candidate)</a:t>
            </a:r>
            <a:endParaRPr lang="en-US" sz="1300" dirty="0"/>
          </a:p>
        </p:txBody>
      </p:sp>
      <p:sp>
        <p:nvSpPr>
          <p:cNvPr id="8" name="Layer 4"/>
          <p:cNvSpPr txBox="1"/>
          <p:nvPr/>
        </p:nvSpPr>
        <p:spPr>
          <a:xfrm>
            <a:off x="7635240" y="3886200"/>
            <a:ext cx="3977640" cy="676656"/>
          </a:xfrm>
          <a:prstGeom prst="roundRect">
            <a:avLst>
              <a:gd name="adj" fmla="val 13514"/>
            </a:avLst>
          </a:prstGeom>
          <a:solidFill>
            <a:schemeClr val="bg1">
              <a:alpha val="8000"/>
            </a:schemeClr>
          </a:solidFill>
          <a:ln w="12700">
            <a:solidFill>
              <a:schemeClr val="bg1">
                <a:alpha val="45000"/>
              </a:schemeClr>
            </a:solidFill>
          </a:ln>
        </p:spPr>
        <p:txBody>
          <a:bodyPr wrap="square" lIns="1016" tIns="1016" rIns="1016" bIns="1016" rtlCol="0" anchor="ctr"/>
          <a:lstStyle/>
          <a:p>
            <a:pPr algn="ctr" indent="0" marL="0">
              <a:buNone/>
            </a:pPr>
            <a:r>
              <a:rPr lang="en-US" sz="1300" dirty="0">
                <a:solidFill>
                  <a:schemeClr val="bg1"/>
                </a:solidFill>
              </a:rPr>
              <a:t>Service APIs, MCP servers, model providers</a:t>
            </a:r>
            <a:endParaRPr lang="en-US" sz="1300" dirty="0"/>
          </a:p>
        </p:txBody>
      </p:sp>
      <p:sp>
        <p:nvSpPr>
          <p:cNvPr id="9" name="Layer 5"/>
          <p:cNvSpPr txBox="1"/>
          <p:nvPr/>
        </p:nvSpPr>
        <p:spPr>
          <a:xfrm>
            <a:off x="7635240" y="4709160"/>
            <a:ext cx="3977640" cy="676656"/>
          </a:xfrm>
          <a:prstGeom prst="roundRect">
            <a:avLst>
              <a:gd name="adj" fmla="val 13514"/>
            </a:avLst>
          </a:prstGeom>
          <a:solidFill>
            <a:schemeClr val="bg1">
              <a:alpha val="8000"/>
            </a:schemeClr>
          </a:solidFill>
          <a:ln w="12700">
            <a:solidFill>
              <a:schemeClr val="bg1">
                <a:alpha val="45000"/>
              </a:schemeClr>
            </a:solidFill>
          </a:ln>
        </p:spPr>
        <p:txBody>
          <a:bodyPr wrap="square" lIns="1016" tIns="1016" rIns="1016" bIns="1016" rtlCol="0" anchor="ctr"/>
          <a:lstStyle/>
          <a:p>
            <a:pPr algn="ctr" indent="0" marL="0">
              <a:buNone/>
            </a:pPr>
            <a:r>
              <a:rPr lang="en-US" sz="1300" dirty="0">
                <a:solidFill>
                  <a:schemeClr val="bg1"/>
                </a:solidFill>
              </a:rPr>
              <a:t>Existing EKS, Okta, Istio, Kyverno, OTel, GitLab CI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Tool and model access first, hosting second</a:t>
            </a:r>
            <a:endParaRPr lang="en-US" sz="3600" dirty="0"/>
          </a:p>
        </p:txBody>
      </p:sp>
      <p:sp>
        <p:nvSpPr>
          <p:cNvPr id="4" name="Governed access card"/>
          <p:cNvSpPr/>
          <p:nvPr/>
        </p:nvSpPr>
        <p:spPr>
          <a:xfrm>
            <a:off x="548640" y="1600200"/>
            <a:ext cx="3483864" cy="2971800"/>
          </a:xfrm>
          <a:prstGeom prst="roundRect">
            <a:avLst>
              <a:gd name="adj" fmla="val 3077"/>
            </a:avLst>
          </a:prstGeom>
          <a:solidFill>
            <a:schemeClr val="bg2"/>
          </a:solidFill>
          <a:ln/>
        </p:spPr>
      </p:sp>
      <p:sp>
        <p:nvSpPr>
          <p:cNvPr id="5" name="Governed access circle"/>
          <p:cNvSpPr/>
          <p:nvPr/>
        </p:nvSpPr>
        <p:spPr>
          <a:xfrm>
            <a:off x="822960" y="1874520"/>
            <a:ext cx="658368" cy="658368"/>
          </a:xfrm>
          <a:prstGeom prst="ellipse">
            <a:avLst/>
          </a:prstGeom>
          <a:solidFill>
            <a:schemeClr val="accent1"/>
          </a:solidFill>
          <a:ln/>
        </p:spPr>
      </p:sp>
      <p:pic>
        <p:nvPicPr>
          <p:cNvPr id="6" name="Governed access icon" descr="preencoded.png">    </p:cNvPr>
          <p:cNvPicPr>
            <a:picLocks noChangeAspect="1"/>
          </p:cNvPicPr>
          <p:nvPr/>
        </p:nvPicPr>
        <p:blipFill>
          <a:blip r:embed="rId1"/>
          <a:stretch>
            <a:fillRect/>
          </a:stretch>
        </p:blipFill>
        <p:spPr>
          <a:xfrm>
            <a:off x="987552" y="2039112"/>
            <a:ext cx="329184" cy="329184"/>
          </a:xfrm>
          <a:prstGeom prst="rect">
            <a:avLst/>
          </a:prstGeom>
        </p:spPr>
      </p:pic>
      <p:sp>
        <p:nvSpPr>
          <p:cNvPr id="7" name="Governed access heading"/>
          <p:cNvSpPr txBox="1"/>
          <p:nvPr/>
        </p:nvSpPr>
        <p:spPr>
          <a:xfrm>
            <a:off x="822960" y="2743200"/>
            <a:ext cx="2935224" cy="365760"/>
          </a:xfrm>
          <a:prstGeom prst="rect">
            <a:avLst/>
          </a:prstGeom>
          <a:noFill/>
          <a:ln/>
        </p:spPr>
        <p:txBody>
          <a:bodyPr wrap="square" lIns="0" tIns="0" rIns="0" bIns="0" rtlCol="0" anchor="t"/>
          <a:lstStyle/>
          <a:p>
            <a:pPr algn="l" indent="0" marL="0">
              <a:buNone/>
            </a:pPr>
            <a:r>
              <a:rPr lang="en-US" sz="2000" b="1" dirty="0">
                <a:solidFill>
                  <a:schemeClr val="tx2"/>
                </a:solidFill>
              </a:rPr>
              <a:t>Governed access</a:t>
            </a:r>
            <a:endParaRPr lang="en-US" sz="2000" dirty="0"/>
          </a:p>
        </p:txBody>
      </p:sp>
      <p:sp>
        <p:nvSpPr>
          <p:cNvPr id="8" name="Governed access text"/>
          <p:cNvSpPr txBox="1"/>
          <p:nvPr/>
        </p:nvSpPr>
        <p:spPr>
          <a:xfrm>
            <a:off x="822960" y="3200400"/>
            <a:ext cx="2935224" cy="1234440"/>
          </a:xfrm>
          <a:prstGeom prst="rect">
            <a:avLst/>
          </a:prstGeom>
          <a:noFill/>
          <a:ln/>
        </p:spPr>
        <p:txBody>
          <a:bodyPr wrap="square" lIns="0" tIns="0" rIns="0" bIns="0" rtlCol="0" anchor="t"/>
          <a:lstStyle/>
          <a:p>
            <a:pPr algn="l" indent="0" marL="0">
              <a:buNone/>
            </a:pPr>
            <a:r>
              <a:rPr lang="en-US" sz="1500" dirty="0">
                <a:solidFill>
                  <a:schemeClr val="tx1"/>
                </a:solidFill>
              </a:rPr>
              <a:t>The developer clients people already use reach approved tools and models through one gateway, signed in with Okta.</a:t>
            </a:r>
            <a:endParaRPr lang="en-US" sz="1500" dirty="0"/>
          </a:p>
        </p:txBody>
      </p:sp>
      <p:sp>
        <p:nvSpPr>
          <p:cNvPr id="9" name="Independent publishing card"/>
          <p:cNvSpPr/>
          <p:nvPr/>
        </p:nvSpPr>
        <p:spPr>
          <a:xfrm>
            <a:off x="4352544" y="1600200"/>
            <a:ext cx="3483864" cy="2971800"/>
          </a:xfrm>
          <a:prstGeom prst="roundRect">
            <a:avLst>
              <a:gd name="adj" fmla="val 3077"/>
            </a:avLst>
          </a:prstGeom>
          <a:solidFill>
            <a:schemeClr val="bg2"/>
          </a:solidFill>
          <a:ln/>
        </p:spPr>
      </p:sp>
      <p:sp>
        <p:nvSpPr>
          <p:cNvPr id="10" name="Independent publishing circle"/>
          <p:cNvSpPr/>
          <p:nvPr/>
        </p:nvSpPr>
        <p:spPr>
          <a:xfrm>
            <a:off x="4626864" y="1874520"/>
            <a:ext cx="658368" cy="658368"/>
          </a:xfrm>
          <a:prstGeom prst="ellipse">
            <a:avLst/>
          </a:prstGeom>
          <a:solidFill>
            <a:schemeClr val="accent1"/>
          </a:solidFill>
          <a:ln/>
        </p:spPr>
      </p:sp>
      <p:pic>
        <p:nvPicPr>
          <p:cNvPr id="11" name="Independent publishing icon" descr="preencoded.png">    </p:cNvPr>
          <p:cNvPicPr>
            <a:picLocks noChangeAspect="1"/>
          </p:cNvPicPr>
          <p:nvPr/>
        </p:nvPicPr>
        <p:blipFill>
          <a:blip r:embed="rId2"/>
          <a:stretch>
            <a:fillRect/>
          </a:stretch>
        </p:blipFill>
        <p:spPr>
          <a:xfrm>
            <a:off x="4791456" y="2039112"/>
            <a:ext cx="329184" cy="329184"/>
          </a:xfrm>
          <a:prstGeom prst="rect">
            <a:avLst/>
          </a:prstGeom>
        </p:spPr>
      </p:pic>
      <p:sp>
        <p:nvSpPr>
          <p:cNvPr id="12" name="Independent publishing heading"/>
          <p:cNvSpPr txBox="1"/>
          <p:nvPr/>
        </p:nvSpPr>
        <p:spPr>
          <a:xfrm>
            <a:off x="4626864" y="2743200"/>
            <a:ext cx="2935224" cy="365760"/>
          </a:xfrm>
          <a:prstGeom prst="rect">
            <a:avLst/>
          </a:prstGeom>
          <a:noFill/>
          <a:ln/>
        </p:spPr>
        <p:txBody>
          <a:bodyPr wrap="square" lIns="0" tIns="0" rIns="0" bIns="0" rtlCol="0" anchor="t"/>
          <a:lstStyle/>
          <a:p>
            <a:pPr algn="l" indent="0" marL="0">
              <a:buNone/>
            </a:pPr>
            <a:r>
              <a:rPr lang="en-US" sz="2000" b="1" dirty="0">
                <a:solidFill>
                  <a:schemeClr val="tx2"/>
                </a:solidFill>
              </a:rPr>
              <a:t>Independent publishing</a:t>
            </a:r>
            <a:endParaRPr lang="en-US" sz="2000" dirty="0"/>
          </a:p>
        </p:txBody>
      </p:sp>
      <p:sp>
        <p:nvSpPr>
          <p:cNvPr id="13" name="Independent publishing text"/>
          <p:cNvSpPr txBox="1"/>
          <p:nvPr/>
        </p:nvSpPr>
        <p:spPr>
          <a:xfrm>
            <a:off x="4626864" y="3200400"/>
            <a:ext cx="2935224" cy="1234440"/>
          </a:xfrm>
          <a:prstGeom prst="rect">
            <a:avLst/>
          </a:prstGeom>
          <a:noFill/>
          <a:ln/>
        </p:spPr>
        <p:txBody>
          <a:bodyPr wrap="square" lIns="0" tIns="0" rIns="0" bIns="0" rtlCol="0" anchor="t"/>
          <a:lstStyle/>
          <a:p>
            <a:pPr algn="l" indent="0" marL="0">
              <a:buNone/>
            </a:pPr>
            <a:r>
              <a:rPr lang="en-US" sz="1500" dirty="0">
                <a:solidFill>
                  <a:schemeClr val="tx1"/>
                </a:solidFill>
              </a:rPr>
              <a:t>A service team publishes a tool, or written guidance for its API, without owning the agents that consume it.</a:t>
            </a:r>
            <a:endParaRPr lang="en-US" sz="1500" dirty="0"/>
          </a:p>
        </p:txBody>
      </p:sp>
      <p:sp>
        <p:nvSpPr>
          <p:cNvPr id="14" name="Hosted agents card"/>
          <p:cNvSpPr/>
          <p:nvPr/>
        </p:nvSpPr>
        <p:spPr>
          <a:xfrm>
            <a:off x="8156448" y="1600200"/>
            <a:ext cx="3483864" cy="2971800"/>
          </a:xfrm>
          <a:prstGeom prst="roundRect">
            <a:avLst>
              <a:gd name="adj" fmla="val 3077"/>
            </a:avLst>
          </a:prstGeom>
          <a:solidFill>
            <a:schemeClr val="bg2"/>
          </a:solidFill>
          <a:ln/>
        </p:spPr>
      </p:sp>
      <p:sp>
        <p:nvSpPr>
          <p:cNvPr id="15" name="Hosted agents circle"/>
          <p:cNvSpPr/>
          <p:nvPr/>
        </p:nvSpPr>
        <p:spPr>
          <a:xfrm>
            <a:off x="8430768" y="1874520"/>
            <a:ext cx="658368" cy="658368"/>
          </a:xfrm>
          <a:prstGeom prst="ellipse">
            <a:avLst/>
          </a:prstGeom>
          <a:solidFill>
            <a:schemeClr val="accent1"/>
          </a:solidFill>
          <a:ln/>
        </p:spPr>
      </p:sp>
      <p:pic>
        <p:nvPicPr>
          <p:cNvPr id="16" name="Hosted agents icon" descr="preencoded.png">    </p:cNvPr>
          <p:cNvPicPr>
            <a:picLocks noChangeAspect="1"/>
          </p:cNvPicPr>
          <p:nvPr/>
        </p:nvPicPr>
        <p:blipFill>
          <a:blip r:embed="rId3"/>
          <a:stretch>
            <a:fillRect/>
          </a:stretch>
        </p:blipFill>
        <p:spPr>
          <a:xfrm>
            <a:off x="8595360" y="2039112"/>
            <a:ext cx="329184" cy="329184"/>
          </a:xfrm>
          <a:prstGeom prst="rect">
            <a:avLst/>
          </a:prstGeom>
        </p:spPr>
      </p:pic>
      <p:sp>
        <p:nvSpPr>
          <p:cNvPr id="17" name="Hosted agents heading"/>
          <p:cNvSpPr txBox="1"/>
          <p:nvPr/>
        </p:nvSpPr>
        <p:spPr>
          <a:xfrm>
            <a:off x="8430768" y="2743200"/>
            <a:ext cx="2935224" cy="365760"/>
          </a:xfrm>
          <a:prstGeom prst="rect">
            <a:avLst/>
          </a:prstGeom>
          <a:noFill/>
          <a:ln/>
        </p:spPr>
        <p:txBody>
          <a:bodyPr wrap="square" lIns="0" tIns="0" rIns="0" bIns="0" rtlCol="0" anchor="t"/>
          <a:lstStyle/>
          <a:p>
            <a:pPr algn="l" indent="0" marL="0">
              <a:buNone/>
            </a:pPr>
            <a:r>
              <a:rPr lang="en-US" sz="2000" b="1" dirty="0">
                <a:solidFill>
                  <a:schemeClr val="tx2"/>
                </a:solidFill>
              </a:rPr>
              <a:t>Hosted agents</a:t>
            </a:r>
            <a:endParaRPr lang="en-US" sz="2000" dirty="0"/>
          </a:p>
        </p:txBody>
      </p:sp>
      <p:sp>
        <p:nvSpPr>
          <p:cNvPr id="18" name="Hosted agents text"/>
          <p:cNvSpPr txBox="1"/>
          <p:nvPr/>
        </p:nvSpPr>
        <p:spPr>
          <a:xfrm>
            <a:off x="8430768" y="3200400"/>
            <a:ext cx="2935224" cy="1234440"/>
          </a:xfrm>
          <a:prstGeom prst="rect">
            <a:avLst/>
          </a:prstGeom>
          <a:noFill/>
          <a:ln/>
        </p:spPr>
        <p:txBody>
          <a:bodyPr wrap="square" lIns="0" tIns="0" rIns="0" bIns="0" rtlCol="0" anchor="t"/>
          <a:lstStyle/>
          <a:p>
            <a:pPr algn="l" indent="0" marL="0">
              <a:buNone/>
            </a:pPr>
            <a:r>
              <a:rPr lang="en-US" sz="1500" dirty="0">
                <a:solidFill>
                  <a:schemeClr val="tx1"/>
                </a:solidFill>
              </a:rPr>
              <a:t>Agents run on EKS where a component needs a hosted process: a plain Deployment or Job by default.</a:t>
            </a:r>
            <a:endParaRPr lang="en-US" sz="1500" dirty="0"/>
          </a:p>
        </p:txBody>
      </p:sp>
      <p:sp>
        <p:nvSpPr>
          <p:cNvPr id="19" name="Status panel"/>
          <p:cNvSpPr/>
          <p:nvPr/>
        </p:nvSpPr>
        <p:spPr>
          <a:xfrm>
            <a:off x="548640" y="4937760"/>
            <a:ext cx="11091672" cy="960120"/>
          </a:xfrm>
          <a:prstGeom prst="roundRect">
            <a:avLst>
              <a:gd name="adj" fmla="val 9524"/>
            </a:avLst>
          </a:prstGeom>
          <a:solidFill>
            <a:schemeClr val="tx2"/>
          </a:solidFill>
          <a:ln/>
        </p:spPr>
      </p:sp>
      <p:sp>
        <p:nvSpPr>
          <p:cNvPr id="20" name="Status text"/>
          <p:cNvSpPr txBox="1"/>
          <p:nvPr/>
        </p:nvSpPr>
        <p:spPr>
          <a:xfrm>
            <a:off x="868680" y="4937760"/>
            <a:ext cx="10451592" cy="960120"/>
          </a:xfrm>
          <a:prstGeom prst="rect">
            <a:avLst/>
          </a:prstGeom>
          <a:noFill/>
          <a:ln/>
        </p:spPr>
        <p:txBody>
          <a:bodyPr wrap="square" lIns="0" tIns="0" rIns="0" bIns="0" rtlCol="0" anchor="ctr"/>
          <a:lstStyle/>
          <a:p>
            <a:pPr indent="0" marL="0">
              <a:buNone/>
            </a:pPr>
            <a:r>
              <a:rPr lang="en-US" sz="1600" b="1" dirty="0">
                <a:solidFill>
                  <a:schemeClr val="bg1"/>
                </a:solidFill>
              </a:rPr>
              <a:t>Status: proposed, not selected.  </a:t>
            </a:r>
            <a:pPr indent="0" marL="0">
              <a:buNone/>
            </a:pPr>
            <a:r>
              <a:rPr lang="en-US" sz="1600" dirty="0">
                <a:solidFill>
                  <a:schemeClr val="bg1"/>
                </a:solidFill>
              </a:rPr>
              <a:t>Nothing here is deployed or measured. AgentCore is being evaluated on the same basis.</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Three workflows, one needs hosted compute</a:t>
            </a:r>
            <a:endParaRPr lang="en-US" sz="3600" dirty="0"/>
          </a:p>
        </p:txBody>
      </p:sp>
      <p:sp>
        <p:nvSpPr>
          <p:cNvPr id="4" name="Consume tools or models from an existing client card"/>
          <p:cNvSpPr/>
          <p:nvPr/>
        </p:nvSpPr>
        <p:spPr>
          <a:xfrm>
            <a:off x="548640" y="1600200"/>
            <a:ext cx="3483864" cy="4343400"/>
          </a:xfrm>
          <a:prstGeom prst="roundRect">
            <a:avLst>
              <a:gd name="adj" fmla="val 2625"/>
            </a:avLst>
          </a:prstGeom>
          <a:solidFill>
            <a:schemeClr val="bg2"/>
          </a:solidFill>
          <a:ln/>
        </p:spPr>
      </p:sp>
      <p:sp>
        <p:nvSpPr>
          <p:cNvPr id="5" name="Consume tools or models from an existing client tag"/>
          <p:cNvSpPr txBox="1"/>
          <p:nvPr/>
        </p:nvSpPr>
        <p:spPr>
          <a:xfrm>
            <a:off x="822960" y="1828800"/>
            <a:ext cx="1600200" cy="292608"/>
          </a:xfrm>
          <a:prstGeom prst="roundRect">
            <a:avLst>
              <a:gd name="adj" fmla="val 25000"/>
            </a:avLst>
          </a:prstGeom>
          <a:solidFill>
            <a:schemeClr val="accent4">
              <a:alpha val="22000"/>
            </a:schemeClr>
          </a:solidFill>
          <a:ln w="15875">
            <a:solidFill>
              <a:schemeClr val="accent4"/>
            </a:solidFill>
            <a:prstDash val="solid"/>
          </a:ln>
        </p:spPr>
        <p:txBody>
          <a:bodyPr wrap="square" lIns="635" tIns="635" rIns="635" bIns="635" rtlCol="0" anchor="ctr"/>
          <a:lstStyle/>
          <a:p>
            <a:pPr algn="ctr" indent="0" marL="0">
              <a:buNone/>
            </a:pPr>
            <a:r>
              <a:rPr lang="en-US" sz="1100" b="1" dirty="0">
                <a:solidFill>
                  <a:schemeClr val="tx1"/>
                </a:solidFill>
              </a:rPr>
              <a:t>No hosted compute</a:t>
            </a:r>
            <a:endParaRPr lang="en-US" sz="1100" dirty="0"/>
          </a:p>
        </p:txBody>
      </p:sp>
      <p:sp>
        <p:nvSpPr>
          <p:cNvPr id="6" name="Consume tools or models from an existing client heading"/>
          <p:cNvSpPr txBox="1"/>
          <p:nvPr/>
        </p:nvSpPr>
        <p:spPr>
          <a:xfrm>
            <a:off x="822960" y="2286000"/>
            <a:ext cx="2935224" cy="777240"/>
          </a:xfrm>
          <a:prstGeom prst="rect">
            <a:avLst/>
          </a:prstGeom>
          <a:noFill/>
          <a:ln/>
        </p:spPr>
        <p:txBody>
          <a:bodyPr wrap="square" lIns="0" tIns="0" rIns="0" bIns="0" rtlCol="0" anchor="t"/>
          <a:lstStyle/>
          <a:p>
            <a:pPr algn="l" indent="0" marL="0">
              <a:buNone/>
            </a:pPr>
            <a:r>
              <a:rPr lang="en-US" sz="1900" b="1" dirty="0">
                <a:solidFill>
                  <a:schemeClr val="tx2"/>
                </a:solidFill>
              </a:rPr>
              <a:t>Consume tools or models from an existing client</a:t>
            </a:r>
            <a:endParaRPr lang="en-US" sz="1900" dirty="0"/>
          </a:p>
        </p:txBody>
      </p:sp>
      <p:sp>
        <p:nvSpPr>
          <p:cNvPr id="7" name="Text 4"/>
          <p:cNvSpPr txBox="1"/>
          <p:nvPr/>
        </p:nvSpPr>
        <p:spPr>
          <a:xfrm>
            <a:off x="822960" y="3200400"/>
            <a:ext cx="2935224" cy="237744"/>
          </a:xfrm>
          <a:prstGeom prst="rect">
            <a:avLst/>
          </a:prstGeom>
          <a:noFill/>
          <a:ln/>
        </p:spPr>
        <p:txBody>
          <a:bodyPr wrap="square" lIns="0" tIns="0" rIns="0" bIns="0" rtlCol="0" anchor="t"/>
          <a:lstStyle/>
          <a:p>
            <a:pPr algn="l" indent="0" marL="0">
              <a:buNone/>
            </a:pPr>
            <a:r>
              <a:rPr lang="en-US" sz="1050" b="1" spc="100" kern="0" dirty="0">
                <a:solidFill>
                  <a:schemeClr val="accent6"/>
                </a:solidFill>
              </a:rPr>
              <a:t>YOU CHANGE</a:t>
            </a:r>
            <a:endParaRPr lang="en-US" sz="1050" dirty="0"/>
          </a:p>
        </p:txBody>
      </p:sp>
      <p:sp>
        <p:nvSpPr>
          <p:cNvPr id="8" name="Text 5"/>
          <p:cNvSpPr txBox="1"/>
          <p:nvPr/>
        </p:nvSpPr>
        <p:spPr>
          <a:xfrm>
            <a:off x="822960" y="3456432"/>
            <a:ext cx="2935224" cy="731520"/>
          </a:xfrm>
          <a:prstGeom prst="rect">
            <a:avLst/>
          </a:prstGeom>
          <a:noFill/>
          <a:ln/>
        </p:spPr>
        <p:txBody>
          <a:bodyPr wrap="square" lIns="0" tIns="0" rIns="0" bIns="0" rtlCol="0" anchor="t"/>
          <a:lstStyle/>
          <a:p>
            <a:pPr algn="l" indent="0" marL="0">
              <a:buNone/>
            </a:pPr>
            <a:r>
              <a:rPr lang="en-US" sz="1500" dirty="0">
                <a:solidFill>
                  <a:schemeClr val="tx1"/>
                </a:solidFill>
              </a:rPr>
              <a:t>Client connection settings, and an access request where needed.</a:t>
            </a:r>
            <a:endParaRPr lang="en-US" sz="1500" dirty="0"/>
          </a:p>
        </p:txBody>
      </p:sp>
      <p:sp>
        <p:nvSpPr>
          <p:cNvPr id="9" name="Text 6"/>
          <p:cNvSpPr txBox="1"/>
          <p:nvPr/>
        </p:nvSpPr>
        <p:spPr>
          <a:xfrm>
            <a:off x="822960" y="4434840"/>
            <a:ext cx="2935224" cy="237744"/>
          </a:xfrm>
          <a:prstGeom prst="rect">
            <a:avLst/>
          </a:prstGeom>
          <a:noFill/>
          <a:ln/>
        </p:spPr>
        <p:txBody>
          <a:bodyPr wrap="square" lIns="0" tIns="0" rIns="0" bIns="0" rtlCol="0" anchor="t"/>
          <a:lstStyle/>
          <a:p>
            <a:pPr algn="l" indent="0" marL="0">
              <a:buNone/>
            </a:pPr>
            <a:r>
              <a:rPr lang="en-US" sz="1050" b="1" spc="100" kern="0" dirty="0">
                <a:solidFill>
                  <a:schemeClr val="accent6"/>
                </a:solidFill>
              </a:rPr>
              <a:t>THE PLATFORM PROVIDES</a:t>
            </a:r>
            <a:endParaRPr lang="en-US" sz="1050" dirty="0"/>
          </a:p>
        </p:txBody>
      </p:sp>
      <p:sp>
        <p:nvSpPr>
          <p:cNvPr id="10" name="Text 7"/>
          <p:cNvSpPr txBox="1"/>
          <p:nvPr/>
        </p:nvSpPr>
        <p:spPr>
          <a:xfrm>
            <a:off x="822960" y="4690872"/>
            <a:ext cx="2935224" cy="1005840"/>
          </a:xfrm>
          <a:prstGeom prst="rect">
            <a:avLst/>
          </a:prstGeom>
          <a:noFill/>
          <a:ln/>
        </p:spPr>
        <p:txBody>
          <a:bodyPr wrap="square" lIns="0" tIns="0" rIns="0" bIns="0" rtlCol="0" anchor="t"/>
          <a:lstStyle/>
          <a:p>
            <a:pPr algn="l" indent="0" marL="0">
              <a:buNone/>
            </a:pPr>
            <a:r>
              <a:rPr lang="en-US" sz="1500" dirty="0">
                <a:solidFill>
                  <a:schemeClr val="tx1"/>
                </a:solidFill>
              </a:rPr>
              <a:t>Supported endpoints, Okta sign-in, permissions and diagnostics.</a:t>
            </a:r>
            <a:endParaRPr lang="en-US" sz="1500" dirty="0"/>
          </a:p>
        </p:txBody>
      </p:sp>
      <p:sp>
        <p:nvSpPr>
          <p:cNvPr id="11" name="Publish a service capability card"/>
          <p:cNvSpPr/>
          <p:nvPr/>
        </p:nvSpPr>
        <p:spPr>
          <a:xfrm>
            <a:off x="4352544" y="1600200"/>
            <a:ext cx="3483864" cy="4343400"/>
          </a:xfrm>
          <a:prstGeom prst="roundRect">
            <a:avLst>
              <a:gd name="adj" fmla="val 2625"/>
            </a:avLst>
          </a:prstGeom>
          <a:solidFill>
            <a:schemeClr val="bg2"/>
          </a:solidFill>
          <a:ln/>
        </p:spPr>
      </p:sp>
      <p:sp>
        <p:nvSpPr>
          <p:cNvPr id="12" name="Publish a service capability tag"/>
          <p:cNvSpPr txBox="1"/>
          <p:nvPr/>
        </p:nvSpPr>
        <p:spPr>
          <a:xfrm>
            <a:off x="4626864" y="1828800"/>
            <a:ext cx="1600200" cy="292608"/>
          </a:xfrm>
          <a:prstGeom prst="roundRect">
            <a:avLst>
              <a:gd name="adj" fmla="val 25000"/>
            </a:avLst>
          </a:prstGeom>
          <a:solidFill>
            <a:schemeClr val="accent4">
              <a:alpha val="22000"/>
            </a:schemeClr>
          </a:solidFill>
          <a:ln w="15875">
            <a:solidFill>
              <a:schemeClr val="accent4"/>
            </a:solidFill>
            <a:prstDash val="solid"/>
          </a:ln>
        </p:spPr>
        <p:txBody>
          <a:bodyPr wrap="square" lIns="635" tIns="635" rIns="635" bIns="635" rtlCol="0" anchor="ctr"/>
          <a:lstStyle/>
          <a:p>
            <a:pPr algn="ctr" indent="0" marL="0">
              <a:buNone/>
            </a:pPr>
            <a:r>
              <a:rPr lang="en-US" sz="1100" b="1" dirty="0">
                <a:solidFill>
                  <a:schemeClr val="tx1"/>
                </a:solidFill>
              </a:rPr>
              <a:t>No hosted compute</a:t>
            </a:r>
            <a:endParaRPr lang="en-US" sz="1100" dirty="0"/>
          </a:p>
        </p:txBody>
      </p:sp>
      <p:sp>
        <p:nvSpPr>
          <p:cNvPr id="13" name="Publish a service capability heading"/>
          <p:cNvSpPr txBox="1"/>
          <p:nvPr/>
        </p:nvSpPr>
        <p:spPr>
          <a:xfrm>
            <a:off x="4626864" y="2286000"/>
            <a:ext cx="2935224" cy="777240"/>
          </a:xfrm>
          <a:prstGeom prst="rect">
            <a:avLst/>
          </a:prstGeom>
          <a:noFill/>
          <a:ln/>
        </p:spPr>
        <p:txBody>
          <a:bodyPr wrap="square" lIns="0" tIns="0" rIns="0" bIns="0" rtlCol="0" anchor="t"/>
          <a:lstStyle/>
          <a:p>
            <a:pPr algn="l" indent="0" marL="0">
              <a:buNone/>
            </a:pPr>
            <a:r>
              <a:rPr lang="en-US" sz="1900" b="1" dirty="0">
                <a:solidFill>
                  <a:schemeClr val="tx2"/>
                </a:solidFill>
              </a:rPr>
              <a:t>Publish a service capability</a:t>
            </a:r>
            <a:endParaRPr lang="en-US" sz="1900" dirty="0"/>
          </a:p>
        </p:txBody>
      </p:sp>
      <p:sp>
        <p:nvSpPr>
          <p:cNvPr id="14" name="Text 11"/>
          <p:cNvSpPr txBox="1"/>
          <p:nvPr/>
        </p:nvSpPr>
        <p:spPr>
          <a:xfrm>
            <a:off x="4626864" y="3200400"/>
            <a:ext cx="2935224" cy="237744"/>
          </a:xfrm>
          <a:prstGeom prst="rect">
            <a:avLst/>
          </a:prstGeom>
          <a:noFill/>
          <a:ln/>
        </p:spPr>
        <p:txBody>
          <a:bodyPr wrap="square" lIns="0" tIns="0" rIns="0" bIns="0" rtlCol="0" anchor="t"/>
          <a:lstStyle/>
          <a:p>
            <a:pPr algn="l" indent="0" marL="0">
              <a:buNone/>
            </a:pPr>
            <a:r>
              <a:rPr lang="en-US" sz="1050" b="1" spc="100" kern="0" dirty="0">
                <a:solidFill>
                  <a:schemeClr val="accent6"/>
                </a:solidFill>
              </a:rPr>
              <a:t>YOU CHANGE</a:t>
            </a:r>
            <a:endParaRPr lang="en-US" sz="1050" dirty="0"/>
          </a:p>
        </p:txBody>
      </p:sp>
      <p:sp>
        <p:nvSpPr>
          <p:cNvPr id="15" name="Text 12"/>
          <p:cNvSpPr txBox="1"/>
          <p:nvPr/>
        </p:nvSpPr>
        <p:spPr>
          <a:xfrm>
            <a:off x="4626864" y="3456432"/>
            <a:ext cx="2935224" cy="731520"/>
          </a:xfrm>
          <a:prstGeom prst="rect">
            <a:avLst/>
          </a:prstGeom>
          <a:noFill/>
          <a:ln/>
        </p:spPr>
        <p:txBody>
          <a:bodyPr wrap="square" lIns="0" tIns="0" rIns="0" bIns="0" rtlCol="0" anchor="t"/>
          <a:lstStyle/>
          <a:p>
            <a:pPr algn="l" indent="0" marL="0">
              <a:buNone/>
            </a:pPr>
            <a:r>
              <a:rPr lang="en-US" sz="1500" dirty="0">
                <a:solidFill>
                  <a:schemeClr val="tx1"/>
                </a:solidFill>
              </a:rPr>
              <a:t>Your service repository: an MCP adapter or written guidance.</a:t>
            </a:r>
            <a:endParaRPr lang="en-US" sz="1500" dirty="0"/>
          </a:p>
        </p:txBody>
      </p:sp>
      <p:sp>
        <p:nvSpPr>
          <p:cNvPr id="16" name="Text 13"/>
          <p:cNvSpPr txBox="1"/>
          <p:nvPr/>
        </p:nvSpPr>
        <p:spPr>
          <a:xfrm>
            <a:off x="4626864" y="4434840"/>
            <a:ext cx="2935224" cy="237744"/>
          </a:xfrm>
          <a:prstGeom prst="rect">
            <a:avLst/>
          </a:prstGeom>
          <a:noFill/>
          <a:ln/>
        </p:spPr>
        <p:txBody>
          <a:bodyPr wrap="square" lIns="0" tIns="0" rIns="0" bIns="0" rtlCol="0" anchor="t"/>
          <a:lstStyle/>
          <a:p>
            <a:pPr algn="l" indent="0" marL="0">
              <a:buNone/>
            </a:pPr>
            <a:r>
              <a:rPr lang="en-US" sz="1050" b="1" spc="100" kern="0" dirty="0">
                <a:solidFill>
                  <a:schemeClr val="accent6"/>
                </a:solidFill>
              </a:rPr>
              <a:t>THE PLATFORM PROVIDES</a:t>
            </a:r>
            <a:endParaRPr lang="en-US" sz="1050" dirty="0"/>
          </a:p>
        </p:txBody>
      </p:sp>
      <p:sp>
        <p:nvSpPr>
          <p:cNvPr id="17" name="Text 14"/>
          <p:cNvSpPr txBox="1"/>
          <p:nvPr/>
        </p:nvSpPr>
        <p:spPr>
          <a:xfrm>
            <a:off x="4626864" y="4690872"/>
            <a:ext cx="2935224" cy="1005840"/>
          </a:xfrm>
          <a:prstGeom prst="rect">
            <a:avLst/>
          </a:prstGeom>
          <a:noFill/>
          <a:ln/>
        </p:spPr>
        <p:txBody>
          <a:bodyPr wrap="square" lIns="0" tIns="0" rIns="0" bIns="0" rtlCol="0" anchor="t"/>
          <a:lstStyle/>
          <a:p>
            <a:pPr algn="l" indent="0" marL="0">
              <a:buNone/>
            </a:pPr>
            <a:r>
              <a:rPr lang="en-US" sz="1500" dirty="0">
                <a:solidFill>
                  <a:schemeClr val="tx1"/>
                </a:solidFill>
              </a:rPr>
              <a:t>Packaging, discovery, gateway integration and optional hosting.</a:t>
            </a:r>
            <a:endParaRPr lang="en-US" sz="1500" dirty="0"/>
          </a:p>
        </p:txBody>
      </p:sp>
      <p:sp>
        <p:nvSpPr>
          <p:cNvPr id="18" name="Run a hosted agent card"/>
          <p:cNvSpPr/>
          <p:nvPr/>
        </p:nvSpPr>
        <p:spPr>
          <a:xfrm>
            <a:off x="8156448" y="1600200"/>
            <a:ext cx="3483864" cy="4343400"/>
          </a:xfrm>
          <a:prstGeom prst="roundRect">
            <a:avLst>
              <a:gd name="adj" fmla="val 2625"/>
            </a:avLst>
          </a:prstGeom>
          <a:solidFill>
            <a:schemeClr val="bg2"/>
          </a:solidFill>
          <a:ln/>
        </p:spPr>
      </p:sp>
      <p:sp>
        <p:nvSpPr>
          <p:cNvPr id="19" name="Run a hosted agent tag"/>
          <p:cNvSpPr txBox="1"/>
          <p:nvPr/>
        </p:nvSpPr>
        <p:spPr>
          <a:xfrm>
            <a:off x="8430768" y="1828800"/>
            <a:ext cx="1600200" cy="292608"/>
          </a:xfrm>
          <a:prstGeom prst="roundRect">
            <a:avLst>
              <a:gd name="adj" fmla="val 25000"/>
            </a:avLst>
          </a:prstGeom>
          <a:solidFill>
            <a:schemeClr val="accent1">
              <a:alpha val="14000"/>
            </a:schemeClr>
          </a:solidFill>
          <a:ln w="15875">
            <a:solidFill>
              <a:schemeClr val="accent1"/>
            </a:solidFill>
            <a:prstDash val="solid"/>
          </a:ln>
        </p:spPr>
        <p:txBody>
          <a:bodyPr wrap="square" lIns="635" tIns="635" rIns="635" bIns="635" rtlCol="0" anchor="ctr"/>
          <a:lstStyle/>
          <a:p>
            <a:pPr algn="ctr" indent="0" marL="0">
              <a:buNone/>
            </a:pPr>
            <a:r>
              <a:rPr lang="en-US" sz="1100" b="1" dirty="0">
                <a:solidFill>
                  <a:schemeClr val="tx1"/>
                </a:solidFill>
              </a:rPr>
              <a:t>Hosted compute</a:t>
            </a:r>
            <a:endParaRPr lang="en-US" sz="1100" dirty="0"/>
          </a:p>
        </p:txBody>
      </p:sp>
      <p:sp>
        <p:nvSpPr>
          <p:cNvPr id="20" name="Run a hosted agent heading"/>
          <p:cNvSpPr txBox="1"/>
          <p:nvPr/>
        </p:nvSpPr>
        <p:spPr>
          <a:xfrm>
            <a:off x="8430768" y="2286000"/>
            <a:ext cx="2935224" cy="777240"/>
          </a:xfrm>
          <a:prstGeom prst="rect">
            <a:avLst/>
          </a:prstGeom>
          <a:noFill/>
          <a:ln/>
        </p:spPr>
        <p:txBody>
          <a:bodyPr wrap="square" lIns="0" tIns="0" rIns="0" bIns="0" rtlCol="0" anchor="t"/>
          <a:lstStyle/>
          <a:p>
            <a:pPr algn="l" indent="0" marL="0">
              <a:buNone/>
            </a:pPr>
            <a:r>
              <a:rPr lang="en-US" sz="1900" b="1" dirty="0">
                <a:solidFill>
                  <a:schemeClr val="tx2"/>
                </a:solidFill>
              </a:rPr>
              <a:t>Run a hosted agent</a:t>
            </a:r>
            <a:endParaRPr lang="en-US" sz="1900" dirty="0"/>
          </a:p>
        </p:txBody>
      </p:sp>
      <p:sp>
        <p:nvSpPr>
          <p:cNvPr id="21" name="Text 18"/>
          <p:cNvSpPr txBox="1"/>
          <p:nvPr/>
        </p:nvSpPr>
        <p:spPr>
          <a:xfrm>
            <a:off x="8430768" y="3200400"/>
            <a:ext cx="2935224" cy="237744"/>
          </a:xfrm>
          <a:prstGeom prst="rect">
            <a:avLst/>
          </a:prstGeom>
          <a:noFill/>
          <a:ln/>
        </p:spPr>
        <p:txBody>
          <a:bodyPr wrap="square" lIns="0" tIns="0" rIns="0" bIns="0" rtlCol="0" anchor="t"/>
          <a:lstStyle/>
          <a:p>
            <a:pPr algn="l" indent="0" marL="0">
              <a:buNone/>
            </a:pPr>
            <a:r>
              <a:rPr lang="en-US" sz="1050" b="1" spc="100" kern="0" dirty="0">
                <a:solidFill>
                  <a:schemeClr val="accent6"/>
                </a:solidFill>
              </a:rPr>
              <a:t>YOU CHANGE</a:t>
            </a:r>
            <a:endParaRPr lang="en-US" sz="1050" dirty="0"/>
          </a:p>
        </p:txBody>
      </p:sp>
      <p:sp>
        <p:nvSpPr>
          <p:cNvPr id="22" name="Text 19"/>
          <p:cNvSpPr txBox="1"/>
          <p:nvPr/>
        </p:nvSpPr>
        <p:spPr>
          <a:xfrm>
            <a:off x="8430768" y="3456432"/>
            <a:ext cx="2935224" cy="731520"/>
          </a:xfrm>
          <a:prstGeom prst="rect">
            <a:avLst/>
          </a:prstGeom>
          <a:noFill/>
          <a:ln/>
        </p:spPr>
        <p:txBody>
          <a:bodyPr wrap="square" lIns="0" tIns="0" rIns="0" bIns="0" rtlCol="0" anchor="t"/>
          <a:lstStyle/>
          <a:p>
            <a:pPr algn="l" indent="0" marL="0">
              <a:buNone/>
            </a:pPr>
            <a:r>
              <a:rPr lang="en-US" sz="1500" dirty="0">
                <a:solidFill>
                  <a:schemeClr val="tx1"/>
                </a:solidFill>
              </a:rPr>
              <a:t>The agent implementation, or its native declarative configuration.</a:t>
            </a:r>
            <a:endParaRPr lang="en-US" sz="1500" dirty="0"/>
          </a:p>
        </p:txBody>
      </p:sp>
      <p:sp>
        <p:nvSpPr>
          <p:cNvPr id="23" name="Text 20"/>
          <p:cNvSpPr txBox="1"/>
          <p:nvPr/>
        </p:nvSpPr>
        <p:spPr>
          <a:xfrm>
            <a:off x="8430768" y="4434840"/>
            <a:ext cx="2935224" cy="237744"/>
          </a:xfrm>
          <a:prstGeom prst="rect">
            <a:avLst/>
          </a:prstGeom>
          <a:noFill/>
          <a:ln/>
        </p:spPr>
        <p:txBody>
          <a:bodyPr wrap="square" lIns="0" tIns="0" rIns="0" bIns="0" rtlCol="0" anchor="t"/>
          <a:lstStyle/>
          <a:p>
            <a:pPr algn="l" indent="0" marL="0">
              <a:buNone/>
            </a:pPr>
            <a:r>
              <a:rPr lang="en-US" sz="1050" b="1" spc="100" kern="0" dirty="0">
                <a:solidFill>
                  <a:schemeClr val="accent6"/>
                </a:solidFill>
              </a:rPr>
              <a:t>THE PLATFORM PROVIDES</a:t>
            </a:r>
            <a:endParaRPr lang="en-US" sz="1050" dirty="0"/>
          </a:p>
        </p:txBody>
      </p:sp>
      <p:sp>
        <p:nvSpPr>
          <p:cNvPr id="24" name="Text 21"/>
          <p:cNvSpPr txBox="1"/>
          <p:nvPr/>
        </p:nvSpPr>
        <p:spPr>
          <a:xfrm>
            <a:off x="8430768" y="4690872"/>
            <a:ext cx="2935224" cy="1005840"/>
          </a:xfrm>
          <a:prstGeom prst="rect">
            <a:avLst/>
          </a:prstGeom>
          <a:noFill/>
          <a:ln/>
        </p:spPr>
        <p:txBody>
          <a:bodyPr wrap="square" lIns="0" tIns="0" rIns="0" bIns="0" rtlCol="0" anchor="t"/>
          <a:lstStyle/>
          <a:p>
            <a:pPr algn="l" indent="0" marL="0">
              <a:buNone/>
            </a:pPr>
            <a:r>
              <a:rPr lang="en-US" sz="1500" dirty="0">
                <a:solidFill>
                  <a:schemeClr val="tx1"/>
                </a:solidFill>
              </a:rPr>
              <a:t>A supported execution profile, identity, telemetry and deployment conventions.</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One new layer on infrastructure we run</a:t>
            </a:r>
            <a:endParaRPr lang="en-US" sz="3600" dirty="0"/>
          </a:p>
        </p:txBody>
      </p:sp>
      <p:sp>
        <p:nvSpPr>
          <p:cNvPr id="4" name="Consumers row"/>
          <p:cNvSpPr/>
          <p:nvPr/>
        </p:nvSpPr>
        <p:spPr>
          <a:xfrm>
            <a:off x="548640" y="1463040"/>
            <a:ext cx="11091672" cy="621792"/>
          </a:xfrm>
          <a:prstGeom prst="roundRect">
            <a:avLst>
              <a:gd name="adj" fmla="val 11765"/>
            </a:avLst>
          </a:prstGeom>
          <a:solidFill>
            <a:schemeClr val="bg2"/>
          </a:solidFill>
          <a:ln/>
        </p:spPr>
      </p:sp>
      <p:sp>
        <p:nvSpPr>
          <p:cNvPr id="5" name="Consumers label"/>
          <p:cNvSpPr txBox="1"/>
          <p:nvPr/>
        </p:nvSpPr>
        <p:spPr>
          <a:xfrm>
            <a:off x="731520" y="1463040"/>
            <a:ext cx="1737360" cy="621792"/>
          </a:xfrm>
          <a:prstGeom prst="rect">
            <a:avLst/>
          </a:prstGeom>
          <a:noFill/>
          <a:ln/>
        </p:spPr>
        <p:txBody>
          <a:bodyPr wrap="square" lIns="0" tIns="0" rIns="0" bIns="0" rtlCol="0" anchor="ctr"/>
          <a:lstStyle/>
          <a:p>
            <a:pPr indent="0" marL="0">
              <a:buNone/>
            </a:pPr>
            <a:r>
              <a:rPr lang="en-US" sz="1400" b="1" dirty="0">
                <a:solidFill>
                  <a:schemeClr val="tx2"/>
                </a:solidFill>
              </a:rPr>
              <a:t>Consumers</a:t>
            </a:r>
            <a:endParaRPr lang="en-US" sz="1400" dirty="0"/>
          </a:p>
        </p:txBody>
      </p:sp>
      <p:sp>
        <p:nvSpPr>
          <p:cNvPr id="6" name="Developer clients"/>
          <p:cNvSpPr txBox="1"/>
          <p:nvPr/>
        </p:nvSpPr>
        <p:spPr>
          <a:xfrm>
            <a:off x="2514600" y="1563624"/>
            <a:ext cx="2382520" cy="420624"/>
          </a:xfrm>
          <a:prstGeom prst="roundRect">
            <a:avLst>
              <a:gd name="adj" fmla="val 17391"/>
            </a:avLst>
          </a:prstGeom>
          <a:solidFill>
            <a:schemeClr val="bg1"/>
          </a:solidFill>
          <a:ln w="15875">
            <a:solidFill>
              <a:schemeClr val="accent6"/>
            </a:solidFill>
            <a:prstDash val="solid"/>
          </a:ln>
        </p:spPr>
        <p:txBody>
          <a:bodyPr wrap="square" lIns="635" tIns="635" rIns="635" bIns="635" rtlCol="0" anchor="ctr"/>
          <a:lstStyle/>
          <a:p>
            <a:pPr algn="ctr" indent="0" marL="0">
              <a:buNone/>
            </a:pPr>
            <a:r>
              <a:rPr lang="en-US" sz="1300" b="1" dirty="0">
                <a:solidFill>
                  <a:schemeClr val="tx1"/>
                </a:solidFill>
              </a:rPr>
              <a:t>Developer clients</a:t>
            </a:r>
            <a:endParaRPr lang="en-US" sz="1300" dirty="0"/>
          </a:p>
        </p:txBody>
      </p:sp>
      <p:sp>
        <p:nvSpPr>
          <p:cNvPr id="7" name="Users of hosted agents"/>
          <p:cNvSpPr txBox="1"/>
          <p:nvPr/>
        </p:nvSpPr>
        <p:spPr>
          <a:xfrm>
            <a:off x="5034280" y="1563624"/>
            <a:ext cx="2382520" cy="420624"/>
          </a:xfrm>
          <a:prstGeom prst="roundRect">
            <a:avLst>
              <a:gd name="adj" fmla="val 17391"/>
            </a:avLst>
          </a:prstGeom>
          <a:solidFill>
            <a:schemeClr val="bg1"/>
          </a:solidFill>
          <a:ln w="15875">
            <a:solidFill>
              <a:schemeClr val="accent6"/>
            </a:solidFill>
            <a:prstDash val="solid"/>
          </a:ln>
        </p:spPr>
        <p:txBody>
          <a:bodyPr wrap="square" lIns="635" tIns="635" rIns="635" bIns="635" rtlCol="0" anchor="ctr"/>
          <a:lstStyle/>
          <a:p>
            <a:pPr algn="ctr" indent="0" marL="0">
              <a:buNone/>
            </a:pPr>
            <a:r>
              <a:rPr lang="en-US" sz="1300" b="1" dirty="0">
                <a:solidFill>
                  <a:schemeClr val="tx1"/>
                </a:solidFill>
              </a:rPr>
              <a:t>Users of hosted agents</a:t>
            </a:r>
            <a:endParaRPr lang="en-US" sz="1300" dirty="0"/>
          </a:p>
        </p:txBody>
      </p:sp>
      <p:sp>
        <p:nvSpPr>
          <p:cNvPr id="8" name="Service and agent teams"/>
          <p:cNvSpPr txBox="1"/>
          <p:nvPr/>
        </p:nvSpPr>
        <p:spPr>
          <a:xfrm>
            <a:off x="7553960" y="1563624"/>
            <a:ext cx="2382520" cy="420624"/>
          </a:xfrm>
          <a:prstGeom prst="roundRect">
            <a:avLst>
              <a:gd name="adj" fmla="val 17391"/>
            </a:avLst>
          </a:prstGeom>
          <a:solidFill>
            <a:schemeClr val="bg1"/>
          </a:solidFill>
          <a:ln w="15875">
            <a:solidFill>
              <a:schemeClr val="accent6"/>
            </a:solidFill>
            <a:prstDash val="solid"/>
          </a:ln>
        </p:spPr>
        <p:txBody>
          <a:bodyPr wrap="square" lIns="635" tIns="635" rIns="635" bIns="635" rtlCol="0" anchor="ctr"/>
          <a:lstStyle/>
          <a:p>
            <a:pPr algn="ctr" indent="0" marL="0">
              <a:buNone/>
            </a:pPr>
            <a:r>
              <a:rPr lang="en-US" sz="1300" b="1" dirty="0">
                <a:solidFill>
                  <a:schemeClr val="tx1"/>
                </a:solidFill>
              </a:rPr>
              <a:t>Service and agent teams</a:t>
            </a:r>
            <a:endParaRPr lang="en-US" sz="1300" dirty="0"/>
          </a:p>
        </p:txBody>
      </p:sp>
      <p:sp>
        <p:nvSpPr>
          <p:cNvPr id="9" name="Okta"/>
          <p:cNvSpPr txBox="1"/>
          <p:nvPr/>
        </p:nvSpPr>
        <p:spPr>
          <a:xfrm>
            <a:off x="10073640" y="1563624"/>
            <a:ext cx="1429512" cy="420624"/>
          </a:xfrm>
          <a:prstGeom prst="roundRect">
            <a:avLst>
              <a:gd name="adj" fmla="val 17391"/>
            </a:avLst>
          </a:prstGeom>
          <a:solidFill>
            <a:schemeClr val="accent4">
              <a:alpha val="22000"/>
            </a:schemeClr>
          </a:solidFill>
          <a:ln w="15875">
            <a:solidFill>
              <a:schemeClr val="accent4"/>
            </a:solidFill>
            <a:prstDash val="solid"/>
          </a:ln>
        </p:spPr>
        <p:txBody>
          <a:bodyPr wrap="square" lIns="635" tIns="635" rIns="635" bIns="635" rtlCol="0" anchor="ctr"/>
          <a:lstStyle/>
          <a:p>
            <a:pPr algn="ctr" indent="0" marL="0">
              <a:buNone/>
            </a:pPr>
            <a:r>
              <a:rPr lang="en-US" sz="1300" b="1" dirty="0">
                <a:solidFill>
                  <a:schemeClr val="tx1"/>
                </a:solidFill>
              </a:rPr>
              <a:t>Okta</a:t>
            </a:r>
            <a:endParaRPr lang="en-US" sz="1300" dirty="0"/>
          </a:p>
        </p:txBody>
      </p:sp>
      <p:sp>
        <p:nvSpPr>
          <p:cNvPr id="10" name="Connectivity row"/>
          <p:cNvSpPr/>
          <p:nvPr/>
        </p:nvSpPr>
        <p:spPr>
          <a:xfrm>
            <a:off x="548640" y="2176272"/>
            <a:ext cx="11091672" cy="621792"/>
          </a:xfrm>
          <a:prstGeom prst="roundRect">
            <a:avLst>
              <a:gd name="adj" fmla="val 11765"/>
            </a:avLst>
          </a:prstGeom>
          <a:solidFill>
            <a:schemeClr val="bg2"/>
          </a:solidFill>
          <a:ln/>
        </p:spPr>
      </p:sp>
      <p:sp>
        <p:nvSpPr>
          <p:cNvPr id="11" name="Connectivity label"/>
          <p:cNvSpPr txBox="1"/>
          <p:nvPr/>
        </p:nvSpPr>
        <p:spPr>
          <a:xfrm>
            <a:off x="731520" y="2176272"/>
            <a:ext cx="1737360" cy="621792"/>
          </a:xfrm>
          <a:prstGeom prst="rect">
            <a:avLst/>
          </a:prstGeom>
          <a:noFill/>
          <a:ln/>
        </p:spPr>
        <p:txBody>
          <a:bodyPr wrap="square" lIns="0" tIns="0" rIns="0" bIns="0" rtlCol="0" anchor="ctr"/>
          <a:lstStyle/>
          <a:p>
            <a:pPr indent="0" marL="0">
              <a:buNone/>
            </a:pPr>
            <a:r>
              <a:rPr lang="en-US" sz="1400" b="1" dirty="0">
                <a:solidFill>
                  <a:schemeClr val="tx2"/>
                </a:solidFill>
              </a:rPr>
              <a:t>Connectivity</a:t>
            </a:r>
            <a:endParaRPr lang="en-US" sz="1400" dirty="0"/>
          </a:p>
        </p:txBody>
      </p:sp>
      <p:sp>
        <p:nvSpPr>
          <p:cNvPr id="12" name="Agentgateway: controller, proxy, rate-limit server"/>
          <p:cNvSpPr txBox="1"/>
          <p:nvPr/>
        </p:nvSpPr>
        <p:spPr>
          <a:xfrm>
            <a:off x="2514600" y="2276856"/>
            <a:ext cx="6392672" cy="420624"/>
          </a:xfrm>
          <a:prstGeom prst="roundRect">
            <a:avLst>
              <a:gd name="adj" fmla="val 17391"/>
            </a:avLst>
          </a:prstGeom>
          <a:solidFill>
            <a:schemeClr val="accent1">
              <a:alpha val="14000"/>
            </a:schemeClr>
          </a:solidFill>
          <a:ln w="15875">
            <a:solidFill>
              <a:schemeClr val="accent1"/>
            </a:solidFill>
            <a:prstDash val="solid"/>
          </a:ln>
        </p:spPr>
        <p:txBody>
          <a:bodyPr wrap="square" lIns="635" tIns="635" rIns="635" bIns="635" rtlCol="0" anchor="ctr"/>
          <a:lstStyle/>
          <a:p>
            <a:pPr algn="ctr" indent="0" marL="0">
              <a:buNone/>
            </a:pPr>
            <a:r>
              <a:rPr lang="en-US" sz="1300" b="1" dirty="0">
                <a:solidFill>
                  <a:schemeClr val="tx1"/>
                </a:solidFill>
              </a:rPr>
              <a:t>Agentgateway: controller, proxy, rate-limit server</a:t>
            </a:r>
            <a:endParaRPr lang="en-US" sz="1300" dirty="0"/>
          </a:p>
        </p:txBody>
      </p:sp>
      <p:sp>
        <p:nvSpPr>
          <p:cNvPr id="13" name="Agentregistry"/>
          <p:cNvSpPr txBox="1"/>
          <p:nvPr/>
        </p:nvSpPr>
        <p:spPr>
          <a:xfrm>
            <a:off x="9044432" y="2276856"/>
            <a:ext cx="2458720" cy="420624"/>
          </a:xfrm>
          <a:prstGeom prst="roundRect">
            <a:avLst>
              <a:gd name="adj" fmla="val 17391"/>
            </a:avLst>
          </a:prstGeom>
          <a:solidFill>
            <a:schemeClr val="accent3">
              <a:alpha val="14000"/>
            </a:schemeClr>
          </a:solidFill>
          <a:ln w="15875">
            <a:solidFill>
              <a:schemeClr val="accent3"/>
            </a:solidFill>
            <a:prstDash val="dash"/>
          </a:ln>
        </p:spPr>
        <p:txBody>
          <a:bodyPr wrap="square" lIns="635" tIns="635" rIns="635" bIns="635" rtlCol="0" anchor="ctr"/>
          <a:lstStyle/>
          <a:p>
            <a:pPr algn="ctr" indent="0" marL="0">
              <a:buNone/>
            </a:pPr>
            <a:r>
              <a:rPr lang="en-US" sz="1300" b="1" dirty="0">
                <a:solidFill>
                  <a:schemeClr val="tx1"/>
                </a:solidFill>
              </a:rPr>
              <a:t>Agentregistry</a:t>
            </a:r>
            <a:endParaRPr lang="en-US" sz="1300" dirty="0"/>
          </a:p>
        </p:txBody>
      </p:sp>
      <p:sp>
        <p:nvSpPr>
          <p:cNvPr id="14" name="Execution row"/>
          <p:cNvSpPr/>
          <p:nvPr/>
        </p:nvSpPr>
        <p:spPr>
          <a:xfrm>
            <a:off x="548640" y="2889504"/>
            <a:ext cx="11091672" cy="621792"/>
          </a:xfrm>
          <a:prstGeom prst="roundRect">
            <a:avLst>
              <a:gd name="adj" fmla="val 11765"/>
            </a:avLst>
          </a:prstGeom>
          <a:solidFill>
            <a:schemeClr val="bg2"/>
          </a:solidFill>
          <a:ln/>
        </p:spPr>
      </p:sp>
      <p:sp>
        <p:nvSpPr>
          <p:cNvPr id="15" name="Execution label"/>
          <p:cNvSpPr txBox="1"/>
          <p:nvPr/>
        </p:nvSpPr>
        <p:spPr>
          <a:xfrm>
            <a:off x="731520" y="2889504"/>
            <a:ext cx="1737360" cy="621792"/>
          </a:xfrm>
          <a:prstGeom prst="rect">
            <a:avLst/>
          </a:prstGeom>
          <a:noFill/>
          <a:ln/>
        </p:spPr>
        <p:txBody>
          <a:bodyPr wrap="square" lIns="0" tIns="0" rIns="0" bIns="0" rtlCol="0" anchor="ctr"/>
          <a:lstStyle/>
          <a:p>
            <a:pPr indent="0" marL="0">
              <a:buNone/>
            </a:pPr>
            <a:r>
              <a:rPr lang="en-US" sz="1400" b="1" dirty="0">
                <a:solidFill>
                  <a:schemeClr val="tx2"/>
                </a:solidFill>
              </a:rPr>
              <a:t>Execution</a:t>
            </a:r>
            <a:endParaRPr lang="en-US" sz="1400" dirty="0"/>
          </a:p>
        </p:txBody>
      </p:sp>
      <p:sp>
        <p:nvSpPr>
          <p:cNvPr id="16" name="Conventional workloads"/>
          <p:cNvSpPr txBox="1"/>
          <p:nvPr/>
        </p:nvSpPr>
        <p:spPr>
          <a:xfrm>
            <a:off x="2514600" y="2990088"/>
            <a:ext cx="2904744" cy="420624"/>
          </a:xfrm>
          <a:prstGeom prst="roundRect">
            <a:avLst>
              <a:gd name="adj" fmla="val 17391"/>
            </a:avLst>
          </a:prstGeom>
          <a:solidFill>
            <a:schemeClr val="accent1">
              <a:alpha val="14000"/>
            </a:schemeClr>
          </a:solidFill>
          <a:ln w="15875">
            <a:solidFill>
              <a:schemeClr val="accent1"/>
            </a:solidFill>
            <a:prstDash val="solid"/>
          </a:ln>
        </p:spPr>
        <p:txBody>
          <a:bodyPr wrap="square" lIns="635" tIns="635" rIns="635" bIns="635" rtlCol="0" anchor="ctr"/>
          <a:lstStyle/>
          <a:p>
            <a:pPr algn="ctr" indent="0" marL="0">
              <a:buNone/>
            </a:pPr>
            <a:r>
              <a:rPr lang="en-US" sz="1300" b="1" dirty="0">
                <a:solidFill>
                  <a:schemeClr val="tx1"/>
                </a:solidFill>
              </a:rPr>
              <a:t>Conventional workloads</a:t>
            </a:r>
            <a:endParaRPr lang="en-US" sz="1300" dirty="0"/>
          </a:p>
        </p:txBody>
      </p:sp>
      <p:sp>
        <p:nvSpPr>
          <p:cNvPr id="17" name="kagent with Agent Substrate"/>
          <p:cNvSpPr txBox="1"/>
          <p:nvPr/>
        </p:nvSpPr>
        <p:spPr>
          <a:xfrm>
            <a:off x="5556504" y="2990088"/>
            <a:ext cx="2904744" cy="420624"/>
          </a:xfrm>
          <a:prstGeom prst="roundRect">
            <a:avLst>
              <a:gd name="adj" fmla="val 17391"/>
            </a:avLst>
          </a:prstGeom>
          <a:solidFill>
            <a:schemeClr val="accent2">
              <a:alpha val="14000"/>
            </a:schemeClr>
          </a:solidFill>
          <a:ln w="15875">
            <a:solidFill>
              <a:schemeClr val="accent2"/>
            </a:solidFill>
            <a:prstDash val="sysDash"/>
          </a:ln>
        </p:spPr>
        <p:txBody>
          <a:bodyPr wrap="square" lIns="635" tIns="635" rIns="635" bIns="635" rtlCol="0" anchor="ctr"/>
          <a:lstStyle/>
          <a:p>
            <a:pPr algn="ctr" indent="0" marL="0">
              <a:buNone/>
            </a:pPr>
            <a:r>
              <a:rPr lang="en-US" sz="1300" b="1" dirty="0">
                <a:solidFill>
                  <a:schemeClr val="tx1"/>
                </a:solidFill>
              </a:rPr>
              <a:t>kagent with Agent Substrate</a:t>
            </a:r>
            <a:endParaRPr lang="en-US" sz="1300" dirty="0"/>
          </a:p>
        </p:txBody>
      </p:sp>
      <p:sp>
        <p:nvSpPr>
          <p:cNvPr id="18" name="Hosted MCP servers"/>
          <p:cNvSpPr txBox="1"/>
          <p:nvPr/>
        </p:nvSpPr>
        <p:spPr>
          <a:xfrm>
            <a:off x="8598408" y="2990088"/>
            <a:ext cx="2904744" cy="420624"/>
          </a:xfrm>
          <a:prstGeom prst="roundRect">
            <a:avLst>
              <a:gd name="adj" fmla="val 17391"/>
            </a:avLst>
          </a:prstGeom>
          <a:solidFill>
            <a:schemeClr val="accent1">
              <a:alpha val="14000"/>
            </a:schemeClr>
          </a:solidFill>
          <a:ln w="15875">
            <a:solidFill>
              <a:schemeClr val="accent1"/>
            </a:solidFill>
            <a:prstDash val="solid"/>
          </a:ln>
        </p:spPr>
        <p:txBody>
          <a:bodyPr wrap="square" lIns="635" tIns="635" rIns="635" bIns="635" rtlCol="0" anchor="ctr"/>
          <a:lstStyle/>
          <a:p>
            <a:pPr algn="ctr" indent="0" marL="0">
              <a:buNone/>
            </a:pPr>
            <a:r>
              <a:rPr lang="en-US" sz="1300" b="1" dirty="0">
                <a:solidFill>
                  <a:schemeClr val="tx1"/>
                </a:solidFill>
              </a:rPr>
              <a:t>Hosted MCP servers</a:t>
            </a:r>
            <a:endParaRPr lang="en-US" sz="1300" dirty="0"/>
          </a:p>
        </p:txBody>
      </p:sp>
      <p:sp>
        <p:nvSpPr>
          <p:cNvPr id="19" name="Capabilities row"/>
          <p:cNvSpPr/>
          <p:nvPr/>
        </p:nvSpPr>
        <p:spPr>
          <a:xfrm>
            <a:off x="548640" y="3602736"/>
            <a:ext cx="11091672" cy="621792"/>
          </a:xfrm>
          <a:prstGeom prst="roundRect">
            <a:avLst>
              <a:gd name="adj" fmla="val 11765"/>
            </a:avLst>
          </a:prstGeom>
          <a:solidFill>
            <a:schemeClr val="bg2"/>
          </a:solidFill>
          <a:ln/>
        </p:spPr>
      </p:sp>
      <p:sp>
        <p:nvSpPr>
          <p:cNvPr id="20" name="Capabilities label"/>
          <p:cNvSpPr txBox="1"/>
          <p:nvPr/>
        </p:nvSpPr>
        <p:spPr>
          <a:xfrm>
            <a:off x="731520" y="3602736"/>
            <a:ext cx="1737360" cy="621792"/>
          </a:xfrm>
          <a:prstGeom prst="rect">
            <a:avLst/>
          </a:prstGeom>
          <a:noFill/>
          <a:ln/>
        </p:spPr>
        <p:txBody>
          <a:bodyPr wrap="square" lIns="0" tIns="0" rIns="0" bIns="0" rtlCol="0" anchor="ctr"/>
          <a:lstStyle/>
          <a:p>
            <a:pPr indent="0" marL="0">
              <a:buNone/>
            </a:pPr>
            <a:r>
              <a:rPr lang="en-US" sz="1400" b="1" dirty="0">
                <a:solidFill>
                  <a:schemeClr val="tx2"/>
                </a:solidFill>
              </a:rPr>
              <a:t>Capabilities</a:t>
            </a:r>
            <a:endParaRPr lang="en-US" sz="1400" dirty="0"/>
          </a:p>
        </p:txBody>
      </p:sp>
      <p:sp>
        <p:nvSpPr>
          <p:cNvPr id="21" name="Service APIs"/>
          <p:cNvSpPr txBox="1"/>
          <p:nvPr/>
        </p:nvSpPr>
        <p:spPr>
          <a:xfrm>
            <a:off x="2514600" y="3703320"/>
            <a:ext cx="2904744" cy="420624"/>
          </a:xfrm>
          <a:prstGeom prst="roundRect">
            <a:avLst>
              <a:gd name="adj" fmla="val 17391"/>
            </a:avLst>
          </a:prstGeom>
          <a:solidFill>
            <a:schemeClr val="accent4">
              <a:alpha val="22000"/>
            </a:schemeClr>
          </a:solidFill>
          <a:ln w="15875">
            <a:solidFill>
              <a:schemeClr val="accent4"/>
            </a:solidFill>
            <a:prstDash val="solid"/>
          </a:ln>
        </p:spPr>
        <p:txBody>
          <a:bodyPr wrap="square" lIns="635" tIns="635" rIns="635" bIns="635" rtlCol="0" anchor="ctr"/>
          <a:lstStyle/>
          <a:p>
            <a:pPr algn="ctr" indent="0" marL="0">
              <a:buNone/>
            </a:pPr>
            <a:r>
              <a:rPr lang="en-US" sz="1300" b="1" dirty="0">
                <a:solidFill>
                  <a:schemeClr val="tx1"/>
                </a:solidFill>
              </a:rPr>
              <a:t>Service APIs</a:t>
            </a:r>
            <a:endParaRPr lang="en-US" sz="1300" dirty="0"/>
          </a:p>
        </p:txBody>
      </p:sp>
      <p:sp>
        <p:nvSpPr>
          <p:cNvPr id="22" name="Remote MCP servers"/>
          <p:cNvSpPr txBox="1"/>
          <p:nvPr/>
        </p:nvSpPr>
        <p:spPr>
          <a:xfrm>
            <a:off x="5556504" y="3703320"/>
            <a:ext cx="2904744" cy="420624"/>
          </a:xfrm>
          <a:prstGeom prst="roundRect">
            <a:avLst>
              <a:gd name="adj" fmla="val 17391"/>
            </a:avLst>
          </a:prstGeom>
          <a:solidFill>
            <a:schemeClr val="accent4">
              <a:alpha val="22000"/>
            </a:schemeClr>
          </a:solidFill>
          <a:ln w="15875">
            <a:solidFill>
              <a:schemeClr val="accent4"/>
            </a:solidFill>
            <a:prstDash val="solid"/>
          </a:ln>
        </p:spPr>
        <p:txBody>
          <a:bodyPr wrap="square" lIns="635" tIns="635" rIns="635" bIns="635" rtlCol="0" anchor="ctr"/>
          <a:lstStyle/>
          <a:p>
            <a:pPr algn="ctr" indent="0" marL="0">
              <a:buNone/>
            </a:pPr>
            <a:r>
              <a:rPr lang="en-US" sz="1300" b="1" dirty="0">
                <a:solidFill>
                  <a:schemeClr val="tx1"/>
                </a:solidFill>
              </a:rPr>
              <a:t>Remote MCP servers</a:t>
            </a:r>
            <a:endParaRPr lang="en-US" sz="1300" dirty="0"/>
          </a:p>
        </p:txBody>
      </p:sp>
      <p:sp>
        <p:nvSpPr>
          <p:cNvPr id="23" name="Model providers"/>
          <p:cNvSpPr txBox="1"/>
          <p:nvPr/>
        </p:nvSpPr>
        <p:spPr>
          <a:xfrm>
            <a:off x="8598408" y="3703320"/>
            <a:ext cx="2904744" cy="420624"/>
          </a:xfrm>
          <a:prstGeom prst="roundRect">
            <a:avLst>
              <a:gd name="adj" fmla="val 17391"/>
            </a:avLst>
          </a:prstGeom>
          <a:solidFill>
            <a:schemeClr val="bg1"/>
          </a:solidFill>
          <a:ln w="15875">
            <a:solidFill>
              <a:schemeClr val="accent6"/>
            </a:solidFill>
            <a:prstDash val="solid"/>
          </a:ln>
        </p:spPr>
        <p:txBody>
          <a:bodyPr wrap="square" lIns="635" tIns="635" rIns="635" bIns="635" rtlCol="0" anchor="ctr"/>
          <a:lstStyle/>
          <a:p>
            <a:pPr algn="ctr" indent="0" marL="0">
              <a:buNone/>
            </a:pPr>
            <a:r>
              <a:rPr lang="en-US" sz="1300" b="1" dirty="0">
                <a:solidFill>
                  <a:schemeClr val="tx1"/>
                </a:solidFill>
              </a:rPr>
              <a:t>Model providers</a:t>
            </a:r>
            <a:endParaRPr lang="en-US" sz="1300" dirty="0"/>
          </a:p>
        </p:txBody>
      </p:sp>
      <p:sp>
        <p:nvSpPr>
          <p:cNvPr id="24" name="State and artifacts row"/>
          <p:cNvSpPr/>
          <p:nvPr/>
        </p:nvSpPr>
        <p:spPr>
          <a:xfrm>
            <a:off x="548640" y="4315968"/>
            <a:ext cx="11091672" cy="621792"/>
          </a:xfrm>
          <a:prstGeom prst="roundRect">
            <a:avLst>
              <a:gd name="adj" fmla="val 11765"/>
            </a:avLst>
          </a:prstGeom>
          <a:solidFill>
            <a:schemeClr val="bg2"/>
          </a:solidFill>
          <a:ln/>
        </p:spPr>
      </p:sp>
      <p:sp>
        <p:nvSpPr>
          <p:cNvPr id="25" name="State and artifacts label"/>
          <p:cNvSpPr txBox="1"/>
          <p:nvPr/>
        </p:nvSpPr>
        <p:spPr>
          <a:xfrm>
            <a:off x="731520" y="4315968"/>
            <a:ext cx="1737360" cy="621792"/>
          </a:xfrm>
          <a:prstGeom prst="rect">
            <a:avLst/>
          </a:prstGeom>
          <a:noFill/>
          <a:ln/>
        </p:spPr>
        <p:txBody>
          <a:bodyPr wrap="square" lIns="0" tIns="0" rIns="0" bIns="0" rtlCol="0" anchor="ctr"/>
          <a:lstStyle/>
          <a:p>
            <a:pPr indent="0" marL="0">
              <a:buNone/>
            </a:pPr>
            <a:r>
              <a:rPr lang="en-US" sz="1400" b="1" dirty="0">
                <a:solidFill>
                  <a:schemeClr val="tx2"/>
                </a:solidFill>
              </a:rPr>
              <a:t>State and artifacts</a:t>
            </a:r>
            <a:endParaRPr lang="en-US" sz="1400" dirty="0"/>
          </a:p>
        </p:txBody>
      </p:sp>
      <p:sp>
        <p:nvSpPr>
          <p:cNvPr id="26" name="CloudNativePG"/>
          <p:cNvSpPr txBox="1"/>
          <p:nvPr/>
        </p:nvSpPr>
        <p:spPr>
          <a:xfrm>
            <a:off x="2514600" y="4416552"/>
            <a:ext cx="2599113" cy="420624"/>
          </a:xfrm>
          <a:prstGeom prst="roundRect">
            <a:avLst>
              <a:gd name="adj" fmla="val 17391"/>
            </a:avLst>
          </a:prstGeom>
          <a:solidFill>
            <a:schemeClr val="accent4">
              <a:alpha val="22000"/>
            </a:schemeClr>
          </a:solidFill>
          <a:ln w="15875">
            <a:solidFill>
              <a:schemeClr val="accent4"/>
            </a:solidFill>
            <a:prstDash val="solid"/>
          </a:ln>
        </p:spPr>
        <p:txBody>
          <a:bodyPr wrap="square" lIns="635" tIns="635" rIns="635" bIns="635" rtlCol="0" anchor="ctr"/>
          <a:lstStyle/>
          <a:p>
            <a:pPr algn="ctr" indent="0" marL="0">
              <a:buNone/>
            </a:pPr>
            <a:r>
              <a:rPr lang="en-US" sz="1300" b="1" dirty="0">
                <a:solidFill>
                  <a:schemeClr val="tx1"/>
                </a:solidFill>
              </a:rPr>
              <a:t>CloudNativePG</a:t>
            </a:r>
            <a:endParaRPr lang="en-US" sz="1300" dirty="0"/>
          </a:p>
        </p:txBody>
      </p:sp>
      <p:sp>
        <p:nvSpPr>
          <p:cNvPr id="27" name="S3"/>
          <p:cNvSpPr txBox="1"/>
          <p:nvPr/>
        </p:nvSpPr>
        <p:spPr>
          <a:xfrm>
            <a:off x="5250873" y="4416552"/>
            <a:ext cx="1559468" cy="420624"/>
          </a:xfrm>
          <a:prstGeom prst="roundRect">
            <a:avLst>
              <a:gd name="adj" fmla="val 17391"/>
            </a:avLst>
          </a:prstGeom>
          <a:solidFill>
            <a:schemeClr val="accent4">
              <a:alpha val="22000"/>
            </a:schemeClr>
          </a:solidFill>
          <a:ln w="15875">
            <a:solidFill>
              <a:schemeClr val="accent4"/>
            </a:solidFill>
            <a:prstDash val="solid"/>
          </a:ln>
        </p:spPr>
        <p:txBody>
          <a:bodyPr wrap="square" lIns="635" tIns="635" rIns="635" bIns="635" rtlCol="0" anchor="ctr"/>
          <a:lstStyle/>
          <a:p>
            <a:pPr algn="ctr" indent="0" marL="0">
              <a:buNone/>
            </a:pPr>
            <a:r>
              <a:rPr lang="en-US" sz="1300" b="1" dirty="0">
                <a:solidFill>
                  <a:schemeClr val="tx1"/>
                </a:solidFill>
              </a:rPr>
              <a:t>S3</a:t>
            </a:r>
            <a:endParaRPr lang="en-US" sz="1300" dirty="0"/>
          </a:p>
        </p:txBody>
      </p:sp>
      <p:sp>
        <p:nvSpPr>
          <p:cNvPr id="28" name="ECR"/>
          <p:cNvSpPr txBox="1"/>
          <p:nvPr/>
        </p:nvSpPr>
        <p:spPr>
          <a:xfrm>
            <a:off x="6947500" y="4416552"/>
            <a:ext cx="1559468" cy="420624"/>
          </a:xfrm>
          <a:prstGeom prst="roundRect">
            <a:avLst>
              <a:gd name="adj" fmla="val 17391"/>
            </a:avLst>
          </a:prstGeom>
          <a:solidFill>
            <a:schemeClr val="accent4">
              <a:alpha val="22000"/>
            </a:schemeClr>
          </a:solidFill>
          <a:ln w="15875">
            <a:solidFill>
              <a:schemeClr val="accent4"/>
            </a:solidFill>
            <a:prstDash val="solid"/>
          </a:ln>
        </p:spPr>
        <p:txBody>
          <a:bodyPr wrap="square" lIns="635" tIns="635" rIns="635" bIns="635" rtlCol="0" anchor="ctr"/>
          <a:lstStyle/>
          <a:p>
            <a:pPr algn="ctr" indent="0" marL="0">
              <a:buNone/>
            </a:pPr>
            <a:r>
              <a:rPr lang="en-US" sz="1300" b="1" dirty="0">
                <a:solidFill>
                  <a:schemeClr val="tx1"/>
                </a:solidFill>
              </a:rPr>
              <a:t>ECR</a:t>
            </a:r>
            <a:endParaRPr lang="en-US" sz="1300" dirty="0"/>
          </a:p>
        </p:txBody>
      </p:sp>
      <p:sp>
        <p:nvSpPr>
          <p:cNvPr id="29" name="GitLab package registry"/>
          <p:cNvSpPr txBox="1"/>
          <p:nvPr/>
        </p:nvSpPr>
        <p:spPr>
          <a:xfrm>
            <a:off x="8644128" y="4416552"/>
            <a:ext cx="2859024" cy="420624"/>
          </a:xfrm>
          <a:prstGeom prst="roundRect">
            <a:avLst>
              <a:gd name="adj" fmla="val 17391"/>
            </a:avLst>
          </a:prstGeom>
          <a:solidFill>
            <a:schemeClr val="accent4">
              <a:alpha val="22000"/>
            </a:schemeClr>
          </a:solidFill>
          <a:ln w="15875">
            <a:solidFill>
              <a:schemeClr val="accent4"/>
            </a:solidFill>
            <a:prstDash val="solid"/>
          </a:ln>
        </p:spPr>
        <p:txBody>
          <a:bodyPr wrap="square" lIns="635" tIns="635" rIns="635" bIns="635" rtlCol="0" anchor="ctr"/>
          <a:lstStyle/>
          <a:p>
            <a:pPr algn="ctr" indent="0" marL="0">
              <a:buNone/>
            </a:pPr>
            <a:r>
              <a:rPr lang="en-US" sz="1300" b="1" dirty="0">
                <a:solidFill>
                  <a:schemeClr val="tx1"/>
                </a:solidFill>
              </a:rPr>
              <a:t>GitLab package registry</a:t>
            </a:r>
            <a:endParaRPr lang="en-US" sz="1300" dirty="0"/>
          </a:p>
        </p:txBody>
      </p:sp>
      <p:sp>
        <p:nvSpPr>
          <p:cNvPr id="30" name="Foundation row"/>
          <p:cNvSpPr/>
          <p:nvPr/>
        </p:nvSpPr>
        <p:spPr>
          <a:xfrm>
            <a:off x="548640" y="5029200"/>
            <a:ext cx="11091672" cy="621792"/>
          </a:xfrm>
          <a:prstGeom prst="roundRect">
            <a:avLst>
              <a:gd name="adj" fmla="val 11765"/>
            </a:avLst>
          </a:prstGeom>
          <a:solidFill>
            <a:schemeClr val="bg2"/>
          </a:solidFill>
          <a:ln/>
        </p:spPr>
      </p:sp>
      <p:sp>
        <p:nvSpPr>
          <p:cNvPr id="31" name="Foundation label"/>
          <p:cNvSpPr txBox="1"/>
          <p:nvPr/>
        </p:nvSpPr>
        <p:spPr>
          <a:xfrm>
            <a:off x="731520" y="5029200"/>
            <a:ext cx="1737360" cy="621792"/>
          </a:xfrm>
          <a:prstGeom prst="rect">
            <a:avLst/>
          </a:prstGeom>
          <a:noFill/>
          <a:ln/>
        </p:spPr>
        <p:txBody>
          <a:bodyPr wrap="square" lIns="0" tIns="0" rIns="0" bIns="0" rtlCol="0" anchor="ctr"/>
          <a:lstStyle/>
          <a:p>
            <a:pPr indent="0" marL="0">
              <a:buNone/>
            </a:pPr>
            <a:r>
              <a:rPr lang="en-US" sz="1400" b="1" dirty="0">
                <a:solidFill>
                  <a:schemeClr val="tx2"/>
                </a:solidFill>
              </a:rPr>
              <a:t>Foundation</a:t>
            </a:r>
            <a:endParaRPr lang="en-US" sz="1400" dirty="0"/>
          </a:p>
        </p:txBody>
      </p:sp>
      <p:sp>
        <p:nvSpPr>
          <p:cNvPr id="32" name="EKS, Karpenter, Istio"/>
          <p:cNvSpPr txBox="1"/>
          <p:nvPr/>
        </p:nvSpPr>
        <p:spPr>
          <a:xfrm>
            <a:off x="2514600" y="5129784"/>
            <a:ext cx="1990545" cy="420624"/>
          </a:xfrm>
          <a:prstGeom prst="roundRect">
            <a:avLst>
              <a:gd name="adj" fmla="val 17391"/>
            </a:avLst>
          </a:prstGeom>
          <a:solidFill>
            <a:schemeClr val="accent4">
              <a:alpha val="22000"/>
            </a:schemeClr>
          </a:solidFill>
          <a:ln w="15875">
            <a:solidFill>
              <a:schemeClr val="accent4"/>
            </a:solidFill>
            <a:prstDash val="solid"/>
          </a:ln>
        </p:spPr>
        <p:txBody>
          <a:bodyPr wrap="square" lIns="635" tIns="635" rIns="635" bIns="635" rtlCol="0" anchor="ctr"/>
          <a:lstStyle/>
          <a:p>
            <a:pPr algn="ctr" indent="0" marL="0">
              <a:buNone/>
            </a:pPr>
            <a:r>
              <a:rPr lang="en-US" sz="1300" b="1" dirty="0">
                <a:solidFill>
                  <a:schemeClr val="tx1"/>
                </a:solidFill>
              </a:rPr>
              <a:t>EKS, Karpenter, Istio</a:t>
            </a:r>
            <a:endParaRPr lang="en-US" sz="1300" dirty="0"/>
          </a:p>
        </p:txBody>
      </p:sp>
      <p:sp>
        <p:nvSpPr>
          <p:cNvPr id="33" name="Kyverno"/>
          <p:cNvSpPr txBox="1"/>
          <p:nvPr/>
        </p:nvSpPr>
        <p:spPr>
          <a:xfrm>
            <a:off x="4642305" y="5129784"/>
            <a:ext cx="1114705" cy="420624"/>
          </a:xfrm>
          <a:prstGeom prst="roundRect">
            <a:avLst>
              <a:gd name="adj" fmla="val 17391"/>
            </a:avLst>
          </a:prstGeom>
          <a:solidFill>
            <a:schemeClr val="accent4">
              <a:alpha val="22000"/>
            </a:schemeClr>
          </a:solidFill>
          <a:ln w="15875">
            <a:solidFill>
              <a:schemeClr val="accent4"/>
            </a:solidFill>
            <a:prstDash val="solid"/>
          </a:ln>
        </p:spPr>
        <p:txBody>
          <a:bodyPr wrap="square" lIns="635" tIns="635" rIns="635" bIns="635" rtlCol="0" anchor="ctr"/>
          <a:lstStyle/>
          <a:p>
            <a:pPr algn="ctr" indent="0" marL="0">
              <a:buNone/>
            </a:pPr>
            <a:r>
              <a:rPr lang="en-US" sz="1300" b="1" dirty="0">
                <a:solidFill>
                  <a:schemeClr val="tx1"/>
                </a:solidFill>
              </a:rPr>
              <a:t>Kyverno</a:t>
            </a:r>
            <a:endParaRPr lang="en-US" sz="1300" dirty="0"/>
          </a:p>
        </p:txBody>
      </p:sp>
      <p:sp>
        <p:nvSpPr>
          <p:cNvPr id="34" name="OpenTelemetry"/>
          <p:cNvSpPr txBox="1"/>
          <p:nvPr/>
        </p:nvSpPr>
        <p:spPr>
          <a:xfrm>
            <a:off x="5894171" y="5129784"/>
            <a:ext cx="1433193" cy="420624"/>
          </a:xfrm>
          <a:prstGeom prst="roundRect">
            <a:avLst>
              <a:gd name="adj" fmla="val 17391"/>
            </a:avLst>
          </a:prstGeom>
          <a:solidFill>
            <a:schemeClr val="accent4">
              <a:alpha val="22000"/>
            </a:schemeClr>
          </a:solidFill>
          <a:ln w="15875">
            <a:solidFill>
              <a:schemeClr val="accent4"/>
            </a:solidFill>
            <a:prstDash val="solid"/>
          </a:ln>
        </p:spPr>
        <p:txBody>
          <a:bodyPr wrap="square" lIns="635" tIns="635" rIns="635" bIns="635" rtlCol="0" anchor="ctr"/>
          <a:lstStyle/>
          <a:p>
            <a:pPr algn="ctr" indent="0" marL="0">
              <a:buNone/>
            </a:pPr>
            <a:r>
              <a:rPr lang="en-US" sz="1300" b="1" dirty="0">
                <a:solidFill>
                  <a:schemeClr val="tx1"/>
                </a:solidFill>
              </a:rPr>
              <a:t>OpenTelemetry</a:t>
            </a:r>
            <a:endParaRPr lang="en-US" sz="1300" dirty="0"/>
          </a:p>
        </p:txBody>
      </p:sp>
      <p:sp>
        <p:nvSpPr>
          <p:cNvPr id="35" name="GitLab CI, Helmfile, Terraform"/>
          <p:cNvSpPr txBox="1"/>
          <p:nvPr/>
        </p:nvSpPr>
        <p:spPr>
          <a:xfrm>
            <a:off x="7464523" y="5129784"/>
            <a:ext cx="2707142" cy="420624"/>
          </a:xfrm>
          <a:prstGeom prst="roundRect">
            <a:avLst>
              <a:gd name="adj" fmla="val 17391"/>
            </a:avLst>
          </a:prstGeom>
          <a:solidFill>
            <a:schemeClr val="accent4">
              <a:alpha val="22000"/>
            </a:schemeClr>
          </a:solidFill>
          <a:ln w="15875">
            <a:solidFill>
              <a:schemeClr val="accent4"/>
            </a:solidFill>
            <a:prstDash val="solid"/>
          </a:ln>
        </p:spPr>
        <p:txBody>
          <a:bodyPr wrap="square" lIns="635" tIns="635" rIns="635" bIns="635" rtlCol="0" anchor="ctr"/>
          <a:lstStyle/>
          <a:p>
            <a:pPr algn="ctr" indent="0" marL="0">
              <a:buNone/>
            </a:pPr>
            <a:r>
              <a:rPr lang="en-US" sz="1300" b="1" dirty="0">
                <a:solidFill>
                  <a:schemeClr val="tx1"/>
                </a:solidFill>
              </a:rPr>
              <a:t>GitLab CI, Helmfile, Terraform</a:t>
            </a:r>
            <a:endParaRPr lang="en-US" sz="1300" dirty="0"/>
          </a:p>
        </p:txBody>
      </p:sp>
      <p:sp>
        <p:nvSpPr>
          <p:cNvPr id="36" name="Langfuse"/>
          <p:cNvSpPr txBox="1"/>
          <p:nvPr/>
        </p:nvSpPr>
        <p:spPr>
          <a:xfrm>
            <a:off x="10308825" y="5129784"/>
            <a:ext cx="1194327" cy="420624"/>
          </a:xfrm>
          <a:prstGeom prst="roundRect">
            <a:avLst>
              <a:gd name="adj" fmla="val 17391"/>
            </a:avLst>
          </a:prstGeom>
          <a:solidFill>
            <a:schemeClr val="accent3">
              <a:alpha val="14000"/>
            </a:schemeClr>
          </a:solidFill>
          <a:ln w="15875">
            <a:solidFill>
              <a:schemeClr val="accent3"/>
            </a:solidFill>
            <a:prstDash val="dash"/>
          </a:ln>
        </p:spPr>
        <p:txBody>
          <a:bodyPr wrap="square" lIns="635" tIns="635" rIns="635" bIns="635" rtlCol="0" anchor="ctr"/>
          <a:lstStyle/>
          <a:p>
            <a:pPr algn="ctr" indent="0" marL="0">
              <a:buNone/>
            </a:pPr>
            <a:r>
              <a:rPr lang="en-US" sz="1300" b="1" dirty="0">
                <a:solidFill>
                  <a:schemeClr val="tx1"/>
                </a:solidFill>
              </a:rPr>
              <a:t>Langfuse</a:t>
            </a:r>
            <a:endParaRPr lang="en-US" sz="1300" dirty="0"/>
          </a:p>
        </p:txBody>
      </p:sp>
      <p:sp>
        <p:nvSpPr>
          <p:cNvPr id="37" name="Legend reused"/>
          <p:cNvSpPr txBox="1"/>
          <p:nvPr/>
        </p:nvSpPr>
        <p:spPr>
          <a:xfrm>
            <a:off x="548640" y="5833872"/>
            <a:ext cx="347472" cy="219456"/>
          </a:xfrm>
          <a:prstGeom prst="roundRect">
            <a:avLst>
              <a:gd name="adj" fmla="val 20833"/>
            </a:avLst>
          </a:prstGeom>
          <a:solidFill>
            <a:schemeClr val="accent4">
              <a:alpha val="22000"/>
            </a:schemeClr>
          </a:solidFill>
          <a:ln w="15875">
            <a:solidFill>
              <a:schemeClr val="accent4"/>
            </a:solidFill>
            <a:prstDash val="solid"/>
          </a:ln>
        </p:spPr>
        <p:txBody>
          <a:bodyPr wrap="square" lIns="635" tIns="635" rIns="635" bIns="635" rtlCol="0" anchor="ctr"/>
          <a:lstStyle/>
          <a:p>
            <a:pPr algn="ctr" indent="0" marL="0">
              <a:buNone/>
            </a:pPr>
            <a:endParaRPr lang="en-US" sz="1200" dirty="0"/>
          </a:p>
        </p:txBody>
      </p:sp>
      <p:sp>
        <p:nvSpPr>
          <p:cNvPr id="38" name="Legend reused label"/>
          <p:cNvSpPr txBox="1"/>
          <p:nvPr/>
        </p:nvSpPr>
        <p:spPr>
          <a:xfrm>
            <a:off x="987552" y="5815584"/>
            <a:ext cx="1472184" cy="256032"/>
          </a:xfrm>
          <a:prstGeom prst="rect">
            <a:avLst/>
          </a:prstGeom>
          <a:noFill/>
          <a:ln/>
        </p:spPr>
        <p:txBody>
          <a:bodyPr wrap="square" lIns="0" tIns="0" rIns="0" bIns="0" rtlCol="0" anchor="ctr"/>
          <a:lstStyle/>
          <a:p>
            <a:pPr algn="l" indent="0" marL="0">
              <a:buNone/>
            </a:pPr>
            <a:r>
              <a:rPr lang="en-US" sz="1200" dirty="0">
                <a:solidFill>
                  <a:schemeClr val="tx1"/>
                </a:solidFill>
              </a:rPr>
              <a:t>Existing, reused</a:t>
            </a:r>
            <a:endParaRPr lang="en-US" sz="1200" dirty="0"/>
          </a:p>
        </p:txBody>
      </p:sp>
      <p:sp>
        <p:nvSpPr>
          <p:cNvPr id="39" name="Legend new"/>
          <p:cNvSpPr txBox="1"/>
          <p:nvPr/>
        </p:nvSpPr>
        <p:spPr>
          <a:xfrm>
            <a:off x="2642616" y="5833872"/>
            <a:ext cx="347472" cy="219456"/>
          </a:xfrm>
          <a:prstGeom prst="roundRect">
            <a:avLst>
              <a:gd name="adj" fmla="val 20833"/>
            </a:avLst>
          </a:prstGeom>
          <a:solidFill>
            <a:schemeClr val="accent1">
              <a:alpha val="14000"/>
            </a:schemeClr>
          </a:solidFill>
          <a:ln w="15875">
            <a:solidFill>
              <a:schemeClr val="accent1"/>
            </a:solidFill>
            <a:prstDash val="solid"/>
          </a:ln>
        </p:spPr>
        <p:txBody>
          <a:bodyPr wrap="square" lIns="635" tIns="635" rIns="635" bIns="635" rtlCol="0" anchor="ctr"/>
          <a:lstStyle/>
          <a:p>
            <a:pPr algn="ctr" indent="0" marL="0">
              <a:buNone/>
            </a:pPr>
            <a:endParaRPr lang="en-US" sz="1200" dirty="0"/>
          </a:p>
        </p:txBody>
      </p:sp>
      <p:sp>
        <p:nvSpPr>
          <p:cNvPr id="40" name="Legend new label"/>
          <p:cNvSpPr txBox="1"/>
          <p:nvPr/>
        </p:nvSpPr>
        <p:spPr>
          <a:xfrm>
            <a:off x="3081528" y="5815584"/>
            <a:ext cx="1783080" cy="256032"/>
          </a:xfrm>
          <a:prstGeom prst="rect">
            <a:avLst/>
          </a:prstGeom>
          <a:noFill/>
          <a:ln/>
        </p:spPr>
        <p:txBody>
          <a:bodyPr wrap="square" lIns="0" tIns="0" rIns="0" bIns="0" rtlCol="0" anchor="ctr"/>
          <a:lstStyle/>
          <a:p>
            <a:pPr algn="l" indent="0" marL="0">
              <a:buNone/>
            </a:pPr>
            <a:r>
              <a:rPr lang="en-US" sz="1200" dirty="0">
                <a:solidFill>
                  <a:schemeClr val="tx1"/>
                </a:solidFill>
              </a:rPr>
              <a:t>New in this platform</a:t>
            </a:r>
            <a:endParaRPr lang="en-US" sz="1200" dirty="0"/>
          </a:p>
        </p:txBody>
      </p:sp>
      <p:sp>
        <p:nvSpPr>
          <p:cNvPr id="41" name="Legend optional"/>
          <p:cNvSpPr txBox="1"/>
          <p:nvPr/>
        </p:nvSpPr>
        <p:spPr>
          <a:xfrm>
            <a:off x="5047488" y="5833872"/>
            <a:ext cx="347472" cy="219456"/>
          </a:xfrm>
          <a:prstGeom prst="roundRect">
            <a:avLst>
              <a:gd name="adj" fmla="val 20833"/>
            </a:avLst>
          </a:prstGeom>
          <a:solidFill>
            <a:schemeClr val="accent3">
              <a:alpha val="14000"/>
            </a:schemeClr>
          </a:solidFill>
          <a:ln w="15875">
            <a:solidFill>
              <a:schemeClr val="accent3"/>
            </a:solidFill>
            <a:prstDash val="dash"/>
          </a:ln>
        </p:spPr>
        <p:txBody>
          <a:bodyPr wrap="square" lIns="635" tIns="635" rIns="635" bIns="635" rtlCol="0" anchor="ctr"/>
          <a:lstStyle/>
          <a:p>
            <a:pPr algn="ctr" indent="0" marL="0">
              <a:buNone/>
            </a:pPr>
            <a:endParaRPr lang="en-US" sz="1200" dirty="0"/>
          </a:p>
        </p:txBody>
      </p:sp>
      <p:sp>
        <p:nvSpPr>
          <p:cNvPr id="42" name="Legend optional label"/>
          <p:cNvSpPr txBox="1"/>
          <p:nvPr/>
        </p:nvSpPr>
        <p:spPr>
          <a:xfrm>
            <a:off x="5486400" y="5815584"/>
            <a:ext cx="850392" cy="256032"/>
          </a:xfrm>
          <a:prstGeom prst="rect">
            <a:avLst/>
          </a:prstGeom>
          <a:noFill/>
          <a:ln/>
        </p:spPr>
        <p:txBody>
          <a:bodyPr wrap="square" lIns="0" tIns="0" rIns="0" bIns="0" rtlCol="0" anchor="ctr"/>
          <a:lstStyle/>
          <a:p>
            <a:pPr algn="l" indent="0" marL="0">
              <a:buNone/>
            </a:pPr>
            <a:r>
              <a:rPr lang="en-US" sz="1200" dirty="0">
                <a:solidFill>
                  <a:schemeClr val="tx1"/>
                </a:solidFill>
              </a:rPr>
              <a:t>Optional</a:t>
            </a:r>
            <a:endParaRPr lang="en-US" sz="1200" dirty="0"/>
          </a:p>
        </p:txBody>
      </p:sp>
      <p:sp>
        <p:nvSpPr>
          <p:cNvPr id="43" name="Legend candidate"/>
          <p:cNvSpPr txBox="1"/>
          <p:nvPr/>
        </p:nvSpPr>
        <p:spPr>
          <a:xfrm>
            <a:off x="6519672" y="5833872"/>
            <a:ext cx="347472" cy="219456"/>
          </a:xfrm>
          <a:prstGeom prst="roundRect">
            <a:avLst>
              <a:gd name="adj" fmla="val 20833"/>
            </a:avLst>
          </a:prstGeom>
          <a:solidFill>
            <a:schemeClr val="accent2">
              <a:alpha val="14000"/>
            </a:schemeClr>
          </a:solidFill>
          <a:ln w="15875">
            <a:solidFill>
              <a:schemeClr val="accent2"/>
            </a:solidFill>
            <a:prstDash val="sysDash"/>
          </a:ln>
        </p:spPr>
        <p:txBody>
          <a:bodyPr wrap="square" lIns="635" tIns="635" rIns="635" bIns="635" rtlCol="0" anchor="ctr"/>
          <a:lstStyle/>
          <a:p>
            <a:pPr algn="ctr" indent="0" marL="0">
              <a:buNone/>
            </a:pPr>
            <a:endParaRPr lang="en-US" sz="1200" dirty="0"/>
          </a:p>
        </p:txBody>
      </p:sp>
      <p:sp>
        <p:nvSpPr>
          <p:cNvPr id="44" name="Legend candidate label"/>
          <p:cNvSpPr txBox="1"/>
          <p:nvPr/>
        </p:nvSpPr>
        <p:spPr>
          <a:xfrm>
            <a:off x="6958584" y="5815584"/>
            <a:ext cx="2171700" cy="256032"/>
          </a:xfrm>
          <a:prstGeom prst="rect">
            <a:avLst/>
          </a:prstGeom>
          <a:noFill/>
          <a:ln/>
        </p:spPr>
        <p:txBody>
          <a:bodyPr wrap="square" lIns="0" tIns="0" rIns="0" bIns="0" rtlCol="0" anchor="ctr"/>
          <a:lstStyle/>
          <a:p>
            <a:pPr algn="l" indent="0" marL="0">
              <a:buNone/>
            </a:pPr>
            <a:r>
              <a:rPr lang="en-US" sz="1200" dirty="0">
                <a:solidFill>
                  <a:schemeClr val="tx1"/>
                </a:solidFill>
              </a:rPr>
              <a:t>Candidate, alpha upstream</a:t>
            </a:r>
            <a:endParaRPr lang="en-US" sz="1200" dirty="0"/>
          </a:p>
        </p:txBody>
      </p:sp>
      <p:sp>
        <p:nvSpPr>
          <p:cNvPr id="45" name="Legend external"/>
          <p:cNvSpPr txBox="1"/>
          <p:nvPr/>
        </p:nvSpPr>
        <p:spPr>
          <a:xfrm>
            <a:off x="9313164" y="5833872"/>
            <a:ext cx="347472" cy="219456"/>
          </a:xfrm>
          <a:prstGeom prst="roundRect">
            <a:avLst>
              <a:gd name="adj" fmla="val 20833"/>
            </a:avLst>
          </a:prstGeom>
          <a:solidFill>
            <a:schemeClr val="bg1"/>
          </a:solidFill>
          <a:ln w="15875">
            <a:solidFill>
              <a:schemeClr val="accent6"/>
            </a:solidFill>
            <a:prstDash val="solid"/>
          </a:ln>
        </p:spPr>
        <p:txBody>
          <a:bodyPr wrap="square" lIns="635" tIns="635" rIns="635" bIns="635" rtlCol="0" anchor="ctr"/>
          <a:lstStyle/>
          <a:p>
            <a:pPr algn="ctr" indent="0" marL="0">
              <a:buNone/>
            </a:pPr>
            <a:endParaRPr lang="en-US" sz="1200" dirty="0"/>
          </a:p>
        </p:txBody>
      </p:sp>
      <p:sp>
        <p:nvSpPr>
          <p:cNvPr id="46" name="Legend external label"/>
          <p:cNvSpPr txBox="1"/>
          <p:nvPr/>
        </p:nvSpPr>
        <p:spPr>
          <a:xfrm>
            <a:off x="9752076" y="5815584"/>
            <a:ext cx="2093976" cy="256032"/>
          </a:xfrm>
          <a:prstGeom prst="rect">
            <a:avLst/>
          </a:prstGeom>
          <a:noFill/>
          <a:ln/>
        </p:spPr>
        <p:txBody>
          <a:bodyPr wrap="square" lIns="0" tIns="0" rIns="0" bIns="0" rtlCol="0" anchor="ctr"/>
          <a:lstStyle/>
          <a:p>
            <a:pPr algn="l" indent="0" marL="0">
              <a:buNone/>
            </a:pPr>
            <a:r>
              <a:rPr lang="en-US" sz="1200" dirty="0">
                <a:solidFill>
                  <a:schemeClr val="tx1"/>
                </a:solidFill>
              </a:rPr>
              <a:t>External system or actor</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Six principles keep the platform small</a:t>
            </a:r>
            <a:endParaRPr lang="en-US" sz="3600" dirty="0"/>
          </a:p>
        </p:txBody>
      </p:sp>
      <p:sp>
        <p:nvSpPr>
          <p:cNvPr id="4" name="Access before hosting card"/>
          <p:cNvSpPr/>
          <p:nvPr/>
        </p:nvSpPr>
        <p:spPr>
          <a:xfrm>
            <a:off x="548640" y="1554480"/>
            <a:ext cx="3514344" cy="2103120"/>
          </a:xfrm>
          <a:prstGeom prst="roundRect">
            <a:avLst>
              <a:gd name="adj" fmla="val 4348"/>
            </a:avLst>
          </a:prstGeom>
          <a:solidFill>
            <a:schemeClr val="bg2"/>
          </a:solidFill>
          <a:ln/>
        </p:spPr>
      </p:sp>
      <p:sp>
        <p:nvSpPr>
          <p:cNvPr id="5" name="Access before hosting number"/>
          <p:cNvSpPr txBox="1"/>
          <p:nvPr/>
        </p:nvSpPr>
        <p:spPr>
          <a:xfrm>
            <a:off x="777240" y="1801368"/>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Access before hosting heading"/>
          <p:cNvSpPr txBox="1"/>
          <p:nvPr/>
        </p:nvSpPr>
        <p:spPr>
          <a:xfrm>
            <a:off x="1389888" y="1737360"/>
            <a:ext cx="2462784" cy="585216"/>
          </a:xfrm>
          <a:prstGeom prst="rect">
            <a:avLst/>
          </a:prstGeom>
          <a:noFill/>
          <a:ln/>
        </p:spPr>
        <p:txBody>
          <a:bodyPr wrap="square" lIns="0" tIns="0" rIns="0" bIns="0" rtlCol="0" anchor="ctr"/>
          <a:lstStyle/>
          <a:p>
            <a:pPr indent="0" marL="0">
              <a:buNone/>
            </a:pPr>
            <a:r>
              <a:rPr lang="en-US" sz="1700" b="1" dirty="0">
                <a:solidFill>
                  <a:schemeClr val="tx2"/>
                </a:solidFill>
              </a:rPr>
              <a:t>Access before hosting</a:t>
            </a:r>
            <a:endParaRPr lang="en-US" sz="1700" dirty="0"/>
          </a:p>
        </p:txBody>
      </p:sp>
      <p:sp>
        <p:nvSpPr>
          <p:cNvPr id="7" name="Access before hosting text"/>
          <p:cNvSpPr txBox="1"/>
          <p:nvPr/>
        </p:nvSpPr>
        <p:spPr>
          <a:xfrm>
            <a:off x="777240" y="2468880"/>
            <a:ext cx="3057144" cy="1097280"/>
          </a:xfrm>
          <a:prstGeom prst="rect">
            <a:avLst/>
          </a:prstGeom>
          <a:noFill/>
          <a:ln/>
        </p:spPr>
        <p:txBody>
          <a:bodyPr wrap="square" lIns="0" tIns="0" rIns="0" bIns="0" rtlCol="0" anchor="t"/>
          <a:lstStyle/>
          <a:p>
            <a:pPr algn="l" indent="0" marL="0">
              <a:buNone/>
            </a:pPr>
            <a:r>
              <a:rPr lang="en-US" sz="1400" dirty="0">
                <a:solidFill>
                  <a:schemeClr val="tx1"/>
                </a:solidFill>
              </a:rPr>
              <a:t>Tools and models for existing clients come first. Compute is deployed only when a component needs a hosted process.</a:t>
            </a:r>
            <a:endParaRPr lang="en-US" sz="1400" dirty="0"/>
          </a:p>
        </p:txBody>
      </p:sp>
      <p:sp>
        <p:nvSpPr>
          <p:cNvPr id="8" name="Reuse before replace card"/>
          <p:cNvSpPr/>
          <p:nvPr/>
        </p:nvSpPr>
        <p:spPr>
          <a:xfrm>
            <a:off x="4337304" y="1554480"/>
            <a:ext cx="3514344" cy="2103120"/>
          </a:xfrm>
          <a:prstGeom prst="roundRect">
            <a:avLst>
              <a:gd name="adj" fmla="val 4348"/>
            </a:avLst>
          </a:prstGeom>
          <a:solidFill>
            <a:schemeClr val="bg2"/>
          </a:solidFill>
          <a:ln/>
        </p:spPr>
      </p:sp>
      <p:sp>
        <p:nvSpPr>
          <p:cNvPr id="9" name="Reuse before replace number"/>
          <p:cNvSpPr txBox="1"/>
          <p:nvPr/>
        </p:nvSpPr>
        <p:spPr>
          <a:xfrm>
            <a:off x="4565904" y="1801368"/>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Reuse before replace heading"/>
          <p:cNvSpPr txBox="1"/>
          <p:nvPr/>
        </p:nvSpPr>
        <p:spPr>
          <a:xfrm>
            <a:off x="5178552" y="1737360"/>
            <a:ext cx="2462784" cy="585216"/>
          </a:xfrm>
          <a:prstGeom prst="rect">
            <a:avLst/>
          </a:prstGeom>
          <a:noFill/>
          <a:ln/>
        </p:spPr>
        <p:txBody>
          <a:bodyPr wrap="square" lIns="0" tIns="0" rIns="0" bIns="0" rtlCol="0" anchor="ctr"/>
          <a:lstStyle/>
          <a:p>
            <a:pPr indent="0" marL="0">
              <a:buNone/>
            </a:pPr>
            <a:r>
              <a:rPr lang="en-US" sz="1700" b="1" dirty="0">
                <a:solidFill>
                  <a:schemeClr val="tx2"/>
                </a:solidFill>
              </a:rPr>
              <a:t>Reuse before replace</a:t>
            </a:r>
            <a:endParaRPr lang="en-US" sz="1700" dirty="0"/>
          </a:p>
        </p:txBody>
      </p:sp>
      <p:sp>
        <p:nvSpPr>
          <p:cNvPr id="11" name="Reuse before replace text"/>
          <p:cNvSpPr txBox="1"/>
          <p:nvPr/>
        </p:nvSpPr>
        <p:spPr>
          <a:xfrm>
            <a:off x="4565904" y="2468880"/>
            <a:ext cx="3057144" cy="1097280"/>
          </a:xfrm>
          <a:prstGeom prst="rect">
            <a:avLst/>
          </a:prstGeom>
          <a:noFill/>
          <a:ln/>
        </p:spPr>
        <p:txBody>
          <a:bodyPr wrap="square" lIns="0" tIns="0" rIns="0" bIns="0" rtlCol="0" anchor="t"/>
          <a:lstStyle/>
          <a:p>
            <a:pPr algn="l" indent="0" marL="0">
              <a:buNone/>
            </a:pPr>
            <a:r>
              <a:rPr lang="en-US" sz="1400" dirty="0">
                <a:solidFill>
                  <a:schemeClr val="tx1"/>
                </a:solidFill>
              </a:rPr>
              <a:t>Okta, Istio, Kyverno, Karpenter, CloudNativePG, OpenTelemetry, GitLab CI and Helmfile stay in place.</a:t>
            </a:r>
            <a:endParaRPr lang="en-US" sz="1400" dirty="0"/>
          </a:p>
        </p:txBody>
      </p:sp>
      <p:sp>
        <p:nvSpPr>
          <p:cNvPr id="12" name="Native APIs, no new abstraction card"/>
          <p:cNvSpPr/>
          <p:nvPr/>
        </p:nvSpPr>
        <p:spPr>
          <a:xfrm>
            <a:off x="8125968" y="1554480"/>
            <a:ext cx="3514344" cy="2103120"/>
          </a:xfrm>
          <a:prstGeom prst="roundRect">
            <a:avLst>
              <a:gd name="adj" fmla="val 4348"/>
            </a:avLst>
          </a:prstGeom>
          <a:solidFill>
            <a:schemeClr val="bg2"/>
          </a:solidFill>
          <a:ln/>
        </p:spPr>
      </p:sp>
      <p:sp>
        <p:nvSpPr>
          <p:cNvPr id="13" name="Native APIs, no new abstraction number"/>
          <p:cNvSpPr txBox="1"/>
          <p:nvPr/>
        </p:nvSpPr>
        <p:spPr>
          <a:xfrm>
            <a:off x="8354568" y="1801368"/>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Native APIs, no new abstraction heading"/>
          <p:cNvSpPr txBox="1"/>
          <p:nvPr/>
        </p:nvSpPr>
        <p:spPr>
          <a:xfrm>
            <a:off x="8967216" y="1737360"/>
            <a:ext cx="2462784" cy="585216"/>
          </a:xfrm>
          <a:prstGeom prst="rect">
            <a:avLst/>
          </a:prstGeom>
          <a:noFill/>
          <a:ln/>
        </p:spPr>
        <p:txBody>
          <a:bodyPr wrap="square" lIns="0" tIns="0" rIns="0" bIns="0" rtlCol="0" anchor="ctr"/>
          <a:lstStyle/>
          <a:p>
            <a:pPr indent="0" marL="0">
              <a:buNone/>
            </a:pPr>
            <a:r>
              <a:rPr lang="en-US" sz="1700" b="1" dirty="0">
                <a:solidFill>
                  <a:schemeClr val="tx2"/>
                </a:solidFill>
              </a:rPr>
              <a:t>Native APIs, no new abstraction</a:t>
            </a:r>
            <a:endParaRPr lang="en-US" sz="1700" dirty="0"/>
          </a:p>
        </p:txBody>
      </p:sp>
      <p:sp>
        <p:nvSpPr>
          <p:cNvPr id="15" name="Native APIs, no new abstraction text"/>
          <p:cNvSpPr txBox="1"/>
          <p:nvPr/>
        </p:nvSpPr>
        <p:spPr>
          <a:xfrm>
            <a:off x="8354568" y="2468880"/>
            <a:ext cx="3057144" cy="1097280"/>
          </a:xfrm>
          <a:prstGeom prst="rect">
            <a:avLst/>
          </a:prstGeom>
          <a:noFill/>
          <a:ln/>
        </p:spPr>
        <p:txBody>
          <a:bodyPr wrap="square" lIns="0" tIns="0" rIns="0" bIns="0" rtlCol="0" anchor="t"/>
          <a:lstStyle/>
          <a:p>
            <a:pPr algn="l" indent="0" marL="0">
              <a:buNone/>
            </a:pPr>
            <a:r>
              <a:rPr lang="en-US" sz="1400" dirty="0">
                <a:solidFill>
                  <a:schemeClr val="tx1"/>
                </a:solidFill>
              </a:rPr>
              <a:t>Helm values and each runtime's own resources. No universal agent specification to compile.</a:t>
            </a:r>
            <a:endParaRPr lang="en-US" sz="1400" dirty="0"/>
          </a:p>
        </p:txBody>
      </p:sp>
      <p:sp>
        <p:nvSpPr>
          <p:cNvPr id="16" name="One writer per object card"/>
          <p:cNvSpPr/>
          <p:nvPr/>
        </p:nvSpPr>
        <p:spPr>
          <a:xfrm>
            <a:off x="548640" y="3886200"/>
            <a:ext cx="3514344" cy="2103120"/>
          </a:xfrm>
          <a:prstGeom prst="roundRect">
            <a:avLst>
              <a:gd name="adj" fmla="val 4348"/>
            </a:avLst>
          </a:prstGeom>
          <a:solidFill>
            <a:schemeClr val="bg2"/>
          </a:solidFill>
          <a:ln/>
        </p:spPr>
      </p:sp>
      <p:sp>
        <p:nvSpPr>
          <p:cNvPr id="17" name="One writer per object number"/>
          <p:cNvSpPr txBox="1"/>
          <p:nvPr/>
        </p:nvSpPr>
        <p:spPr>
          <a:xfrm>
            <a:off x="777240" y="4133088"/>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One writer per object heading"/>
          <p:cNvSpPr txBox="1"/>
          <p:nvPr/>
        </p:nvSpPr>
        <p:spPr>
          <a:xfrm>
            <a:off x="1389888" y="4069080"/>
            <a:ext cx="2462784" cy="585216"/>
          </a:xfrm>
          <a:prstGeom prst="rect">
            <a:avLst/>
          </a:prstGeom>
          <a:noFill/>
          <a:ln/>
        </p:spPr>
        <p:txBody>
          <a:bodyPr wrap="square" lIns="0" tIns="0" rIns="0" bIns="0" rtlCol="0" anchor="ctr"/>
          <a:lstStyle/>
          <a:p>
            <a:pPr indent="0" marL="0">
              <a:buNone/>
            </a:pPr>
            <a:r>
              <a:rPr lang="en-US" sz="1700" b="1" dirty="0">
                <a:solidFill>
                  <a:schemeClr val="tx2"/>
                </a:solidFill>
              </a:rPr>
              <a:t>One writer per object</a:t>
            </a:r>
            <a:endParaRPr lang="en-US" sz="1700" dirty="0"/>
          </a:p>
        </p:txBody>
      </p:sp>
      <p:sp>
        <p:nvSpPr>
          <p:cNvPr id="19" name="One writer per object text"/>
          <p:cNvSpPr txBox="1"/>
          <p:nvPr/>
        </p:nvSpPr>
        <p:spPr>
          <a:xfrm>
            <a:off x="777240" y="4800600"/>
            <a:ext cx="3057144" cy="1097280"/>
          </a:xfrm>
          <a:prstGeom prst="rect">
            <a:avLst/>
          </a:prstGeom>
          <a:noFill/>
          <a:ln/>
        </p:spPr>
        <p:txBody>
          <a:bodyPr wrap="square" lIns="0" tIns="0" rIns="0" bIns="0" rtlCol="0" anchor="t"/>
          <a:lstStyle/>
          <a:p>
            <a:pPr algn="l" indent="0" marL="0">
              <a:buNone/>
            </a:pPr>
            <a:r>
              <a:rPr lang="en-US" sz="1400" dirty="0">
                <a:solidFill>
                  <a:schemeClr val="tx1"/>
                </a:solidFill>
              </a:rPr>
              <a:t>Every object and field has one owner, including the resources that controllers generate.</a:t>
            </a:r>
            <a:endParaRPr lang="en-US" sz="1400" dirty="0"/>
          </a:p>
        </p:txBody>
      </p:sp>
      <p:sp>
        <p:nvSpPr>
          <p:cNvPr id="20" name="Controls teams cannot remove card"/>
          <p:cNvSpPr/>
          <p:nvPr/>
        </p:nvSpPr>
        <p:spPr>
          <a:xfrm>
            <a:off x="4337304" y="3886200"/>
            <a:ext cx="3514344" cy="2103120"/>
          </a:xfrm>
          <a:prstGeom prst="roundRect">
            <a:avLst>
              <a:gd name="adj" fmla="val 4348"/>
            </a:avLst>
          </a:prstGeom>
          <a:solidFill>
            <a:schemeClr val="bg2"/>
          </a:solidFill>
          <a:ln/>
        </p:spPr>
      </p:sp>
      <p:sp>
        <p:nvSpPr>
          <p:cNvPr id="21" name="Controls teams cannot remove number"/>
          <p:cNvSpPr txBox="1"/>
          <p:nvPr/>
        </p:nvSpPr>
        <p:spPr>
          <a:xfrm>
            <a:off x="4565904" y="4133088"/>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2" name="Controls teams cannot remove heading"/>
          <p:cNvSpPr txBox="1"/>
          <p:nvPr/>
        </p:nvSpPr>
        <p:spPr>
          <a:xfrm>
            <a:off x="5178552" y="4069080"/>
            <a:ext cx="2462784" cy="585216"/>
          </a:xfrm>
          <a:prstGeom prst="rect">
            <a:avLst/>
          </a:prstGeom>
          <a:noFill/>
          <a:ln/>
        </p:spPr>
        <p:txBody>
          <a:bodyPr wrap="square" lIns="0" tIns="0" rIns="0" bIns="0" rtlCol="0" anchor="ctr"/>
          <a:lstStyle/>
          <a:p>
            <a:pPr indent="0" marL="0">
              <a:buNone/>
            </a:pPr>
            <a:r>
              <a:rPr lang="en-US" sz="1700" b="1" dirty="0">
                <a:solidFill>
                  <a:schemeClr val="tx2"/>
                </a:solidFill>
              </a:rPr>
              <a:t>Controls teams cannot remove</a:t>
            </a:r>
            <a:endParaRPr lang="en-US" sz="1700" dirty="0"/>
          </a:p>
        </p:txBody>
      </p:sp>
      <p:sp>
        <p:nvSpPr>
          <p:cNvPr id="23" name="Controls teams cannot remove text"/>
          <p:cNvSpPr txBox="1"/>
          <p:nvPr/>
        </p:nvSpPr>
        <p:spPr>
          <a:xfrm>
            <a:off x="4565904" y="4800600"/>
            <a:ext cx="3057144" cy="1097280"/>
          </a:xfrm>
          <a:prstGeom prst="rect">
            <a:avLst/>
          </a:prstGeom>
          <a:noFill/>
          <a:ln/>
        </p:spPr>
        <p:txBody>
          <a:bodyPr wrap="square" lIns="0" tIns="0" rIns="0" bIns="0" rtlCol="0" anchor="t"/>
          <a:lstStyle/>
          <a:p>
            <a:pPr algn="l" indent="0" marL="0">
              <a:buNone/>
            </a:pPr>
            <a:r>
              <a:rPr lang="en-US" sz="1400" dirty="0">
                <a:solidFill>
                  <a:schemeClr val="tx1"/>
                </a:solidFill>
              </a:rPr>
              <a:t>Rules are enforced at the gateway, at admission and in the network, not in a shared library.</a:t>
            </a:r>
            <a:endParaRPr lang="en-US" sz="1400" dirty="0"/>
          </a:p>
        </p:txBody>
      </p:sp>
      <p:sp>
        <p:nvSpPr>
          <p:cNvPr id="24" name="Business rules stay downstream card"/>
          <p:cNvSpPr/>
          <p:nvPr/>
        </p:nvSpPr>
        <p:spPr>
          <a:xfrm>
            <a:off x="8125968" y="3886200"/>
            <a:ext cx="3514344" cy="2103120"/>
          </a:xfrm>
          <a:prstGeom prst="roundRect">
            <a:avLst>
              <a:gd name="adj" fmla="val 4348"/>
            </a:avLst>
          </a:prstGeom>
          <a:solidFill>
            <a:schemeClr val="bg2"/>
          </a:solidFill>
          <a:ln/>
        </p:spPr>
      </p:sp>
      <p:sp>
        <p:nvSpPr>
          <p:cNvPr id="25" name="Business rules stay downstream number"/>
          <p:cNvSpPr txBox="1"/>
          <p:nvPr/>
        </p:nvSpPr>
        <p:spPr>
          <a:xfrm>
            <a:off x="8354568" y="4133088"/>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6" name="Business rules stay downstream heading"/>
          <p:cNvSpPr txBox="1"/>
          <p:nvPr/>
        </p:nvSpPr>
        <p:spPr>
          <a:xfrm>
            <a:off x="8967216" y="4069080"/>
            <a:ext cx="2462784" cy="585216"/>
          </a:xfrm>
          <a:prstGeom prst="rect">
            <a:avLst/>
          </a:prstGeom>
          <a:noFill/>
          <a:ln/>
        </p:spPr>
        <p:txBody>
          <a:bodyPr wrap="square" lIns="0" tIns="0" rIns="0" bIns="0" rtlCol="0" anchor="ctr"/>
          <a:lstStyle/>
          <a:p>
            <a:pPr indent="0" marL="0">
              <a:buNone/>
            </a:pPr>
            <a:r>
              <a:rPr lang="en-US" sz="1700" b="1" dirty="0">
                <a:solidFill>
                  <a:schemeClr val="tx2"/>
                </a:solidFill>
              </a:rPr>
              <a:t>Business rules stay downstream</a:t>
            </a:r>
            <a:endParaRPr lang="en-US" sz="1700" dirty="0"/>
          </a:p>
        </p:txBody>
      </p:sp>
      <p:sp>
        <p:nvSpPr>
          <p:cNvPr id="27" name="Business rules stay downstream text"/>
          <p:cNvSpPr txBox="1"/>
          <p:nvPr/>
        </p:nvSpPr>
        <p:spPr>
          <a:xfrm>
            <a:off x="8354568" y="4800600"/>
            <a:ext cx="3057144" cy="1097280"/>
          </a:xfrm>
          <a:prstGeom prst="rect">
            <a:avLst/>
          </a:prstGeom>
          <a:noFill/>
          <a:ln/>
        </p:spPr>
        <p:txBody>
          <a:bodyPr wrap="square" lIns="0" tIns="0" rIns="0" bIns="0" rtlCol="0" anchor="t"/>
          <a:lstStyle/>
          <a:p>
            <a:pPr algn="l" indent="0" marL="0">
              <a:buNone/>
            </a:pPr>
            <a:r>
              <a:rPr lang="en-US" sz="1400" dirty="0">
                <a:solidFill>
                  <a:schemeClr val="tx1"/>
                </a:solidFill>
              </a:rPr>
              <a:t>The gateway decides who may call a tool. The service decides whether this operation is allowed.</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Maturity is uneven across components</a:t>
            </a:r>
            <a:endParaRPr lang="en-US" sz="3600" dirty="0"/>
          </a:p>
        </p:txBody>
      </p:sp>
      <p:graphicFrame>
        <p:nvGraphicFramePr>
          <p:cNvPr id="7" name="Maturity table"/>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743200"/>
                <a:gridCol w="3063240"/>
                <a:gridCol w="3108960"/>
                <a:gridCol w="2176272"/>
              </a:tblGrid>
              <a:tr h="548640">
                <a:tc>
                  <a:txBody>
                    <a:bodyPr/>
                    <a:lstStyle/>
                    <a:p>
                      <a:pPr indent="0" marL="0">
                        <a:buNone/>
                      </a:pPr>
                      <a:r>
                        <a:rPr lang="en-US" sz="1300" b="1" dirty="0">
                          <a:solidFill>
                            <a:schemeClr val="bg1"/>
                          </a:solidFill>
                        </a:rPr>
                        <a:t>Component</a:t>
                      </a:r>
                      <a:endParaRPr lang="en-US" sz="13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Role</a:t>
                      </a:r>
                      <a:endParaRPr lang="en-US" sz="13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Documented upstream</a:t>
                      </a:r>
                      <a:endParaRPr lang="en-US" sz="13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Position here</a:t>
                      </a:r>
                      <a:endParaRPr lang="en-US" sz="13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chemeClr val="tx2"/>
                    </a:solidFill>
                  </a:tcPr>
                </a:tc>
              </a:tr>
              <a:tr h="548640">
                <a:tc>
                  <a:txBody>
                    <a:bodyPr/>
                    <a:lstStyle/>
                    <a:p>
                      <a:pPr indent="0" marL="0">
                        <a:buNone/>
                      </a:pPr>
                      <a:r>
                        <a:rPr lang="en-US" sz="1400" dirty="0">
                          <a:solidFill>
                            <a:schemeClr val="tx1"/>
                          </a:solidFill>
                        </a:rPr>
                        <a:t>Agentgateway 1.6.x</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Tool and model connectivity</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Resources at v1alpha1; no experimental label on the pages checked</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b="1" dirty="0">
                          <a:solidFill>
                            <a:schemeClr val="tx1"/>
                          </a:solidFill>
                        </a:rPr>
                        <a:t>New: the core</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chemeClr val="accent1">
                        <a:alpha val="14000"/>
                      </a:schemeClr>
                    </a:solidFill>
                  </a:tcPr>
                </a:tc>
              </a:tr>
              <a:tr h="548640">
                <a:tc>
                  <a:txBody>
                    <a:bodyPr/>
                    <a:lstStyle/>
                    <a:p>
                      <a:pPr indent="0" marL="0">
                        <a:buNone/>
                      </a:pPr>
                      <a:r>
                        <a:rPr lang="en-US" sz="1400" dirty="0">
                          <a:solidFill>
                            <a:schemeClr val="tx1"/>
                          </a:solidFill>
                        </a:rPr>
                        <a:t>Rate-limit server</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Shared token budgets</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Deployed separately from the proxy</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b="1" dirty="0">
                          <a:solidFill>
                            <a:schemeClr val="tx1"/>
                          </a:solidFill>
                        </a:rPr>
                        <a:t>New: only if budgets are enforced</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chemeClr val="accent1">
                        <a:alpha val="14000"/>
                      </a:schemeClr>
                    </a:solidFill>
                  </a:tcPr>
                </a:tc>
              </a:tr>
              <a:tr h="548640">
                <a:tc>
                  <a:txBody>
                    <a:bodyPr/>
                    <a:lstStyle/>
                    <a:p>
                      <a:pPr indent="0" marL="0">
                        <a:buNone/>
                      </a:pPr>
                      <a:r>
                        <a:rPr lang="en-US" sz="1400" dirty="0">
                          <a:solidFill>
                            <a:schemeClr val="tx1"/>
                          </a:solidFill>
                        </a:rPr>
                        <a:t>Agentregistry</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Catalog of tools, agents, skills, prompts</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Deployment API at v1alpha1</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b="1" dirty="0">
                          <a:solidFill>
                            <a:schemeClr val="tx1"/>
                          </a:solidFill>
                        </a:rPr>
                        <a:t>Optional: catalog only</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chemeClr val="accent3">
                        <a:alpha val="14000"/>
                      </a:schemeClr>
                    </a:solidFill>
                  </a:tcPr>
                </a:tc>
              </a:tr>
              <a:tr h="548640">
                <a:tc>
                  <a:txBody>
                    <a:bodyPr/>
                    <a:lstStyle/>
                    <a:p>
                      <a:pPr indent="0" marL="0">
                        <a:buNone/>
                      </a:pPr>
                      <a:r>
                        <a:rPr lang="en-US" sz="1400" dirty="0">
                          <a:solidFill>
                            <a:schemeClr val="tx1"/>
                          </a:solidFill>
                        </a:rPr>
                        <a:t>kagent 1.0 with Agent Substrate</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Declarative agents, sandboxed sessions</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Alpha; resources at v1alpha3</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b="1" dirty="0">
                          <a:solidFill>
                            <a:schemeClr val="tx1"/>
                          </a:solidFill>
                        </a:rPr>
                        <a:t>Candidate</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chemeClr val="accent2">
                        <a:alpha val="14000"/>
                      </a:schemeClr>
                    </a:solidFill>
                  </a:tcPr>
                </a:tc>
              </a:tr>
              <a:tr h="548640">
                <a:tc>
                  <a:txBody>
                    <a:bodyPr/>
                    <a:lstStyle/>
                    <a:p>
                      <a:pPr indent="0" marL="0">
                        <a:buNone/>
                      </a:pPr>
                      <a:r>
                        <a:rPr lang="en-US" sz="1400" dirty="0">
                          <a:solidFill>
                            <a:schemeClr val="tx1"/>
                          </a:solidFill>
                        </a:rPr>
                        <a:t>Istio integration of Agentgateway</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Alternative gateway controller</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Experimental, for evaluation only (Istio 1.31.1)</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b="1" dirty="0">
                          <a:solidFill>
                            <a:schemeClr val="tx1"/>
                          </a:solidFill>
                        </a:rPr>
                        <a:t>Not used</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chemeClr val="accent4">
                        <a:alpha val="22000"/>
                      </a:schemeClr>
                    </a:solidFill>
                  </a:tcPr>
                </a:tc>
              </a:tr>
              <a:tr h="548640">
                <a:tc>
                  <a:txBody>
                    <a:bodyPr/>
                    <a:lstStyle/>
                    <a:p>
                      <a:pPr indent="0" marL="0">
                        <a:buNone/>
                      </a:pPr>
                      <a:r>
                        <a:rPr lang="en-US" sz="1400" dirty="0">
                          <a:solidFill>
                            <a:schemeClr val="tx1"/>
                          </a:solidFill>
                        </a:rPr>
                        <a:t>Langfuse</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Prompt and evaluation workspace</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Not checked</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b="1" dirty="0">
                          <a:solidFill>
                            <a:schemeClr val="tx1"/>
                          </a:solidFill>
                        </a:rPr>
                        <a:t>Optional: not in the pilot</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chemeClr val="accent3">
                        <a:alpha val="14000"/>
                      </a:schemeClr>
                    </a:solidFill>
                  </a:tcPr>
                </a:tc>
              </a:tr>
            </a:tbl>
          </a:graphicData>
        </a:graphic>
      </p:graphicFrame>
      <p:sp>
        <p:nvSpPr>
          <p:cNvPr id="5" name="Table note"/>
          <p:cNvSpPr txBox="1"/>
          <p:nvPr/>
        </p:nvSpPr>
        <p:spPr>
          <a:xfrm>
            <a:off x="548640" y="5715000"/>
            <a:ext cx="11091672" cy="457200"/>
          </a:xfrm>
          <a:prstGeom prst="rect">
            <a:avLst/>
          </a:prstGeom>
          <a:noFill/>
          <a:ln/>
        </p:spPr>
        <p:txBody>
          <a:bodyPr wrap="square" lIns="0" tIns="0" rIns="0" bIns="0" rtlCol="0" anchor="t"/>
          <a:lstStyle/>
          <a:p>
            <a:pPr algn="l" indent="0" marL="0">
              <a:buNone/>
            </a:pPr>
            <a:r>
              <a:rPr lang="en-US" sz="1400" dirty="0">
                <a:solidFill>
                  <a:schemeClr val="accent6"/>
                </a:solidFill>
              </a:rPr>
              <a:t>Everything else in the design is infrastructure we already operate. Its versions and configuration have not been inspected yet.</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A tool call is authorized twice</a:t>
            </a:r>
            <a:endParaRPr lang="en-US" sz="3600" dirty="0"/>
          </a:p>
        </p:txBody>
      </p:sp>
      <p:sp>
        <p:nvSpPr>
          <p:cNvPr id="4" name="Developer client"/>
          <p:cNvSpPr txBox="1"/>
          <p:nvPr/>
        </p:nvSpPr>
        <p:spPr>
          <a:xfrm>
            <a:off x="548640" y="2103120"/>
            <a:ext cx="1922526" cy="822960"/>
          </a:xfrm>
          <a:prstGeom prst="roundRect">
            <a:avLst>
              <a:gd name="adj" fmla="val 8889"/>
            </a:avLst>
          </a:prstGeom>
          <a:solidFill>
            <a:schemeClr val="bg1"/>
          </a:solidFill>
          <a:ln w="15875">
            <a:solidFill>
              <a:schemeClr val="accent6"/>
            </a:solidFill>
            <a:prstDash val="solid"/>
          </a:ln>
        </p:spPr>
        <p:txBody>
          <a:bodyPr wrap="square" lIns="635" tIns="635" rIns="635" bIns="635" rtlCol="0" anchor="ctr"/>
          <a:lstStyle/>
          <a:p>
            <a:pPr algn="ctr" indent="0" marL="0">
              <a:buNone/>
            </a:pPr>
            <a:r>
              <a:rPr lang="en-US" sz="1600" b="1" dirty="0">
                <a:solidFill>
                  <a:schemeClr val="tx1"/>
                </a:solidFill>
              </a:rPr>
              <a:t>Developer client</a:t>
            </a:r>
            <a:endParaRPr lang="en-US" sz="1600" dirty="0"/>
          </a:p>
        </p:txBody>
      </p:sp>
      <p:sp>
        <p:nvSpPr>
          <p:cNvPr id="5" name="Developer client caption"/>
          <p:cNvSpPr txBox="1"/>
          <p:nvPr/>
        </p:nvSpPr>
        <p:spPr>
          <a:xfrm>
            <a:off x="548640" y="3154680"/>
            <a:ext cx="1922526" cy="1280160"/>
          </a:xfrm>
          <a:prstGeom prst="rect">
            <a:avLst/>
          </a:prstGeom>
          <a:noFill/>
          <a:ln/>
        </p:spPr>
        <p:txBody>
          <a:bodyPr wrap="square" lIns="0" tIns="0" rIns="0" bIns="0" rtlCol="0" anchor="t"/>
          <a:lstStyle/>
          <a:p>
            <a:pPr algn="l" indent="0" marL="0">
              <a:buNone/>
            </a:pPr>
            <a:r>
              <a:rPr lang="en-US" sz="1400" dirty="0">
                <a:solidFill>
                  <a:schemeClr val="tx1"/>
                </a:solidFill>
              </a:rPr>
              <a:t>An existing IDE or CLI agent. No agent workload or session store is created for this developer.</a:t>
            </a:r>
            <a:endParaRPr lang="en-US" sz="1400" dirty="0"/>
          </a:p>
        </p:txBody>
      </p:sp>
      <p:sp>
        <p:nvSpPr>
          <p:cNvPr id="6" name="Arrow 1"/>
          <p:cNvSpPr/>
          <p:nvPr/>
        </p:nvSpPr>
        <p:spPr>
          <a:xfrm>
            <a:off x="2526030" y="2514600"/>
            <a:ext cx="1024128" cy="0"/>
          </a:xfrm>
          <a:prstGeom prst="line">
            <a:avLst/>
          </a:prstGeom>
          <a:noFill/>
          <a:ln w="19050">
            <a:solidFill>
              <a:schemeClr val="accent6"/>
            </a:solidFill>
            <a:prstDash val="solid"/>
            <a:tailEnd type="triangle"/>
          </a:ln>
        </p:spPr>
      </p:sp>
      <p:sp>
        <p:nvSpPr>
          <p:cNvPr id="7" name="Agentgateway"/>
          <p:cNvSpPr txBox="1"/>
          <p:nvPr/>
        </p:nvSpPr>
        <p:spPr>
          <a:xfrm>
            <a:off x="3605022" y="2103120"/>
            <a:ext cx="1922526" cy="822960"/>
          </a:xfrm>
          <a:prstGeom prst="roundRect">
            <a:avLst>
              <a:gd name="adj" fmla="val 8889"/>
            </a:avLst>
          </a:prstGeom>
          <a:solidFill>
            <a:schemeClr val="accent1">
              <a:alpha val="14000"/>
            </a:schemeClr>
          </a:solidFill>
          <a:ln w="15875">
            <a:solidFill>
              <a:schemeClr val="accent1"/>
            </a:solidFill>
            <a:prstDash val="solid"/>
          </a:ln>
        </p:spPr>
        <p:txBody>
          <a:bodyPr wrap="square" lIns="635" tIns="635" rIns="635" bIns="635" rtlCol="0" anchor="ctr"/>
          <a:lstStyle/>
          <a:p>
            <a:pPr algn="ctr" indent="0" marL="0">
              <a:buNone/>
            </a:pPr>
            <a:r>
              <a:rPr lang="en-US" sz="1600" b="1" dirty="0">
                <a:solidFill>
                  <a:schemeClr val="tx1"/>
                </a:solidFill>
              </a:rPr>
              <a:t>Agentgateway</a:t>
            </a:r>
            <a:endParaRPr lang="en-US" sz="1600" dirty="0"/>
          </a:p>
        </p:txBody>
      </p:sp>
      <p:sp>
        <p:nvSpPr>
          <p:cNvPr id="8" name="Agentgateway caption"/>
          <p:cNvSpPr txBox="1"/>
          <p:nvPr/>
        </p:nvSpPr>
        <p:spPr>
          <a:xfrm>
            <a:off x="3605022" y="3154680"/>
            <a:ext cx="1922526" cy="1280160"/>
          </a:xfrm>
          <a:prstGeom prst="rect">
            <a:avLst/>
          </a:prstGeom>
          <a:noFill/>
          <a:ln/>
        </p:spPr>
        <p:txBody>
          <a:bodyPr wrap="square" lIns="0" tIns="0" rIns="0" bIns="0" rtlCol="0" anchor="t"/>
          <a:lstStyle/>
          <a:p>
            <a:pPr algn="l" indent="0" marL="0">
              <a:buNone/>
            </a:pPr>
            <a:r>
              <a:rPr lang="en-US" sz="1400" dirty="0">
                <a:solidFill>
                  <a:schemeClr val="tx1"/>
                </a:solidFill>
              </a:rPr>
              <a:t>Validates issuer, audience and claims. Lists only the tools this user may call.</a:t>
            </a:r>
            <a:endParaRPr lang="en-US" sz="1400" dirty="0"/>
          </a:p>
        </p:txBody>
      </p:sp>
      <p:sp>
        <p:nvSpPr>
          <p:cNvPr id="9" name="Arrow 2"/>
          <p:cNvSpPr/>
          <p:nvPr/>
        </p:nvSpPr>
        <p:spPr>
          <a:xfrm>
            <a:off x="5582412" y="2514600"/>
            <a:ext cx="1024128" cy="0"/>
          </a:xfrm>
          <a:prstGeom prst="line">
            <a:avLst/>
          </a:prstGeom>
          <a:noFill/>
          <a:ln w="19050">
            <a:solidFill>
              <a:schemeClr val="accent6"/>
            </a:solidFill>
            <a:prstDash val="solid"/>
            <a:tailEnd type="triangle"/>
          </a:ln>
        </p:spPr>
      </p:sp>
      <p:sp>
        <p:nvSpPr>
          <p:cNvPr id="10" name="MCP server"/>
          <p:cNvSpPr txBox="1"/>
          <p:nvPr/>
        </p:nvSpPr>
        <p:spPr>
          <a:xfrm>
            <a:off x="6661404" y="2103120"/>
            <a:ext cx="1922526" cy="822960"/>
          </a:xfrm>
          <a:prstGeom prst="roundRect">
            <a:avLst>
              <a:gd name="adj" fmla="val 8889"/>
            </a:avLst>
          </a:prstGeom>
          <a:solidFill>
            <a:schemeClr val="accent1">
              <a:alpha val="14000"/>
            </a:schemeClr>
          </a:solidFill>
          <a:ln w="15875">
            <a:solidFill>
              <a:schemeClr val="accent1"/>
            </a:solidFill>
            <a:prstDash val="solid"/>
          </a:ln>
        </p:spPr>
        <p:txBody>
          <a:bodyPr wrap="square" lIns="635" tIns="635" rIns="635" bIns="635" rtlCol="0" anchor="ctr"/>
          <a:lstStyle/>
          <a:p>
            <a:pPr algn="ctr" indent="0" marL="0">
              <a:buNone/>
            </a:pPr>
            <a:r>
              <a:rPr lang="en-US" sz="1600" b="1" dirty="0">
                <a:solidFill>
                  <a:schemeClr val="tx1"/>
                </a:solidFill>
              </a:rPr>
              <a:t>MCP server</a:t>
            </a:r>
            <a:endParaRPr lang="en-US" sz="1600" dirty="0"/>
          </a:p>
        </p:txBody>
      </p:sp>
      <p:sp>
        <p:nvSpPr>
          <p:cNvPr id="11" name="MCP server caption"/>
          <p:cNvSpPr txBox="1"/>
          <p:nvPr/>
        </p:nvSpPr>
        <p:spPr>
          <a:xfrm>
            <a:off x="6661404" y="3154680"/>
            <a:ext cx="1922526" cy="1280160"/>
          </a:xfrm>
          <a:prstGeom prst="rect">
            <a:avLst/>
          </a:prstGeom>
          <a:noFill/>
          <a:ln/>
        </p:spPr>
        <p:txBody>
          <a:bodyPr wrap="square" lIns="0" tIns="0" rIns="0" bIns="0" rtlCol="0" anchor="t"/>
          <a:lstStyle/>
          <a:p>
            <a:pPr algn="l" indent="0" marL="0">
              <a:buNone/>
            </a:pPr>
            <a:r>
              <a:rPr lang="en-US" sz="1400" dirty="0">
                <a:solidFill>
                  <a:schemeClr val="tx1"/>
                </a:solidFill>
              </a:rPr>
              <a:t>A tool adapter owned by the service team. Calls the API with a resource-specific credential.</a:t>
            </a:r>
            <a:endParaRPr lang="en-US" sz="1400" dirty="0"/>
          </a:p>
        </p:txBody>
      </p:sp>
      <p:sp>
        <p:nvSpPr>
          <p:cNvPr id="12" name="Arrow 3"/>
          <p:cNvSpPr/>
          <p:nvPr/>
        </p:nvSpPr>
        <p:spPr>
          <a:xfrm>
            <a:off x="8638794" y="2514600"/>
            <a:ext cx="1024128" cy="0"/>
          </a:xfrm>
          <a:prstGeom prst="line">
            <a:avLst/>
          </a:prstGeom>
          <a:noFill/>
          <a:ln w="19050">
            <a:solidFill>
              <a:schemeClr val="accent6"/>
            </a:solidFill>
            <a:prstDash val="solid"/>
            <a:tailEnd type="triangle"/>
          </a:ln>
        </p:spPr>
      </p:sp>
      <p:sp>
        <p:nvSpPr>
          <p:cNvPr id="13" name="Service API"/>
          <p:cNvSpPr txBox="1"/>
          <p:nvPr/>
        </p:nvSpPr>
        <p:spPr>
          <a:xfrm>
            <a:off x="9717786" y="2103120"/>
            <a:ext cx="1922526" cy="822960"/>
          </a:xfrm>
          <a:prstGeom prst="roundRect">
            <a:avLst>
              <a:gd name="adj" fmla="val 8889"/>
            </a:avLst>
          </a:prstGeom>
          <a:solidFill>
            <a:schemeClr val="accent4">
              <a:alpha val="22000"/>
            </a:schemeClr>
          </a:solidFill>
          <a:ln w="15875">
            <a:solidFill>
              <a:schemeClr val="accent4"/>
            </a:solidFill>
            <a:prstDash val="solid"/>
          </a:ln>
        </p:spPr>
        <p:txBody>
          <a:bodyPr wrap="square" lIns="635" tIns="635" rIns="635" bIns="635" rtlCol="0" anchor="ctr"/>
          <a:lstStyle/>
          <a:p>
            <a:pPr algn="ctr" indent="0" marL="0">
              <a:buNone/>
            </a:pPr>
            <a:r>
              <a:rPr lang="en-US" sz="1600" b="1" dirty="0">
                <a:solidFill>
                  <a:schemeClr val="tx1"/>
                </a:solidFill>
              </a:rPr>
              <a:t>Service API</a:t>
            </a:r>
            <a:endParaRPr lang="en-US" sz="1600" dirty="0"/>
          </a:p>
        </p:txBody>
      </p:sp>
      <p:sp>
        <p:nvSpPr>
          <p:cNvPr id="14" name="Service API caption"/>
          <p:cNvSpPr txBox="1"/>
          <p:nvPr/>
        </p:nvSpPr>
        <p:spPr>
          <a:xfrm>
            <a:off x="9717786" y="3154680"/>
            <a:ext cx="1922526" cy="1280160"/>
          </a:xfrm>
          <a:prstGeom prst="rect">
            <a:avLst/>
          </a:prstGeom>
          <a:noFill/>
          <a:ln/>
        </p:spPr>
        <p:txBody>
          <a:bodyPr wrap="square" lIns="0" tIns="0" rIns="0" bIns="0" rtlCol="0" anchor="t"/>
          <a:lstStyle/>
          <a:p>
            <a:pPr algn="l" indent="0" marL="0">
              <a:buNone/>
            </a:pPr>
            <a:r>
              <a:rPr lang="en-US" sz="1400" dirty="0">
                <a:solidFill>
                  <a:schemeClr val="tx1"/>
                </a:solidFill>
              </a:rPr>
              <a:t>Checks tenant ownership, limits and idempotency itself.</a:t>
            </a:r>
            <a:endParaRPr lang="en-US" sz="1400" dirty="0"/>
          </a:p>
        </p:txBody>
      </p:sp>
      <p:sp>
        <p:nvSpPr>
          <p:cNvPr id="15" name="Arrow label 1"/>
          <p:cNvSpPr txBox="1"/>
          <p:nvPr/>
        </p:nvSpPr>
        <p:spPr>
          <a:xfrm>
            <a:off x="2471166" y="2203704"/>
            <a:ext cx="1133856" cy="256032"/>
          </a:xfrm>
          <a:prstGeom prst="rect">
            <a:avLst/>
          </a:prstGeom>
          <a:noFill/>
          <a:ln/>
        </p:spPr>
        <p:txBody>
          <a:bodyPr wrap="square" lIns="0" tIns="0" rIns="0" bIns="0" rtlCol="0" anchor="t"/>
          <a:lstStyle/>
          <a:p>
            <a:pPr algn="ctr" indent="0" marL="0">
              <a:buNone/>
            </a:pPr>
            <a:r>
              <a:rPr lang="en-US" sz="1100" dirty="0">
                <a:solidFill>
                  <a:schemeClr val="accent6"/>
                </a:solidFill>
              </a:rPr>
              <a:t>Okta token</a:t>
            </a:r>
            <a:endParaRPr lang="en-US" sz="1100" dirty="0"/>
          </a:p>
        </p:txBody>
      </p:sp>
      <p:sp>
        <p:nvSpPr>
          <p:cNvPr id="16" name="Arrow label 2"/>
          <p:cNvSpPr txBox="1"/>
          <p:nvPr/>
        </p:nvSpPr>
        <p:spPr>
          <a:xfrm>
            <a:off x="5527548" y="2203704"/>
            <a:ext cx="1133856" cy="256032"/>
          </a:xfrm>
          <a:prstGeom prst="rect">
            <a:avLst/>
          </a:prstGeom>
          <a:noFill/>
          <a:ln/>
        </p:spPr>
        <p:txBody>
          <a:bodyPr wrap="square" lIns="0" tIns="0" rIns="0" bIns="0" rtlCol="0" anchor="t"/>
          <a:lstStyle/>
          <a:p>
            <a:pPr algn="ctr" indent="0" marL="0">
              <a:buNone/>
            </a:pPr>
            <a:r>
              <a:rPr lang="en-US" sz="1100" dirty="0">
                <a:solidFill>
                  <a:schemeClr val="accent6"/>
                </a:solidFill>
              </a:rPr>
              <a:t>gateway identity</a:t>
            </a:r>
            <a:endParaRPr lang="en-US" sz="1100" dirty="0"/>
          </a:p>
        </p:txBody>
      </p:sp>
      <p:sp>
        <p:nvSpPr>
          <p:cNvPr id="17" name="Arrow label 3"/>
          <p:cNvSpPr txBox="1"/>
          <p:nvPr/>
        </p:nvSpPr>
        <p:spPr>
          <a:xfrm>
            <a:off x="8583930" y="2203704"/>
            <a:ext cx="1133856" cy="256032"/>
          </a:xfrm>
          <a:prstGeom prst="rect">
            <a:avLst/>
          </a:prstGeom>
          <a:noFill/>
          <a:ln/>
        </p:spPr>
        <p:txBody>
          <a:bodyPr wrap="square" lIns="0" tIns="0" rIns="0" bIns="0" rtlCol="0" anchor="t"/>
          <a:lstStyle/>
          <a:p>
            <a:pPr algn="ctr" indent="0" marL="0">
              <a:buNone/>
            </a:pPr>
            <a:r>
              <a:rPr lang="en-US" sz="1100" dirty="0">
                <a:solidFill>
                  <a:schemeClr val="accent6"/>
                </a:solidFill>
              </a:rPr>
              <a:t>scoped credential</a:t>
            </a:r>
            <a:endParaRPr lang="en-US" sz="1100" dirty="0"/>
          </a:p>
        </p:txBody>
      </p:sp>
      <p:sp>
        <p:nvSpPr>
          <p:cNvPr id="18" name="Permitted panel"/>
          <p:cNvSpPr/>
          <p:nvPr/>
        </p:nvSpPr>
        <p:spPr>
          <a:xfrm>
            <a:off x="548640" y="4846320"/>
            <a:ext cx="5385816" cy="1051560"/>
          </a:xfrm>
          <a:prstGeom prst="roundRect">
            <a:avLst>
              <a:gd name="adj" fmla="val 8696"/>
            </a:avLst>
          </a:prstGeom>
          <a:solidFill>
            <a:schemeClr val="accent1">
              <a:alpha val="12000"/>
            </a:schemeClr>
          </a:solidFill>
          <a:ln/>
        </p:spPr>
      </p:sp>
      <p:sp>
        <p:nvSpPr>
          <p:cNvPr id="19" name="Permitted circle"/>
          <p:cNvSpPr/>
          <p:nvPr/>
        </p:nvSpPr>
        <p:spPr>
          <a:xfrm>
            <a:off x="777240" y="5084064"/>
            <a:ext cx="566928" cy="566928"/>
          </a:xfrm>
          <a:prstGeom prst="ellipse">
            <a:avLst/>
          </a:prstGeom>
          <a:solidFill>
            <a:schemeClr val="accent1"/>
          </a:solidFill>
          <a:ln/>
        </p:spPr>
      </p:sp>
      <p:pic>
        <p:nvPicPr>
          <p:cNvPr id="20" name="Permitted icon" descr="preencoded.png">    </p:cNvPr>
          <p:cNvPicPr>
            <a:picLocks noChangeAspect="1"/>
          </p:cNvPicPr>
          <p:nvPr/>
        </p:nvPicPr>
        <p:blipFill>
          <a:blip r:embed="rId1"/>
          <a:stretch>
            <a:fillRect/>
          </a:stretch>
        </p:blipFill>
        <p:spPr>
          <a:xfrm>
            <a:off x="918972" y="5225796"/>
            <a:ext cx="283464" cy="283464"/>
          </a:xfrm>
          <a:prstGeom prst="rect">
            <a:avLst/>
          </a:prstGeom>
        </p:spPr>
      </p:pic>
      <p:sp>
        <p:nvSpPr>
          <p:cNvPr id="21" name="Permitted text"/>
          <p:cNvSpPr txBox="1"/>
          <p:nvPr/>
        </p:nvSpPr>
        <p:spPr>
          <a:xfrm>
            <a:off x="1554480" y="4846320"/>
            <a:ext cx="4151376" cy="1051560"/>
          </a:xfrm>
          <a:prstGeom prst="rect">
            <a:avLst/>
          </a:prstGeom>
          <a:noFill/>
          <a:ln/>
        </p:spPr>
        <p:txBody>
          <a:bodyPr wrap="square" lIns="0" tIns="0" rIns="0" bIns="0" rtlCol="0" anchor="ctr"/>
          <a:lstStyle/>
          <a:p>
            <a:pPr indent="0" marL="0">
              <a:buNone/>
            </a:pPr>
            <a:r>
              <a:rPr lang="en-US" sz="1400" b="1" dirty="0">
                <a:solidFill>
                  <a:schemeClr val="tx1"/>
                </a:solidFill>
              </a:rPr>
              <a:t>lookup_payment is permitted. </a:t>
            </a:r>
            <a:pPr indent="0" marL="0">
              <a:buNone/>
            </a:pPr>
            <a:r>
              <a:rPr lang="en-US" sz="1400" dirty="0">
                <a:solidFill>
                  <a:schemeClr val="tx1"/>
                </a:solidFill>
              </a:rPr>
              <a:t>The user holds the lookup entitlement, and the service confirms the payment belongs to the tenant.</a:t>
            </a:r>
            <a:endParaRPr lang="en-US" sz="1400" dirty="0"/>
          </a:p>
        </p:txBody>
      </p:sp>
      <p:sp>
        <p:nvSpPr>
          <p:cNvPr id="22" name="Denied panel"/>
          <p:cNvSpPr/>
          <p:nvPr/>
        </p:nvSpPr>
        <p:spPr>
          <a:xfrm>
            <a:off x="6254496" y="4846320"/>
            <a:ext cx="5385816" cy="1051560"/>
          </a:xfrm>
          <a:prstGeom prst="roundRect">
            <a:avLst>
              <a:gd name="adj" fmla="val 8696"/>
            </a:avLst>
          </a:prstGeom>
          <a:solidFill>
            <a:schemeClr val="accent5">
              <a:alpha val="10000"/>
            </a:schemeClr>
          </a:solidFill>
          <a:ln/>
        </p:spPr>
      </p:sp>
      <p:sp>
        <p:nvSpPr>
          <p:cNvPr id="23" name="Denied circle"/>
          <p:cNvSpPr/>
          <p:nvPr/>
        </p:nvSpPr>
        <p:spPr>
          <a:xfrm>
            <a:off x="6483096" y="5084064"/>
            <a:ext cx="566928" cy="566928"/>
          </a:xfrm>
          <a:prstGeom prst="ellipse">
            <a:avLst/>
          </a:prstGeom>
          <a:solidFill>
            <a:schemeClr val="accent5"/>
          </a:solidFill>
          <a:ln/>
        </p:spPr>
      </p:sp>
      <p:pic>
        <p:nvPicPr>
          <p:cNvPr id="24" name="Denied icon" descr="preencoded.png">    </p:cNvPr>
          <p:cNvPicPr>
            <a:picLocks noChangeAspect="1"/>
          </p:cNvPicPr>
          <p:nvPr/>
        </p:nvPicPr>
        <p:blipFill>
          <a:blip r:embed="rId2"/>
          <a:stretch>
            <a:fillRect/>
          </a:stretch>
        </p:blipFill>
        <p:spPr>
          <a:xfrm>
            <a:off x="6624828" y="5225796"/>
            <a:ext cx="283464" cy="283464"/>
          </a:xfrm>
          <a:prstGeom prst="rect">
            <a:avLst/>
          </a:prstGeom>
        </p:spPr>
      </p:pic>
      <p:sp>
        <p:nvSpPr>
          <p:cNvPr id="25" name="Denied text"/>
          <p:cNvSpPr txBox="1"/>
          <p:nvPr/>
        </p:nvSpPr>
        <p:spPr>
          <a:xfrm>
            <a:off x="7260336" y="4846320"/>
            <a:ext cx="4151376" cy="1051560"/>
          </a:xfrm>
          <a:prstGeom prst="rect">
            <a:avLst/>
          </a:prstGeom>
          <a:noFill/>
          <a:ln/>
        </p:spPr>
        <p:txBody>
          <a:bodyPr wrap="square" lIns="0" tIns="0" rIns="0" bIns="0" rtlCol="0" anchor="ctr"/>
          <a:lstStyle/>
          <a:p>
            <a:pPr indent="0" marL="0">
              <a:buNone/>
            </a:pPr>
            <a:r>
              <a:rPr lang="en-US" sz="1400" b="1" dirty="0">
                <a:solidFill>
                  <a:schemeClr val="tx1"/>
                </a:solidFill>
              </a:rPr>
              <a:t>issue_refund is refused. </a:t>
            </a:r>
            <a:pPr indent="0" marL="0">
              <a:buNone/>
            </a:pPr>
            <a:r>
              <a:rPr lang="en-US" sz="1400" dirty="0">
                <a:solidFill>
                  <a:schemeClr val="tx1"/>
                </a:solidFill>
              </a:rPr>
              <a:t>The user lacks the refund entitlement, so the gateway hides the tool, refuses the call and records the outcome.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The gateway holds the provider key</a:t>
            </a:r>
            <a:endParaRPr lang="en-US" sz="3600" dirty="0"/>
          </a:p>
        </p:txBody>
      </p:sp>
      <p:sp>
        <p:nvSpPr>
          <p:cNvPr id="4" name="Client or hosted agent box"/>
          <p:cNvSpPr txBox="1"/>
          <p:nvPr/>
        </p:nvSpPr>
        <p:spPr>
          <a:xfrm>
            <a:off x="548640" y="2788920"/>
            <a:ext cx="2651760" cy="960120"/>
          </a:xfrm>
          <a:prstGeom prst="roundRect">
            <a:avLst>
              <a:gd name="adj" fmla="val 7619"/>
            </a:avLst>
          </a:prstGeom>
          <a:solidFill>
            <a:schemeClr val="bg1"/>
          </a:solidFill>
          <a:ln w="15875">
            <a:solidFill>
              <a:schemeClr val="accent6"/>
            </a:solidFill>
            <a:prstDash val="solid"/>
          </a:ln>
        </p:spPr>
        <p:txBody>
          <a:bodyPr wrap="square" lIns="635" tIns="635" rIns="635" bIns="635" rtlCol="0" anchor="ctr"/>
          <a:lstStyle/>
          <a:p>
            <a:pPr algn="ctr" indent="0" marL="0">
              <a:buNone/>
            </a:pPr>
            <a:endParaRPr lang="en-US" sz="1200" dirty="0"/>
          </a:p>
        </p:txBody>
      </p:sp>
      <p:sp>
        <p:nvSpPr>
          <p:cNvPr id="5" name="Client or hosted agent"/>
          <p:cNvSpPr txBox="1"/>
          <p:nvPr/>
        </p:nvSpPr>
        <p:spPr>
          <a:xfrm>
            <a:off x="685800" y="2898648"/>
            <a:ext cx="2377440" cy="310896"/>
          </a:xfrm>
          <a:prstGeom prst="rect">
            <a:avLst/>
          </a:prstGeom>
          <a:noFill/>
          <a:ln/>
        </p:spPr>
        <p:txBody>
          <a:bodyPr wrap="square" lIns="0" tIns="0" rIns="0" bIns="0" rtlCol="0" anchor="t"/>
          <a:lstStyle/>
          <a:p>
            <a:pPr algn="ctr" indent="0" marL="0">
              <a:buNone/>
            </a:pPr>
            <a:r>
              <a:rPr lang="en-US" sz="1600" b="1" dirty="0">
                <a:solidFill>
                  <a:schemeClr val="tx1"/>
                </a:solidFill>
              </a:rPr>
              <a:t>Client or hosted agent</a:t>
            </a:r>
            <a:endParaRPr lang="en-US" sz="1600" dirty="0"/>
          </a:p>
        </p:txBody>
      </p:sp>
      <p:sp>
        <p:nvSpPr>
          <p:cNvPr id="6" name="Client or hosted agent caption"/>
          <p:cNvSpPr txBox="1"/>
          <p:nvPr/>
        </p:nvSpPr>
        <p:spPr>
          <a:xfrm>
            <a:off x="685800" y="3227832"/>
            <a:ext cx="2377440" cy="457200"/>
          </a:xfrm>
          <a:prstGeom prst="rect">
            <a:avLst/>
          </a:prstGeom>
          <a:noFill/>
          <a:ln/>
        </p:spPr>
        <p:txBody>
          <a:bodyPr wrap="square" lIns="0" tIns="0" rIns="0" bIns="0" rtlCol="0" anchor="t"/>
          <a:lstStyle/>
          <a:p>
            <a:pPr algn="ctr" indent="0" marL="0">
              <a:buNone/>
            </a:pPr>
            <a:r>
              <a:rPr lang="en-US" sz="1200" dirty="0">
                <a:solidFill>
                  <a:schemeClr val="accent6"/>
                </a:solidFill>
              </a:rPr>
              <a:t>Never holds the provider's key</a:t>
            </a:r>
            <a:endParaRPr lang="en-US" sz="1200" dirty="0"/>
          </a:p>
        </p:txBody>
      </p:sp>
      <p:sp>
        <p:nvSpPr>
          <p:cNvPr id="7" name="Agentgateway box"/>
          <p:cNvSpPr txBox="1"/>
          <p:nvPr/>
        </p:nvSpPr>
        <p:spPr>
          <a:xfrm>
            <a:off x="4572000" y="2788920"/>
            <a:ext cx="3044952" cy="960120"/>
          </a:xfrm>
          <a:prstGeom prst="roundRect">
            <a:avLst>
              <a:gd name="adj" fmla="val 7619"/>
            </a:avLst>
          </a:prstGeom>
          <a:solidFill>
            <a:schemeClr val="accent1">
              <a:alpha val="14000"/>
            </a:schemeClr>
          </a:solidFill>
          <a:ln w="15875">
            <a:solidFill>
              <a:schemeClr val="accent1"/>
            </a:solidFill>
            <a:prstDash val="solid"/>
          </a:ln>
        </p:spPr>
        <p:txBody>
          <a:bodyPr wrap="square" lIns="635" tIns="635" rIns="635" bIns="635" rtlCol="0" anchor="ctr"/>
          <a:lstStyle/>
          <a:p>
            <a:pPr algn="ctr" indent="0" marL="0">
              <a:buNone/>
            </a:pPr>
            <a:endParaRPr lang="en-US" sz="1200" dirty="0"/>
          </a:p>
        </p:txBody>
      </p:sp>
      <p:sp>
        <p:nvSpPr>
          <p:cNvPr id="8" name="Agentgateway"/>
          <p:cNvSpPr txBox="1"/>
          <p:nvPr/>
        </p:nvSpPr>
        <p:spPr>
          <a:xfrm>
            <a:off x="4709160" y="2898648"/>
            <a:ext cx="2770632" cy="310896"/>
          </a:xfrm>
          <a:prstGeom prst="rect">
            <a:avLst/>
          </a:prstGeom>
          <a:noFill/>
          <a:ln/>
        </p:spPr>
        <p:txBody>
          <a:bodyPr wrap="square" lIns="0" tIns="0" rIns="0" bIns="0" rtlCol="0" anchor="t"/>
          <a:lstStyle/>
          <a:p>
            <a:pPr algn="ctr" indent="0" marL="0">
              <a:buNone/>
            </a:pPr>
            <a:r>
              <a:rPr lang="en-US" sz="1600" b="1" dirty="0">
                <a:solidFill>
                  <a:schemeClr val="tx1"/>
                </a:solidFill>
              </a:rPr>
              <a:t>Agentgateway</a:t>
            </a:r>
            <a:endParaRPr lang="en-US" sz="1600" dirty="0"/>
          </a:p>
        </p:txBody>
      </p:sp>
      <p:sp>
        <p:nvSpPr>
          <p:cNvPr id="9" name="Agentgateway caption"/>
          <p:cNvSpPr txBox="1"/>
          <p:nvPr/>
        </p:nvSpPr>
        <p:spPr>
          <a:xfrm>
            <a:off x="4709160" y="3227832"/>
            <a:ext cx="2770632" cy="457200"/>
          </a:xfrm>
          <a:prstGeom prst="rect">
            <a:avLst/>
          </a:prstGeom>
          <a:noFill/>
          <a:ln/>
        </p:spPr>
        <p:txBody>
          <a:bodyPr wrap="square" lIns="0" tIns="0" rIns="0" bIns="0" rtlCol="0" anchor="t"/>
          <a:lstStyle/>
          <a:p>
            <a:pPr algn="ctr" indent="0" marL="0">
              <a:buNone/>
            </a:pPr>
            <a:r>
              <a:rPr lang="en-US" sz="1200" dirty="0">
                <a:solidFill>
                  <a:schemeClr val="accent6"/>
                </a:solidFill>
              </a:rPr>
              <a:t>Verifies the caller, then applies approved models and budgets</a:t>
            </a:r>
            <a:endParaRPr lang="en-US" sz="1200" dirty="0"/>
          </a:p>
        </p:txBody>
      </p:sp>
      <p:sp>
        <p:nvSpPr>
          <p:cNvPr id="10" name="Model provider box"/>
          <p:cNvSpPr txBox="1"/>
          <p:nvPr/>
        </p:nvSpPr>
        <p:spPr>
          <a:xfrm>
            <a:off x="8988552" y="2788920"/>
            <a:ext cx="2651760" cy="960120"/>
          </a:xfrm>
          <a:prstGeom prst="roundRect">
            <a:avLst>
              <a:gd name="adj" fmla="val 7619"/>
            </a:avLst>
          </a:prstGeom>
          <a:solidFill>
            <a:schemeClr val="bg1"/>
          </a:solidFill>
          <a:ln w="15875">
            <a:solidFill>
              <a:schemeClr val="accent6"/>
            </a:solidFill>
            <a:prstDash val="solid"/>
          </a:ln>
        </p:spPr>
        <p:txBody>
          <a:bodyPr wrap="square" lIns="635" tIns="635" rIns="635" bIns="635" rtlCol="0" anchor="ctr"/>
          <a:lstStyle/>
          <a:p>
            <a:pPr algn="ctr" indent="0" marL="0">
              <a:buNone/>
            </a:pPr>
            <a:endParaRPr lang="en-US" sz="1200" dirty="0"/>
          </a:p>
        </p:txBody>
      </p:sp>
      <p:sp>
        <p:nvSpPr>
          <p:cNvPr id="11" name="Model provider"/>
          <p:cNvSpPr txBox="1"/>
          <p:nvPr/>
        </p:nvSpPr>
        <p:spPr>
          <a:xfrm>
            <a:off x="9125712" y="2898648"/>
            <a:ext cx="2377440" cy="310896"/>
          </a:xfrm>
          <a:prstGeom prst="rect">
            <a:avLst/>
          </a:prstGeom>
          <a:noFill/>
          <a:ln/>
        </p:spPr>
        <p:txBody>
          <a:bodyPr wrap="square" lIns="0" tIns="0" rIns="0" bIns="0" rtlCol="0" anchor="t"/>
          <a:lstStyle/>
          <a:p>
            <a:pPr algn="ctr" indent="0" marL="0">
              <a:buNone/>
            </a:pPr>
            <a:r>
              <a:rPr lang="en-US" sz="1600" b="1" dirty="0">
                <a:solidFill>
                  <a:schemeClr val="tx1"/>
                </a:solidFill>
              </a:rPr>
              <a:t>Model provider</a:t>
            </a:r>
            <a:endParaRPr lang="en-US" sz="1600" dirty="0"/>
          </a:p>
        </p:txBody>
      </p:sp>
      <p:sp>
        <p:nvSpPr>
          <p:cNvPr id="12" name="Model provider caption"/>
          <p:cNvSpPr txBox="1"/>
          <p:nvPr/>
        </p:nvSpPr>
        <p:spPr>
          <a:xfrm>
            <a:off x="9125712" y="3227832"/>
            <a:ext cx="2377440" cy="457200"/>
          </a:xfrm>
          <a:prstGeom prst="rect">
            <a:avLst/>
          </a:prstGeom>
          <a:noFill/>
          <a:ln/>
        </p:spPr>
        <p:txBody>
          <a:bodyPr wrap="square" lIns="0" tIns="0" rIns="0" bIns="0" rtlCol="0" anchor="t"/>
          <a:lstStyle/>
          <a:p>
            <a:pPr algn="ctr" indent="0" marL="0">
              <a:buNone/>
            </a:pPr>
            <a:r>
              <a:rPr lang="en-US" sz="1200" dirty="0">
                <a:solidFill>
                  <a:schemeClr val="accent6"/>
                </a:solidFill>
              </a:rPr>
              <a:t>Accepts only the gateway's credential</a:t>
            </a:r>
            <a:endParaRPr lang="en-US" sz="1200" dirty="0"/>
          </a:p>
        </p:txBody>
      </p:sp>
      <p:sp>
        <p:nvSpPr>
          <p:cNvPr id="13" name="Request arrow"/>
          <p:cNvSpPr/>
          <p:nvPr/>
        </p:nvSpPr>
        <p:spPr>
          <a:xfrm>
            <a:off x="3255264" y="3268980"/>
            <a:ext cx="1261872" cy="0"/>
          </a:xfrm>
          <a:prstGeom prst="line">
            <a:avLst/>
          </a:prstGeom>
          <a:noFill/>
          <a:ln w="19050">
            <a:solidFill>
              <a:schemeClr val="accent6"/>
            </a:solidFill>
            <a:prstDash val="solid"/>
            <a:tailEnd type="triangle"/>
          </a:ln>
        </p:spPr>
      </p:sp>
      <p:sp>
        <p:nvSpPr>
          <p:cNvPr id="14" name="Request label"/>
          <p:cNvSpPr txBox="1"/>
          <p:nvPr/>
        </p:nvSpPr>
        <p:spPr>
          <a:xfrm>
            <a:off x="3200400" y="3342132"/>
            <a:ext cx="1371600" cy="274320"/>
          </a:xfrm>
          <a:prstGeom prst="rect">
            <a:avLst/>
          </a:prstGeom>
          <a:noFill/>
          <a:ln/>
        </p:spPr>
        <p:txBody>
          <a:bodyPr wrap="square" lIns="0" tIns="0" rIns="0" bIns="0" rtlCol="0" anchor="t"/>
          <a:lstStyle/>
          <a:p>
            <a:pPr algn="ctr" indent="0" marL="0">
              <a:buNone/>
            </a:pPr>
            <a:r>
              <a:rPr lang="en-US" sz="1100" dirty="0">
                <a:solidFill>
                  <a:schemeClr val="accent6"/>
                </a:solidFill>
              </a:rPr>
              <a:t>key or token (D-4)</a:t>
            </a:r>
            <a:endParaRPr lang="en-US" sz="1100" dirty="0"/>
          </a:p>
        </p:txBody>
      </p:sp>
      <p:sp>
        <p:nvSpPr>
          <p:cNvPr id="15" name="Provider arrow"/>
          <p:cNvSpPr/>
          <p:nvPr/>
        </p:nvSpPr>
        <p:spPr>
          <a:xfrm>
            <a:off x="7671816" y="3268980"/>
            <a:ext cx="1261872" cy="0"/>
          </a:xfrm>
          <a:prstGeom prst="line">
            <a:avLst/>
          </a:prstGeom>
          <a:noFill/>
          <a:ln w="19050">
            <a:solidFill>
              <a:schemeClr val="accent6"/>
            </a:solidFill>
            <a:prstDash val="solid"/>
            <a:tailEnd type="triangle"/>
          </a:ln>
        </p:spPr>
      </p:sp>
      <p:sp>
        <p:nvSpPr>
          <p:cNvPr id="16" name="Provider label"/>
          <p:cNvSpPr txBox="1"/>
          <p:nvPr/>
        </p:nvSpPr>
        <p:spPr>
          <a:xfrm>
            <a:off x="7616952" y="3342132"/>
            <a:ext cx="1371600" cy="274320"/>
          </a:xfrm>
          <a:prstGeom prst="rect">
            <a:avLst/>
          </a:prstGeom>
          <a:noFill/>
          <a:ln/>
        </p:spPr>
        <p:txBody>
          <a:bodyPr wrap="square" lIns="0" tIns="0" rIns="0" bIns="0" rtlCol="0" anchor="t"/>
          <a:lstStyle/>
          <a:p>
            <a:pPr algn="ctr" indent="0" marL="0">
              <a:buNone/>
            </a:pPr>
            <a:r>
              <a:rPr lang="en-US" sz="1100" dirty="0">
                <a:solidFill>
                  <a:schemeClr val="accent6"/>
                </a:solidFill>
              </a:rPr>
              <a:t>provider credential</a:t>
            </a:r>
            <a:endParaRPr lang="en-US" sz="1100" dirty="0"/>
          </a:p>
        </p:txBody>
      </p:sp>
      <p:sp>
        <p:nvSpPr>
          <p:cNvPr id="17" name="Denied path up"/>
          <p:cNvSpPr/>
          <p:nvPr/>
        </p:nvSpPr>
        <p:spPr>
          <a:xfrm flipV="1">
            <a:off x="1874520" y="2057400"/>
            <a:ext cx="0" cy="731520"/>
          </a:xfrm>
          <a:prstGeom prst="line">
            <a:avLst/>
          </a:prstGeom>
          <a:noFill/>
          <a:ln w="19050">
            <a:solidFill>
              <a:schemeClr val="accent5"/>
            </a:solidFill>
            <a:prstDash val="dash"/>
          </a:ln>
        </p:spPr>
      </p:sp>
      <p:sp>
        <p:nvSpPr>
          <p:cNvPr id="18" name="Denied path across"/>
          <p:cNvSpPr/>
          <p:nvPr/>
        </p:nvSpPr>
        <p:spPr>
          <a:xfrm>
            <a:off x="1874520" y="2057400"/>
            <a:ext cx="8439912" cy="0"/>
          </a:xfrm>
          <a:prstGeom prst="line">
            <a:avLst/>
          </a:prstGeom>
          <a:noFill/>
          <a:ln w="19050">
            <a:solidFill>
              <a:schemeClr val="accent5"/>
            </a:solidFill>
            <a:prstDash val="dash"/>
          </a:ln>
        </p:spPr>
      </p:sp>
      <p:sp>
        <p:nvSpPr>
          <p:cNvPr id="19" name="Denied path down"/>
          <p:cNvSpPr/>
          <p:nvPr/>
        </p:nvSpPr>
        <p:spPr>
          <a:xfrm>
            <a:off x="10314432" y="2057400"/>
            <a:ext cx="0" cy="694944"/>
          </a:xfrm>
          <a:prstGeom prst="line">
            <a:avLst/>
          </a:prstGeom>
          <a:noFill/>
          <a:ln w="19050">
            <a:solidFill>
              <a:schemeClr val="accent5"/>
            </a:solidFill>
            <a:prstDash val="dash"/>
            <a:tailEnd type="triangle"/>
          </a:ln>
        </p:spPr>
      </p:sp>
      <p:sp>
        <p:nvSpPr>
          <p:cNvPr id="20" name="Denied mark circle"/>
          <p:cNvSpPr/>
          <p:nvPr/>
        </p:nvSpPr>
        <p:spPr>
          <a:xfrm>
            <a:off x="5870448" y="1837944"/>
            <a:ext cx="438912" cy="438912"/>
          </a:xfrm>
          <a:prstGeom prst="ellipse">
            <a:avLst/>
          </a:prstGeom>
          <a:solidFill>
            <a:schemeClr val="accent5"/>
          </a:solidFill>
          <a:ln/>
        </p:spPr>
      </p:sp>
      <p:pic>
        <p:nvPicPr>
          <p:cNvPr id="21" name="Denied mark icon" descr="preencoded.png">    </p:cNvPr>
          <p:cNvPicPr>
            <a:picLocks noChangeAspect="1"/>
          </p:cNvPicPr>
          <p:nvPr/>
        </p:nvPicPr>
        <p:blipFill>
          <a:blip r:embed="rId1"/>
          <a:stretch>
            <a:fillRect/>
          </a:stretch>
        </p:blipFill>
        <p:spPr>
          <a:xfrm>
            <a:off x="5980176" y="1947672"/>
            <a:ext cx="219456" cy="219456"/>
          </a:xfrm>
          <a:prstGeom prst="rect">
            <a:avLst/>
          </a:prstGeom>
        </p:spPr>
      </p:pic>
      <p:sp>
        <p:nvSpPr>
          <p:cNvPr id="22" name="Denied label"/>
          <p:cNvSpPr txBox="1"/>
          <p:nvPr/>
        </p:nvSpPr>
        <p:spPr>
          <a:xfrm>
            <a:off x="3566160" y="1490472"/>
            <a:ext cx="5029200" cy="292608"/>
          </a:xfrm>
          <a:prstGeom prst="rect">
            <a:avLst/>
          </a:prstGeom>
          <a:noFill/>
          <a:ln/>
        </p:spPr>
        <p:txBody>
          <a:bodyPr wrap="square" lIns="0" tIns="0" rIns="0" bIns="0" rtlCol="0" anchor="t"/>
          <a:lstStyle/>
          <a:p>
            <a:pPr algn="ctr" indent="0" marL="0">
              <a:buNone/>
            </a:pPr>
            <a:r>
              <a:rPr lang="en-US" sz="1400" b="1" dirty="0">
                <a:solidFill>
                  <a:schemeClr val="tx1"/>
                </a:solidFill>
              </a:rPr>
              <a:t>A direct call to the provider is denied</a:t>
            </a:r>
            <a:endParaRPr lang="en-US" sz="1400" dirty="0"/>
          </a:p>
        </p:txBody>
      </p:sp>
      <p:sp>
        <p:nvSpPr>
          <p:cNvPr id="23" name="Rate-limit server"/>
          <p:cNvSpPr txBox="1"/>
          <p:nvPr/>
        </p:nvSpPr>
        <p:spPr>
          <a:xfrm>
            <a:off x="5074920" y="4343400"/>
            <a:ext cx="2039112" cy="502920"/>
          </a:xfrm>
          <a:prstGeom prst="roundRect">
            <a:avLst>
              <a:gd name="adj" fmla="val 14545"/>
            </a:avLst>
          </a:prstGeom>
          <a:solidFill>
            <a:schemeClr val="accent1">
              <a:alpha val="14000"/>
            </a:schemeClr>
          </a:solidFill>
          <a:ln w="15875">
            <a:solidFill>
              <a:schemeClr val="accent1"/>
            </a:solidFill>
            <a:prstDash val="solid"/>
          </a:ln>
        </p:spPr>
        <p:txBody>
          <a:bodyPr wrap="square" lIns="635" tIns="635" rIns="635" bIns="635" rtlCol="0" anchor="ctr"/>
          <a:lstStyle/>
          <a:p>
            <a:pPr algn="ctr" indent="0" marL="0">
              <a:buNone/>
            </a:pPr>
            <a:r>
              <a:rPr lang="en-US" sz="1300" b="1" dirty="0">
                <a:solidFill>
                  <a:schemeClr val="tx1"/>
                </a:solidFill>
              </a:rPr>
              <a:t>Rate-limit server</a:t>
            </a:r>
            <a:endParaRPr lang="en-US" sz="1300" dirty="0"/>
          </a:p>
        </p:txBody>
      </p:sp>
      <p:sp>
        <p:nvSpPr>
          <p:cNvPr id="24" name="Budget arrow"/>
          <p:cNvSpPr/>
          <p:nvPr/>
        </p:nvSpPr>
        <p:spPr>
          <a:xfrm>
            <a:off x="6094476" y="3794760"/>
            <a:ext cx="0" cy="502920"/>
          </a:xfrm>
          <a:prstGeom prst="line">
            <a:avLst/>
          </a:prstGeom>
          <a:noFill/>
          <a:ln w="19050">
            <a:solidFill>
              <a:schemeClr val="accent6"/>
            </a:solidFill>
            <a:prstDash val="solid"/>
            <a:headEnd type="triangle"/>
            <a:tailEnd type="triangle"/>
          </a:ln>
        </p:spPr>
      </p:sp>
      <p:sp>
        <p:nvSpPr>
          <p:cNvPr id="25" name="Budget label"/>
          <p:cNvSpPr txBox="1"/>
          <p:nvPr/>
        </p:nvSpPr>
        <p:spPr>
          <a:xfrm>
            <a:off x="6217920" y="3931920"/>
            <a:ext cx="1645920" cy="274320"/>
          </a:xfrm>
          <a:prstGeom prst="rect">
            <a:avLst/>
          </a:prstGeom>
          <a:noFill/>
          <a:ln/>
        </p:spPr>
        <p:txBody>
          <a:bodyPr wrap="square" lIns="0" tIns="0" rIns="0" bIns="0" rtlCol="0" anchor="t"/>
          <a:lstStyle/>
          <a:p>
            <a:pPr algn="l" indent="0" marL="0">
              <a:buNone/>
            </a:pPr>
            <a:r>
              <a:rPr lang="en-US" sz="1100" dirty="0">
                <a:solidFill>
                  <a:schemeClr val="accent6"/>
                </a:solidFill>
              </a:rPr>
              <a:t>shared token budget</a:t>
            </a:r>
            <a:endParaRPr lang="en-US" sz="1100" dirty="0"/>
          </a:p>
        </p:txBody>
      </p:sp>
      <p:sp>
        <p:nvSpPr>
          <p:cNvPr id="26" name="Approved models only card"/>
          <p:cNvSpPr/>
          <p:nvPr/>
        </p:nvSpPr>
        <p:spPr>
          <a:xfrm>
            <a:off x="548640" y="5074920"/>
            <a:ext cx="3514344" cy="1005840"/>
          </a:xfrm>
          <a:prstGeom prst="roundRect">
            <a:avLst>
              <a:gd name="adj" fmla="val 9091"/>
            </a:avLst>
          </a:prstGeom>
          <a:solidFill>
            <a:schemeClr val="bg2"/>
          </a:solidFill>
          <a:ln/>
        </p:spPr>
      </p:sp>
      <p:sp>
        <p:nvSpPr>
          <p:cNvPr id="27" name="Approved models only"/>
          <p:cNvSpPr txBox="1"/>
          <p:nvPr/>
        </p:nvSpPr>
        <p:spPr>
          <a:xfrm>
            <a:off x="749808" y="5074920"/>
            <a:ext cx="3112008" cy="1005840"/>
          </a:xfrm>
          <a:prstGeom prst="rect">
            <a:avLst/>
          </a:prstGeom>
          <a:noFill/>
          <a:ln/>
        </p:spPr>
        <p:txBody>
          <a:bodyPr wrap="square" lIns="0" tIns="0" rIns="0" bIns="0" rtlCol="0" anchor="ctr"/>
          <a:lstStyle/>
          <a:p>
            <a:pPr indent="0" marL="0">
              <a:buNone/>
            </a:pPr>
            <a:r>
              <a:rPr lang="en-US" sz="1400" b="1" dirty="0">
                <a:solidFill>
                  <a:schemeClr val="tx1"/>
                </a:solidFill>
              </a:rPr>
              <a:t>Approved models only. </a:t>
            </a:r>
            <a:pPr indent="0" marL="0">
              <a:buNone/>
            </a:pPr>
            <a:r>
              <a:rPr lang="en-US" sz="1400" dirty="0">
                <a:solidFill>
                  <a:schemeClr val="tx1"/>
                </a:solidFill>
              </a:rPr>
              <a:t>Each caller is limited to approved models. Which ones is a requirement to agree.</a:t>
            </a:r>
            <a:endParaRPr lang="en-US" sz="1400" dirty="0"/>
          </a:p>
        </p:txBody>
      </p:sp>
      <p:sp>
        <p:nvSpPr>
          <p:cNvPr id="28" name="Usage follows identity card"/>
          <p:cNvSpPr/>
          <p:nvPr/>
        </p:nvSpPr>
        <p:spPr>
          <a:xfrm>
            <a:off x="4337304" y="5074920"/>
            <a:ext cx="3514344" cy="1005840"/>
          </a:xfrm>
          <a:prstGeom prst="roundRect">
            <a:avLst>
              <a:gd name="adj" fmla="val 9091"/>
            </a:avLst>
          </a:prstGeom>
          <a:solidFill>
            <a:schemeClr val="bg2"/>
          </a:solidFill>
          <a:ln/>
        </p:spPr>
      </p:sp>
      <p:sp>
        <p:nvSpPr>
          <p:cNvPr id="29" name="Usage follows identity"/>
          <p:cNvSpPr txBox="1"/>
          <p:nvPr/>
        </p:nvSpPr>
        <p:spPr>
          <a:xfrm>
            <a:off x="4538472" y="5074920"/>
            <a:ext cx="3112008" cy="1005840"/>
          </a:xfrm>
          <a:prstGeom prst="rect">
            <a:avLst/>
          </a:prstGeom>
          <a:noFill/>
          <a:ln/>
        </p:spPr>
        <p:txBody>
          <a:bodyPr wrap="square" lIns="0" tIns="0" rIns="0" bIns="0" rtlCol="0" anchor="ctr"/>
          <a:lstStyle/>
          <a:p>
            <a:pPr indent="0" marL="0">
              <a:buNone/>
            </a:pPr>
            <a:r>
              <a:rPr lang="en-US" sz="1400" b="1" dirty="0">
                <a:solidFill>
                  <a:schemeClr val="tx1"/>
                </a:solidFill>
              </a:rPr>
              <a:t>Usage follows identity. </a:t>
            </a:r>
            <a:pPr indent="0" marL="0">
              <a:buNone/>
            </a:pPr>
            <a:r>
              <a:rPr lang="en-US" sz="1400" dirty="0">
                <a:solidFill>
                  <a:schemeClr val="tx1"/>
                </a:solidFill>
              </a:rPr>
              <a:t>Spend is attributed from the verified caller, not from a header the caller supplies.</a:t>
            </a:r>
            <a:endParaRPr lang="en-US" sz="1400" dirty="0"/>
          </a:p>
        </p:txBody>
      </p:sp>
      <p:sp>
        <p:nvSpPr>
          <p:cNvPr id="30" name="Open: failure behavior card"/>
          <p:cNvSpPr/>
          <p:nvPr/>
        </p:nvSpPr>
        <p:spPr>
          <a:xfrm>
            <a:off x="8125968" y="5074920"/>
            <a:ext cx="3514344" cy="1005840"/>
          </a:xfrm>
          <a:prstGeom prst="roundRect">
            <a:avLst>
              <a:gd name="adj" fmla="val 9091"/>
            </a:avLst>
          </a:prstGeom>
          <a:solidFill>
            <a:schemeClr val="bg2"/>
          </a:solidFill>
          <a:ln/>
        </p:spPr>
      </p:sp>
      <p:sp>
        <p:nvSpPr>
          <p:cNvPr id="31" name="Open: failure behavior"/>
          <p:cNvSpPr txBox="1"/>
          <p:nvPr/>
        </p:nvSpPr>
        <p:spPr>
          <a:xfrm>
            <a:off x="8327136" y="5074920"/>
            <a:ext cx="3112008" cy="1005840"/>
          </a:xfrm>
          <a:prstGeom prst="rect">
            <a:avLst/>
          </a:prstGeom>
          <a:noFill/>
          <a:ln/>
        </p:spPr>
        <p:txBody>
          <a:bodyPr wrap="square" lIns="0" tIns="0" rIns="0" bIns="0" rtlCol="0" anchor="ctr"/>
          <a:lstStyle/>
          <a:p>
            <a:pPr indent="0" marL="0">
              <a:buNone/>
            </a:pPr>
            <a:r>
              <a:rPr lang="en-US" sz="1400" b="1" dirty="0">
                <a:solidFill>
                  <a:schemeClr val="tx1"/>
                </a:solidFill>
              </a:rPr>
              <a:t>Open: failure behavior. </a:t>
            </a:r>
            <a:pPr indent="0" marL="0">
              <a:buNone/>
            </a:pPr>
            <a:r>
              <a:rPr lang="en-US" sz="1400" dirty="0">
                <a:solidFill>
                  <a:schemeClr val="tx1"/>
                </a:solidFill>
              </a:rPr>
              <a:t>Refuse or allow model traffic when the rate-limit server is down (D-6).</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Three identities, three owners</a:t>
            </a:r>
            <a:endParaRPr lang="en-US" sz="3600" dirty="0"/>
          </a:p>
        </p:txBody>
      </p:sp>
      <p:sp>
        <p:nvSpPr>
          <p:cNvPr id="4" name="The human card"/>
          <p:cNvSpPr/>
          <p:nvPr/>
        </p:nvSpPr>
        <p:spPr>
          <a:xfrm>
            <a:off x="548640" y="1554480"/>
            <a:ext cx="3483864" cy="3429000"/>
          </a:xfrm>
          <a:prstGeom prst="roundRect">
            <a:avLst>
              <a:gd name="adj" fmla="val 2667"/>
            </a:avLst>
          </a:prstGeom>
          <a:solidFill>
            <a:schemeClr val="bg2"/>
          </a:solidFill>
          <a:ln/>
        </p:spPr>
      </p:sp>
      <p:sp>
        <p:nvSpPr>
          <p:cNvPr id="5" name="The human circle"/>
          <p:cNvSpPr/>
          <p:nvPr/>
        </p:nvSpPr>
        <p:spPr>
          <a:xfrm>
            <a:off x="822960" y="1783080"/>
            <a:ext cx="603504" cy="603504"/>
          </a:xfrm>
          <a:prstGeom prst="ellipse">
            <a:avLst/>
          </a:prstGeom>
          <a:solidFill>
            <a:schemeClr val="tx2"/>
          </a:solidFill>
          <a:ln/>
        </p:spPr>
      </p:sp>
      <p:pic>
        <p:nvPicPr>
          <p:cNvPr id="6" name="The human icon" descr="preencoded.png">    </p:cNvPr>
          <p:cNvPicPr>
            <a:picLocks noChangeAspect="1"/>
          </p:cNvPicPr>
          <p:nvPr/>
        </p:nvPicPr>
        <p:blipFill>
          <a:blip r:embed="rId1"/>
          <a:stretch>
            <a:fillRect/>
          </a:stretch>
        </p:blipFill>
        <p:spPr>
          <a:xfrm>
            <a:off x="973836" y="1933956"/>
            <a:ext cx="301752" cy="301752"/>
          </a:xfrm>
          <a:prstGeom prst="rect">
            <a:avLst/>
          </a:prstGeom>
        </p:spPr>
      </p:pic>
      <p:sp>
        <p:nvSpPr>
          <p:cNvPr id="7" name="The human heading"/>
          <p:cNvSpPr txBox="1"/>
          <p:nvPr/>
        </p:nvSpPr>
        <p:spPr>
          <a:xfrm>
            <a:off x="1600200" y="1783080"/>
            <a:ext cx="2203704" cy="603504"/>
          </a:xfrm>
          <a:prstGeom prst="rect">
            <a:avLst/>
          </a:prstGeom>
          <a:noFill/>
          <a:ln/>
        </p:spPr>
        <p:txBody>
          <a:bodyPr wrap="square" lIns="0" tIns="0" rIns="0" bIns="0" rtlCol="0" anchor="ctr"/>
          <a:lstStyle/>
          <a:p>
            <a:pPr indent="0" marL="0">
              <a:buNone/>
            </a:pPr>
            <a:r>
              <a:rPr lang="en-US" sz="2000" b="1" dirty="0">
                <a:solidFill>
                  <a:schemeClr val="tx2"/>
                </a:solidFill>
              </a:rPr>
              <a:t>The human</a:t>
            </a:r>
            <a:endParaRPr lang="en-US" sz="2000" dirty="0"/>
          </a:p>
        </p:txBody>
      </p:sp>
      <p:sp>
        <p:nvSpPr>
          <p:cNvPr id="8" name="The human identity"/>
          <p:cNvSpPr txBox="1"/>
          <p:nvPr/>
        </p:nvSpPr>
        <p:spPr>
          <a:xfrm>
            <a:off x="822960" y="2606040"/>
            <a:ext cx="2935224" cy="1051560"/>
          </a:xfrm>
          <a:prstGeom prst="rect">
            <a:avLst/>
          </a:prstGeom>
          <a:noFill/>
          <a:ln/>
        </p:spPr>
        <p:txBody>
          <a:bodyPr wrap="square" lIns="0" tIns="0" rIns="0" bIns="0" rtlCol="0" anchor="t"/>
          <a:lstStyle/>
          <a:p>
            <a:pPr algn="l" indent="0" marL="0">
              <a:buNone/>
            </a:pPr>
            <a:r>
              <a:rPr lang="en-US" sz="1500" dirty="0">
                <a:solidFill>
                  <a:schemeClr val="tx1"/>
                </a:solidFill>
              </a:rPr>
              <a:t>Signs in with Okta and is verified at the gateway or at the agent's entry point.</a:t>
            </a:r>
            <a:endParaRPr lang="en-US" sz="1500" dirty="0"/>
          </a:p>
        </p:txBody>
      </p:sp>
      <p:sp>
        <p:nvSpPr>
          <p:cNvPr id="9" name="The human rule"/>
          <p:cNvSpPr txBox="1"/>
          <p:nvPr/>
        </p:nvSpPr>
        <p:spPr>
          <a:xfrm>
            <a:off x="822960" y="3703320"/>
            <a:ext cx="2935224" cy="1188720"/>
          </a:xfrm>
          <a:prstGeom prst="rect">
            <a:avLst/>
          </a:prstGeom>
          <a:noFill/>
          <a:ln/>
        </p:spPr>
        <p:txBody>
          <a:bodyPr wrap="square" lIns="0" tIns="0" rIns="0" bIns="0" rtlCol="0" anchor="t"/>
          <a:lstStyle/>
          <a:p>
            <a:pPr algn="l" indent="0" marL="0">
              <a:buNone/>
            </a:pPr>
            <a:r>
              <a:rPr lang="en-US" sz="1500" dirty="0">
                <a:solidFill>
                  <a:schemeClr val="accent6"/>
                </a:solidFill>
              </a:rPr>
              <a:t>Tenant and session come from verified context, never from a header or prompt text.</a:t>
            </a:r>
            <a:endParaRPr lang="en-US" sz="1500" dirty="0"/>
          </a:p>
        </p:txBody>
      </p:sp>
      <p:sp>
        <p:nvSpPr>
          <p:cNvPr id="10" name="The workload card"/>
          <p:cNvSpPr/>
          <p:nvPr/>
        </p:nvSpPr>
        <p:spPr>
          <a:xfrm>
            <a:off x="4352544" y="1554480"/>
            <a:ext cx="3483864" cy="3429000"/>
          </a:xfrm>
          <a:prstGeom prst="roundRect">
            <a:avLst>
              <a:gd name="adj" fmla="val 2667"/>
            </a:avLst>
          </a:prstGeom>
          <a:solidFill>
            <a:schemeClr val="bg2"/>
          </a:solidFill>
          <a:ln/>
        </p:spPr>
      </p:sp>
      <p:sp>
        <p:nvSpPr>
          <p:cNvPr id="11" name="The workload circle"/>
          <p:cNvSpPr/>
          <p:nvPr/>
        </p:nvSpPr>
        <p:spPr>
          <a:xfrm>
            <a:off x="4626864" y="1783080"/>
            <a:ext cx="603504" cy="603504"/>
          </a:xfrm>
          <a:prstGeom prst="ellipse">
            <a:avLst/>
          </a:prstGeom>
          <a:solidFill>
            <a:schemeClr val="tx2"/>
          </a:solidFill>
          <a:ln/>
        </p:spPr>
      </p:sp>
      <p:pic>
        <p:nvPicPr>
          <p:cNvPr id="12" name="The workload icon" descr="preencoded.png">    </p:cNvPr>
          <p:cNvPicPr>
            <a:picLocks noChangeAspect="1"/>
          </p:cNvPicPr>
          <p:nvPr/>
        </p:nvPicPr>
        <p:blipFill>
          <a:blip r:embed="rId2"/>
          <a:stretch>
            <a:fillRect/>
          </a:stretch>
        </p:blipFill>
        <p:spPr>
          <a:xfrm>
            <a:off x="4777740" y="1933956"/>
            <a:ext cx="301752" cy="301752"/>
          </a:xfrm>
          <a:prstGeom prst="rect">
            <a:avLst/>
          </a:prstGeom>
        </p:spPr>
      </p:pic>
      <p:sp>
        <p:nvSpPr>
          <p:cNvPr id="13" name="The workload heading"/>
          <p:cNvSpPr txBox="1"/>
          <p:nvPr/>
        </p:nvSpPr>
        <p:spPr>
          <a:xfrm>
            <a:off x="5404104" y="1783080"/>
            <a:ext cx="2203704" cy="603504"/>
          </a:xfrm>
          <a:prstGeom prst="rect">
            <a:avLst/>
          </a:prstGeom>
          <a:noFill/>
          <a:ln/>
        </p:spPr>
        <p:txBody>
          <a:bodyPr wrap="square" lIns="0" tIns="0" rIns="0" bIns="0" rtlCol="0" anchor="ctr"/>
          <a:lstStyle/>
          <a:p>
            <a:pPr indent="0" marL="0">
              <a:buNone/>
            </a:pPr>
            <a:r>
              <a:rPr lang="en-US" sz="2000" b="1" dirty="0">
                <a:solidFill>
                  <a:schemeClr val="tx2"/>
                </a:solidFill>
              </a:rPr>
              <a:t>The workload</a:t>
            </a:r>
            <a:endParaRPr lang="en-US" sz="2000" dirty="0"/>
          </a:p>
        </p:txBody>
      </p:sp>
      <p:sp>
        <p:nvSpPr>
          <p:cNvPr id="14" name="The workload identity"/>
          <p:cNvSpPr txBox="1"/>
          <p:nvPr/>
        </p:nvSpPr>
        <p:spPr>
          <a:xfrm>
            <a:off x="4626864" y="2606040"/>
            <a:ext cx="2935224" cy="1051560"/>
          </a:xfrm>
          <a:prstGeom prst="rect">
            <a:avLst/>
          </a:prstGeom>
          <a:noFill/>
          <a:ln/>
        </p:spPr>
        <p:txBody>
          <a:bodyPr wrap="square" lIns="0" tIns="0" rIns="0" bIns="0" rtlCol="0" anchor="t"/>
          <a:lstStyle/>
          <a:p>
            <a:pPr algn="l" indent="0" marL="0">
              <a:buNone/>
            </a:pPr>
            <a:r>
              <a:rPr lang="en-US" sz="1500" dirty="0">
                <a:solidFill>
                  <a:schemeClr val="tx1"/>
                </a:solidFill>
              </a:rPr>
              <a:t>Runs under its own scoped identity. There is no shared platform execution role.</a:t>
            </a:r>
            <a:endParaRPr lang="en-US" sz="1500" dirty="0"/>
          </a:p>
        </p:txBody>
      </p:sp>
      <p:sp>
        <p:nvSpPr>
          <p:cNvPr id="15" name="The workload rule"/>
          <p:cNvSpPr txBox="1"/>
          <p:nvPr/>
        </p:nvSpPr>
        <p:spPr>
          <a:xfrm>
            <a:off x="4626864" y="3703320"/>
            <a:ext cx="2935224" cy="1188720"/>
          </a:xfrm>
          <a:prstGeom prst="rect">
            <a:avLst/>
          </a:prstGeom>
          <a:noFill/>
          <a:ln/>
        </p:spPr>
        <p:txBody>
          <a:bodyPr wrap="square" lIns="0" tIns="0" rIns="0" bIns="0" rtlCol="0" anchor="t"/>
          <a:lstStyle/>
          <a:p>
            <a:pPr algn="l" indent="0" marL="0">
              <a:buNone/>
            </a:pPr>
            <a:r>
              <a:rPr lang="en-US" sz="1500" dirty="0">
                <a:solidFill>
                  <a:schemeClr val="accent6"/>
                </a:solidFill>
              </a:rPr>
              <a:t>Acts with delegated user context or as a named machine identity. No silent fallback to a privileged credential.</a:t>
            </a:r>
            <a:endParaRPr lang="en-US" sz="1500" dirty="0"/>
          </a:p>
        </p:txBody>
      </p:sp>
      <p:sp>
        <p:nvSpPr>
          <p:cNvPr id="16" name="The service card"/>
          <p:cNvSpPr/>
          <p:nvPr/>
        </p:nvSpPr>
        <p:spPr>
          <a:xfrm>
            <a:off x="8156448" y="1554480"/>
            <a:ext cx="3483864" cy="3429000"/>
          </a:xfrm>
          <a:prstGeom prst="roundRect">
            <a:avLst>
              <a:gd name="adj" fmla="val 2667"/>
            </a:avLst>
          </a:prstGeom>
          <a:solidFill>
            <a:schemeClr val="bg2"/>
          </a:solidFill>
          <a:ln/>
        </p:spPr>
      </p:sp>
      <p:sp>
        <p:nvSpPr>
          <p:cNvPr id="17" name="The service circle"/>
          <p:cNvSpPr/>
          <p:nvPr/>
        </p:nvSpPr>
        <p:spPr>
          <a:xfrm>
            <a:off x="8430768" y="1783080"/>
            <a:ext cx="603504" cy="603504"/>
          </a:xfrm>
          <a:prstGeom prst="ellipse">
            <a:avLst/>
          </a:prstGeom>
          <a:solidFill>
            <a:schemeClr val="tx2"/>
          </a:solidFill>
          <a:ln/>
        </p:spPr>
      </p:sp>
      <p:pic>
        <p:nvPicPr>
          <p:cNvPr id="18" name="The service icon" descr="preencoded.png">    </p:cNvPr>
          <p:cNvPicPr>
            <a:picLocks noChangeAspect="1"/>
          </p:cNvPicPr>
          <p:nvPr/>
        </p:nvPicPr>
        <p:blipFill>
          <a:blip r:embed="rId3"/>
          <a:stretch>
            <a:fillRect/>
          </a:stretch>
        </p:blipFill>
        <p:spPr>
          <a:xfrm>
            <a:off x="8581644" y="1933956"/>
            <a:ext cx="301752" cy="301752"/>
          </a:xfrm>
          <a:prstGeom prst="rect">
            <a:avLst/>
          </a:prstGeom>
        </p:spPr>
      </p:pic>
      <p:sp>
        <p:nvSpPr>
          <p:cNvPr id="19" name="The service heading"/>
          <p:cNvSpPr txBox="1"/>
          <p:nvPr/>
        </p:nvSpPr>
        <p:spPr>
          <a:xfrm>
            <a:off x="9208008" y="1783080"/>
            <a:ext cx="2203704" cy="603504"/>
          </a:xfrm>
          <a:prstGeom prst="rect">
            <a:avLst/>
          </a:prstGeom>
          <a:noFill/>
          <a:ln/>
        </p:spPr>
        <p:txBody>
          <a:bodyPr wrap="square" lIns="0" tIns="0" rIns="0" bIns="0" rtlCol="0" anchor="ctr"/>
          <a:lstStyle/>
          <a:p>
            <a:pPr indent="0" marL="0">
              <a:buNone/>
            </a:pPr>
            <a:r>
              <a:rPr lang="en-US" sz="2000" b="1" dirty="0">
                <a:solidFill>
                  <a:schemeClr val="tx2"/>
                </a:solidFill>
              </a:rPr>
              <a:t>The service</a:t>
            </a:r>
            <a:endParaRPr lang="en-US" sz="2000" dirty="0"/>
          </a:p>
        </p:txBody>
      </p:sp>
      <p:sp>
        <p:nvSpPr>
          <p:cNvPr id="20" name="The service identity"/>
          <p:cNvSpPr txBox="1"/>
          <p:nvPr/>
        </p:nvSpPr>
        <p:spPr>
          <a:xfrm>
            <a:off x="8430768" y="2606040"/>
            <a:ext cx="2935224" cy="1051560"/>
          </a:xfrm>
          <a:prstGeom prst="rect">
            <a:avLst/>
          </a:prstGeom>
          <a:noFill/>
          <a:ln/>
        </p:spPr>
        <p:txBody>
          <a:bodyPr wrap="square" lIns="0" tIns="0" rIns="0" bIns="0" rtlCol="0" anchor="t"/>
          <a:lstStyle/>
          <a:p>
            <a:pPr algn="l" indent="0" marL="0">
              <a:buNone/>
            </a:pPr>
            <a:r>
              <a:rPr lang="en-US" sz="1500" dirty="0">
                <a:solidFill>
                  <a:schemeClr val="tx1"/>
                </a:solidFill>
              </a:rPr>
              <a:t>Authorizes the business operation: tenant ownership, limits and idempotency.</a:t>
            </a:r>
            <a:endParaRPr lang="en-US" sz="1500" dirty="0"/>
          </a:p>
        </p:txBody>
      </p:sp>
      <p:sp>
        <p:nvSpPr>
          <p:cNvPr id="21" name="The service rule"/>
          <p:cNvSpPr txBox="1"/>
          <p:nvPr/>
        </p:nvSpPr>
        <p:spPr>
          <a:xfrm>
            <a:off x="8430768" y="3703320"/>
            <a:ext cx="2935224" cy="1188720"/>
          </a:xfrm>
          <a:prstGeom prst="rect">
            <a:avLst/>
          </a:prstGeom>
          <a:noFill/>
          <a:ln/>
        </p:spPr>
        <p:txBody>
          <a:bodyPr wrap="square" lIns="0" tIns="0" rIns="0" bIns="0" rtlCol="0" anchor="t"/>
          <a:lstStyle/>
          <a:p>
            <a:pPr algn="l" indent="0" marL="0">
              <a:buNone/>
            </a:pPr>
            <a:r>
              <a:rPr lang="en-US" sz="1500" dirty="0">
                <a:solidFill>
                  <a:schemeClr val="accent6"/>
                </a:solidFill>
              </a:rPr>
              <a:t>Gateway permission to call a tool never overrides it.</a:t>
            </a:r>
            <a:endParaRPr lang="en-US" sz="1500" dirty="0"/>
          </a:p>
        </p:txBody>
      </p:sp>
      <p:sp>
        <p:nvSpPr>
          <p:cNvPr id="22" name="Revocation panel"/>
          <p:cNvSpPr/>
          <p:nvPr/>
        </p:nvSpPr>
        <p:spPr>
          <a:xfrm>
            <a:off x="548640" y="5212080"/>
            <a:ext cx="11091672" cy="822960"/>
          </a:xfrm>
          <a:prstGeom prst="roundRect">
            <a:avLst>
              <a:gd name="adj" fmla="val 11111"/>
            </a:avLst>
          </a:prstGeom>
          <a:solidFill>
            <a:schemeClr val="tx2"/>
          </a:solidFill>
          <a:ln/>
        </p:spPr>
      </p:sp>
      <p:sp>
        <p:nvSpPr>
          <p:cNvPr id="23" name="Revocation circle"/>
          <p:cNvSpPr/>
          <p:nvPr/>
        </p:nvSpPr>
        <p:spPr>
          <a:xfrm>
            <a:off x="822960" y="5358384"/>
            <a:ext cx="530352" cy="530352"/>
          </a:xfrm>
          <a:prstGeom prst="ellipse">
            <a:avLst/>
          </a:prstGeom>
          <a:solidFill>
            <a:schemeClr val="accent1"/>
          </a:solidFill>
          <a:ln/>
        </p:spPr>
      </p:sp>
      <p:pic>
        <p:nvPicPr>
          <p:cNvPr id="24" name="Revocation icon" descr="preencoded.png">    </p:cNvPr>
          <p:cNvPicPr>
            <a:picLocks noChangeAspect="1"/>
          </p:cNvPicPr>
          <p:nvPr/>
        </p:nvPicPr>
        <p:blipFill>
          <a:blip r:embed="rId4"/>
          <a:stretch>
            <a:fillRect/>
          </a:stretch>
        </p:blipFill>
        <p:spPr>
          <a:xfrm>
            <a:off x="955548" y="5490972"/>
            <a:ext cx="265176" cy="265176"/>
          </a:xfrm>
          <a:prstGeom prst="rect">
            <a:avLst/>
          </a:prstGeom>
        </p:spPr>
      </p:pic>
      <p:sp>
        <p:nvSpPr>
          <p:cNvPr id="25" name="Revocation text"/>
          <p:cNvSpPr txBox="1"/>
          <p:nvPr/>
        </p:nvSpPr>
        <p:spPr>
          <a:xfrm>
            <a:off x="1554480" y="5212080"/>
            <a:ext cx="9811512" cy="822960"/>
          </a:xfrm>
          <a:prstGeom prst="rect">
            <a:avLst/>
          </a:prstGeom>
          <a:noFill/>
          <a:ln/>
        </p:spPr>
        <p:txBody>
          <a:bodyPr wrap="square" lIns="0" tIns="0" rIns="0" bIns="0" rtlCol="0" anchor="ctr"/>
          <a:lstStyle/>
          <a:p>
            <a:pPr indent="0" marL="0">
              <a:buNone/>
            </a:pPr>
            <a:r>
              <a:rPr lang="en-US" sz="1500" b="1" dirty="0">
                <a:solidFill>
                  <a:schemeClr val="bg1"/>
                </a:solidFill>
              </a:rPr>
              <a:t>Revocation is measured, not assumed: </a:t>
            </a:r>
            <a:pPr indent="0" marL="0">
              <a:buNone/>
            </a:pPr>
            <a:r>
              <a:rPr lang="en-US" sz="1500" dirty="0">
                <a:solidFill>
                  <a:schemeClr val="bg1"/>
                </a:solidFill>
              </a:rPr>
              <a:t>time from entitlement removal to denial at every boundary, including any gateway-issued key.</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Five bypass paths must be denied</a:t>
            </a:r>
            <a:endParaRPr lang="en-US" sz="3600" dirty="0"/>
          </a:p>
        </p:txBody>
      </p:sp>
      <p:sp>
        <p:nvSpPr>
          <p:cNvPr id="4" name="Text 1"/>
          <p:cNvSpPr txBox="1"/>
          <p:nvPr/>
        </p:nvSpPr>
        <p:spPr>
          <a:xfrm>
            <a:off x="1417320" y="1389888"/>
            <a:ext cx="4572000" cy="237744"/>
          </a:xfrm>
          <a:prstGeom prst="rect">
            <a:avLst/>
          </a:prstGeom>
          <a:noFill/>
          <a:ln/>
        </p:spPr>
        <p:txBody>
          <a:bodyPr wrap="square" lIns="0" tIns="0" rIns="0" bIns="0" rtlCol="0" anchor="t"/>
          <a:lstStyle/>
          <a:p>
            <a:pPr algn="l" indent="0" marL="0">
              <a:buNone/>
            </a:pPr>
            <a:r>
              <a:rPr lang="en-US" sz="1050" b="1" spc="100" kern="0" dirty="0">
                <a:solidFill>
                  <a:schemeClr val="accent6"/>
                </a:solidFill>
              </a:rPr>
              <a:t>PATH THAT MUST FAIL</a:t>
            </a:r>
            <a:endParaRPr lang="en-US" sz="1050" dirty="0"/>
          </a:p>
        </p:txBody>
      </p:sp>
      <p:sp>
        <p:nvSpPr>
          <p:cNvPr id="5" name="Text 2"/>
          <p:cNvSpPr txBox="1"/>
          <p:nvPr/>
        </p:nvSpPr>
        <p:spPr>
          <a:xfrm>
            <a:off x="6172200" y="1389888"/>
            <a:ext cx="4572000" cy="237744"/>
          </a:xfrm>
          <a:prstGeom prst="rect">
            <a:avLst/>
          </a:prstGeom>
          <a:noFill/>
          <a:ln/>
        </p:spPr>
        <p:txBody>
          <a:bodyPr wrap="square" lIns="0" tIns="0" rIns="0" bIns="0" rtlCol="0" anchor="t"/>
          <a:lstStyle/>
          <a:p>
            <a:pPr algn="l" indent="0" marL="0">
              <a:buNone/>
            </a:pPr>
            <a:r>
              <a:rPr lang="en-US" sz="1050" b="1" spc="100" kern="0" dirty="0">
                <a:solidFill>
                  <a:schemeClr val="accent6"/>
                </a:solidFill>
              </a:rPr>
              <a:t>CANDIDATE CONTROL</a:t>
            </a:r>
            <a:endParaRPr lang="en-US" sz="1050" dirty="0"/>
          </a:p>
        </p:txBody>
      </p:sp>
      <p:sp>
        <p:nvSpPr>
          <p:cNvPr id="6" name="Path 1 row"/>
          <p:cNvSpPr/>
          <p:nvPr/>
        </p:nvSpPr>
        <p:spPr>
          <a:xfrm>
            <a:off x="548640" y="1691640"/>
            <a:ext cx="11091672" cy="667512"/>
          </a:xfrm>
          <a:prstGeom prst="roundRect">
            <a:avLst>
              <a:gd name="adj" fmla="val 10959"/>
            </a:avLst>
          </a:prstGeom>
          <a:solidFill>
            <a:schemeClr val="bg2"/>
          </a:solidFill>
          <a:ln/>
        </p:spPr>
      </p:sp>
      <p:sp>
        <p:nvSpPr>
          <p:cNvPr id="7" name="Path 1 number"/>
          <p:cNvSpPr txBox="1"/>
          <p:nvPr/>
        </p:nvSpPr>
        <p:spPr>
          <a:xfrm>
            <a:off x="749808" y="1815084"/>
            <a:ext cx="420624" cy="420624"/>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Path 1"/>
          <p:cNvSpPr txBox="1"/>
          <p:nvPr/>
        </p:nvSpPr>
        <p:spPr>
          <a:xfrm>
            <a:off x="1417320" y="1691640"/>
            <a:ext cx="4572000" cy="667512"/>
          </a:xfrm>
          <a:prstGeom prst="rect">
            <a:avLst/>
          </a:prstGeom>
          <a:noFill/>
          <a:ln/>
        </p:spPr>
        <p:txBody>
          <a:bodyPr wrap="square" lIns="0" tIns="0" rIns="0" bIns="0" rtlCol="0" anchor="ctr"/>
          <a:lstStyle/>
          <a:p>
            <a:pPr indent="0" marL="0">
              <a:buNone/>
            </a:pPr>
            <a:r>
              <a:rPr lang="en-US" sz="1400" b="1" dirty="0">
                <a:solidFill>
                  <a:schemeClr val="tx1"/>
                </a:solidFill>
              </a:rPr>
              <a:t>A workload calls an MCP or backend service directly</a:t>
            </a:r>
            <a:endParaRPr lang="en-US" sz="1400" dirty="0"/>
          </a:p>
        </p:txBody>
      </p:sp>
      <p:sp>
        <p:nvSpPr>
          <p:cNvPr id="9" name="Control 1"/>
          <p:cNvSpPr txBox="1"/>
          <p:nvPr/>
        </p:nvSpPr>
        <p:spPr>
          <a:xfrm>
            <a:off x="6172200" y="1691640"/>
            <a:ext cx="5303520" cy="667512"/>
          </a:xfrm>
          <a:prstGeom prst="rect">
            <a:avLst/>
          </a:prstGeom>
          <a:noFill/>
          <a:ln/>
        </p:spPr>
        <p:txBody>
          <a:bodyPr wrap="square" lIns="0" tIns="0" rIns="0" bIns="0" rtlCol="0" anchor="ctr"/>
          <a:lstStyle/>
          <a:p>
            <a:pPr indent="0" marL="0">
              <a:buNone/>
            </a:pPr>
            <a:r>
              <a:rPr lang="en-US" sz="1400" dirty="0">
                <a:solidFill>
                  <a:schemeClr val="tx1"/>
                </a:solidFill>
              </a:rPr>
              <a:t>Network policy; the backend accepts only the gateway's identity</a:t>
            </a:r>
            <a:endParaRPr lang="en-US" sz="1400" dirty="0"/>
          </a:p>
        </p:txBody>
      </p:sp>
      <p:sp>
        <p:nvSpPr>
          <p:cNvPr id="10" name="Path 2 row"/>
          <p:cNvSpPr/>
          <p:nvPr/>
        </p:nvSpPr>
        <p:spPr>
          <a:xfrm>
            <a:off x="548640" y="2450592"/>
            <a:ext cx="11091672" cy="667512"/>
          </a:xfrm>
          <a:prstGeom prst="roundRect">
            <a:avLst>
              <a:gd name="adj" fmla="val 10959"/>
            </a:avLst>
          </a:prstGeom>
          <a:solidFill>
            <a:schemeClr val="bg2"/>
          </a:solidFill>
          <a:ln/>
        </p:spPr>
      </p:sp>
      <p:sp>
        <p:nvSpPr>
          <p:cNvPr id="11" name="Path 2 number"/>
          <p:cNvSpPr txBox="1"/>
          <p:nvPr/>
        </p:nvSpPr>
        <p:spPr>
          <a:xfrm>
            <a:off x="749808" y="2574036"/>
            <a:ext cx="420624" cy="420624"/>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Path 2"/>
          <p:cNvSpPr txBox="1"/>
          <p:nvPr/>
        </p:nvSpPr>
        <p:spPr>
          <a:xfrm>
            <a:off x="1417320" y="2450592"/>
            <a:ext cx="4572000" cy="667512"/>
          </a:xfrm>
          <a:prstGeom prst="rect">
            <a:avLst/>
          </a:prstGeom>
          <a:noFill/>
          <a:ln/>
        </p:spPr>
        <p:txBody>
          <a:bodyPr wrap="square" lIns="0" tIns="0" rIns="0" bIns="0" rtlCol="0" anchor="ctr"/>
          <a:lstStyle/>
          <a:p>
            <a:pPr indent="0" marL="0">
              <a:buNone/>
            </a:pPr>
            <a:r>
              <a:rPr lang="en-US" sz="1400" b="1" dirty="0">
                <a:solidFill>
                  <a:schemeClr val="tx1"/>
                </a:solidFill>
              </a:rPr>
              <a:t>A workload calls a model provider directly</a:t>
            </a:r>
            <a:endParaRPr lang="en-US" sz="1400" dirty="0"/>
          </a:p>
        </p:txBody>
      </p:sp>
      <p:sp>
        <p:nvSpPr>
          <p:cNvPr id="13" name="Control 2"/>
          <p:cNvSpPr txBox="1"/>
          <p:nvPr/>
        </p:nvSpPr>
        <p:spPr>
          <a:xfrm>
            <a:off x="6172200" y="2450592"/>
            <a:ext cx="5303520" cy="667512"/>
          </a:xfrm>
          <a:prstGeom prst="rect">
            <a:avLst/>
          </a:prstGeom>
          <a:noFill/>
          <a:ln/>
        </p:spPr>
        <p:txBody>
          <a:bodyPr wrap="square" lIns="0" tIns="0" rIns="0" bIns="0" rtlCol="0" anchor="ctr"/>
          <a:lstStyle/>
          <a:p>
            <a:pPr indent="0" marL="0">
              <a:buNone/>
            </a:pPr>
            <a:r>
              <a:rPr lang="en-US" sz="1400" dirty="0">
                <a:solidFill>
                  <a:schemeClr val="tx1"/>
                </a:solidFill>
              </a:rPr>
              <a:t>Provider credential only at the gateway; restricted egress; provider-side policy</a:t>
            </a:r>
            <a:endParaRPr lang="en-US" sz="1400" dirty="0"/>
          </a:p>
        </p:txBody>
      </p:sp>
      <p:sp>
        <p:nvSpPr>
          <p:cNvPr id="14" name="Path 3 row"/>
          <p:cNvSpPr/>
          <p:nvPr/>
        </p:nvSpPr>
        <p:spPr>
          <a:xfrm>
            <a:off x="548640" y="3209544"/>
            <a:ext cx="11091672" cy="667512"/>
          </a:xfrm>
          <a:prstGeom prst="roundRect">
            <a:avLst>
              <a:gd name="adj" fmla="val 10959"/>
            </a:avLst>
          </a:prstGeom>
          <a:solidFill>
            <a:schemeClr val="bg2"/>
          </a:solidFill>
          <a:ln/>
        </p:spPr>
      </p:sp>
      <p:sp>
        <p:nvSpPr>
          <p:cNvPr id="15" name="Path 3 number"/>
          <p:cNvSpPr txBox="1"/>
          <p:nvPr/>
        </p:nvSpPr>
        <p:spPr>
          <a:xfrm>
            <a:off x="749808" y="3332988"/>
            <a:ext cx="420624" cy="420624"/>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Path 3"/>
          <p:cNvSpPr txBox="1"/>
          <p:nvPr/>
        </p:nvSpPr>
        <p:spPr>
          <a:xfrm>
            <a:off x="1417320" y="3209544"/>
            <a:ext cx="4572000" cy="667512"/>
          </a:xfrm>
          <a:prstGeom prst="rect">
            <a:avLst/>
          </a:prstGeom>
          <a:noFill/>
          <a:ln/>
        </p:spPr>
        <p:txBody>
          <a:bodyPr wrap="square" lIns="0" tIns="0" rIns="0" bIns="0" rtlCol="0" anchor="ctr"/>
          <a:lstStyle/>
          <a:p>
            <a:pPr indent="0" marL="0">
              <a:buNone/>
            </a:pPr>
            <a:r>
              <a:rPr lang="en-US" sz="1400" b="1" dirty="0">
                <a:solidFill>
                  <a:schemeClr val="tx1"/>
                </a:solidFill>
              </a:rPr>
              <a:t>A client reaches a runtime API around its entry point</a:t>
            </a:r>
            <a:endParaRPr lang="en-US" sz="1400" dirty="0"/>
          </a:p>
        </p:txBody>
      </p:sp>
      <p:sp>
        <p:nvSpPr>
          <p:cNvPr id="17" name="Control 3"/>
          <p:cNvSpPr txBox="1"/>
          <p:nvPr/>
        </p:nvSpPr>
        <p:spPr>
          <a:xfrm>
            <a:off x="6172200" y="3209544"/>
            <a:ext cx="5303520" cy="667512"/>
          </a:xfrm>
          <a:prstGeom prst="rect">
            <a:avLst/>
          </a:prstGeom>
          <a:noFill/>
          <a:ln/>
        </p:spPr>
        <p:txBody>
          <a:bodyPr wrap="square" lIns="0" tIns="0" rIns="0" bIns="0" rtlCol="0" anchor="ctr"/>
          <a:lstStyle/>
          <a:p>
            <a:pPr indent="0" marL="0">
              <a:buNone/>
            </a:pPr>
            <a:r>
              <a:rPr lang="en-US" sz="1400" dirty="0">
                <a:solidFill>
                  <a:schemeClr val="tx1"/>
                </a:solidFill>
              </a:rPr>
              <a:t>Runtime API not exposed; the entry point binds the user to the session</a:t>
            </a:r>
            <a:endParaRPr lang="en-US" sz="1400" dirty="0"/>
          </a:p>
        </p:txBody>
      </p:sp>
      <p:sp>
        <p:nvSpPr>
          <p:cNvPr id="18" name="Path 4 row"/>
          <p:cNvSpPr/>
          <p:nvPr/>
        </p:nvSpPr>
        <p:spPr>
          <a:xfrm>
            <a:off x="548640" y="3968496"/>
            <a:ext cx="11091672" cy="667512"/>
          </a:xfrm>
          <a:prstGeom prst="roundRect">
            <a:avLst>
              <a:gd name="adj" fmla="val 10959"/>
            </a:avLst>
          </a:prstGeom>
          <a:solidFill>
            <a:schemeClr val="bg2"/>
          </a:solidFill>
          <a:ln/>
        </p:spPr>
      </p:sp>
      <p:sp>
        <p:nvSpPr>
          <p:cNvPr id="19" name="Path 4 number"/>
          <p:cNvSpPr txBox="1"/>
          <p:nvPr/>
        </p:nvSpPr>
        <p:spPr>
          <a:xfrm>
            <a:off x="749808" y="4091940"/>
            <a:ext cx="420624" cy="420624"/>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0" name="Path 4"/>
          <p:cNvSpPr txBox="1"/>
          <p:nvPr/>
        </p:nvSpPr>
        <p:spPr>
          <a:xfrm>
            <a:off x="1417320" y="3968496"/>
            <a:ext cx="4572000" cy="667512"/>
          </a:xfrm>
          <a:prstGeom prst="rect">
            <a:avLst/>
          </a:prstGeom>
          <a:noFill/>
          <a:ln/>
        </p:spPr>
        <p:txBody>
          <a:bodyPr wrap="square" lIns="0" tIns="0" rIns="0" bIns="0" rtlCol="0" anchor="ctr"/>
          <a:lstStyle/>
          <a:p>
            <a:pPr indent="0" marL="0">
              <a:buNone/>
            </a:pPr>
            <a:r>
              <a:rPr lang="en-US" sz="1400" b="1" dirty="0">
                <a:solidFill>
                  <a:schemeClr val="tx1"/>
                </a:solidFill>
              </a:rPr>
              <a:t>A team policy weakens a platform rule</a:t>
            </a:r>
            <a:endParaRPr lang="en-US" sz="1400" dirty="0"/>
          </a:p>
        </p:txBody>
      </p:sp>
      <p:sp>
        <p:nvSpPr>
          <p:cNvPr id="21" name="Control 4"/>
          <p:cNvSpPr txBox="1"/>
          <p:nvPr/>
        </p:nvSpPr>
        <p:spPr>
          <a:xfrm>
            <a:off x="6172200" y="3968496"/>
            <a:ext cx="5303520" cy="667512"/>
          </a:xfrm>
          <a:prstGeom prst="rect">
            <a:avLst/>
          </a:prstGeom>
          <a:noFill/>
          <a:ln/>
        </p:spPr>
        <p:txBody>
          <a:bodyPr wrap="square" lIns="0" tIns="0" rIns="0" bIns="0" rtlCol="0" anchor="ctr"/>
          <a:lstStyle/>
          <a:p>
            <a:pPr indent="0" marL="0">
              <a:buNone/>
            </a:pPr>
            <a:r>
              <a:rPr lang="en-US" sz="1400" dirty="0">
                <a:solidFill>
                  <a:schemeClr val="tx1"/>
                </a:solidFill>
              </a:rPr>
              <a:t>RBAC on policy resources; Kyverno rules on permitted fields</a:t>
            </a:r>
            <a:endParaRPr lang="en-US" sz="1400" dirty="0"/>
          </a:p>
        </p:txBody>
      </p:sp>
      <p:sp>
        <p:nvSpPr>
          <p:cNvPr id="22" name="Path 5 row"/>
          <p:cNvSpPr/>
          <p:nvPr/>
        </p:nvSpPr>
        <p:spPr>
          <a:xfrm>
            <a:off x="548640" y="4727448"/>
            <a:ext cx="11091672" cy="667512"/>
          </a:xfrm>
          <a:prstGeom prst="roundRect">
            <a:avLst>
              <a:gd name="adj" fmla="val 10959"/>
            </a:avLst>
          </a:prstGeom>
          <a:solidFill>
            <a:schemeClr val="bg2"/>
          </a:solidFill>
          <a:ln/>
        </p:spPr>
      </p:sp>
      <p:sp>
        <p:nvSpPr>
          <p:cNvPr id="23" name="Path 5 number"/>
          <p:cNvSpPr txBox="1"/>
          <p:nvPr/>
        </p:nvSpPr>
        <p:spPr>
          <a:xfrm>
            <a:off x="749808" y="4850892"/>
            <a:ext cx="420624" cy="420624"/>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4" name="Path 5"/>
          <p:cNvSpPr txBox="1"/>
          <p:nvPr/>
        </p:nvSpPr>
        <p:spPr>
          <a:xfrm>
            <a:off x="1417320" y="4727448"/>
            <a:ext cx="4572000" cy="667512"/>
          </a:xfrm>
          <a:prstGeom prst="rect">
            <a:avLst/>
          </a:prstGeom>
          <a:noFill/>
          <a:ln/>
        </p:spPr>
        <p:txBody>
          <a:bodyPr wrap="square" lIns="0" tIns="0" rIns="0" bIns="0" rtlCol="0" anchor="ctr"/>
          <a:lstStyle/>
          <a:p>
            <a:pPr indent="0" marL="0">
              <a:buNone/>
            </a:pPr>
            <a:r>
              <a:rPr lang="en-US" sz="1400" b="1" dirty="0">
                <a:solidFill>
                  <a:schemeClr val="tx1"/>
                </a:solidFill>
              </a:rPr>
              <a:t>A CI job pod makes the same direct calls</a:t>
            </a:r>
            <a:endParaRPr lang="en-US" sz="1400" dirty="0"/>
          </a:p>
        </p:txBody>
      </p:sp>
      <p:sp>
        <p:nvSpPr>
          <p:cNvPr id="25" name="Control 5"/>
          <p:cNvSpPr txBox="1"/>
          <p:nvPr/>
        </p:nvSpPr>
        <p:spPr>
          <a:xfrm>
            <a:off x="6172200" y="4727448"/>
            <a:ext cx="5303520" cy="667512"/>
          </a:xfrm>
          <a:prstGeom prst="rect">
            <a:avLst/>
          </a:prstGeom>
          <a:noFill/>
          <a:ln/>
        </p:spPr>
        <p:txBody>
          <a:bodyPr wrap="square" lIns="0" tIns="0" rIns="0" bIns="0" rtlCol="0" anchor="ctr"/>
          <a:lstStyle/>
          <a:p>
            <a:pPr indent="0" marL="0">
              <a:buNone/>
            </a:pPr>
            <a:r>
              <a:rPr lang="en-US" sz="1400" dirty="0">
                <a:solidFill>
                  <a:schemeClr val="tx1"/>
                </a:solidFill>
              </a:rPr>
              <a:t>Runner namespace treated as untrusted: same policy and node separation</a:t>
            </a:r>
            <a:endParaRPr lang="en-US" sz="1400" dirty="0"/>
          </a:p>
        </p:txBody>
      </p:sp>
      <p:sp>
        <p:nvSpPr>
          <p:cNvPr id="26" name="Bypass note"/>
          <p:cNvSpPr txBox="1"/>
          <p:nvPr/>
        </p:nvSpPr>
        <p:spPr>
          <a:xfrm>
            <a:off x="548640" y="5623560"/>
            <a:ext cx="11091672" cy="457200"/>
          </a:xfrm>
          <a:prstGeom prst="rect">
            <a:avLst/>
          </a:prstGeom>
          <a:noFill/>
          <a:ln/>
        </p:spPr>
        <p:txBody>
          <a:bodyPr wrap="square" lIns="0" tIns="0" rIns="0" bIns="0" rtlCol="0" anchor="ctr"/>
          <a:lstStyle/>
          <a:p>
            <a:pPr algn="l" indent="0" marL="0">
              <a:buNone/>
            </a:pPr>
            <a:r>
              <a:rPr lang="en-US" sz="1400" dirty="0">
                <a:solidFill>
                  <a:schemeClr val="accent6"/>
                </a:solidFill>
              </a:rPr>
              <a:t>No control is selected yet. A path that cannot be blocked, or equivalently governed, is not offered as governed.</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Plain Deployments first, kagent as candidate</a:t>
            </a:r>
            <a:endParaRPr lang="en-US" sz="3600" dirty="0"/>
          </a:p>
        </p:txBody>
      </p:sp>
      <p:sp>
        <p:nvSpPr>
          <p:cNvPr id="4" name="Conventional Deployment or Job card"/>
          <p:cNvSpPr/>
          <p:nvPr/>
        </p:nvSpPr>
        <p:spPr>
          <a:xfrm>
            <a:off x="548640" y="1554480"/>
            <a:ext cx="5394960" cy="3703320"/>
          </a:xfrm>
          <a:prstGeom prst="roundRect">
            <a:avLst>
              <a:gd name="adj" fmla="val 2469"/>
            </a:avLst>
          </a:prstGeom>
          <a:solidFill>
            <a:schemeClr val="accent1">
              <a:alpha val="10000"/>
            </a:schemeClr>
          </a:solidFill>
          <a:ln/>
        </p:spPr>
      </p:sp>
      <p:sp>
        <p:nvSpPr>
          <p:cNvPr id="5" name="Conventional Deployment or Job tag"/>
          <p:cNvSpPr txBox="1"/>
          <p:nvPr/>
        </p:nvSpPr>
        <p:spPr>
          <a:xfrm>
            <a:off x="822960" y="1764792"/>
            <a:ext cx="1600200" cy="292608"/>
          </a:xfrm>
          <a:prstGeom prst="roundRect">
            <a:avLst>
              <a:gd name="adj" fmla="val 25000"/>
            </a:avLst>
          </a:prstGeom>
          <a:solidFill>
            <a:schemeClr val="accent1">
              <a:alpha val="14000"/>
            </a:schemeClr>
          </a:solidFill>
          <a:ln w="15875">
            <a:solidFill>
              <a:schemeClr val="accent1"/>
            </a:solidFill>
            <a:prstDash val="solid"/>
          </a:ln>
        </p:spPr>
        <p:txBody>
          <a:bodyPr wrap="square" lIns="635" tIns="635" rIns="635" bIns="635" rtlCol="0" anchor="ctr"/>
          <a:lstStyle/>
          <a:p>
            <a:pPr algn="ctr" indent="0" marL="0">
              <a:buNone/>
            </a:pPr>
            <a:r>
              <a:rPr lang="en-US" sz="1100" b="1" dirty="0">
                <a:solidFill>
                  <a:schemeClr val="tx1"/>
                </a:solidFill>
              </a:rPr>
              <a:t>Default</a:t>
            </a:r>
            <a:endParaRPr lang="en-US" sz="1100" dirty="0"/>
          </a:p>
        </p:txBody>
      </p:sp>
      <p:sp>
        <p:nvSpPr>
          <p:cNvPr id="6" name="Conventional Deployment or Job heading"/>
          <p:cNvSpPr txBox="1"/>
          <p:nvPr/>
        </p:nvSpPr>
        <p:spPr>
          <a:xfrm>
            <a:off x="822960" y="2194560"/>
            <a:ext cx="4846320" cy="411480"/>
          </a:xfrm>
          <a:prstGeom prst="rect">
            <a:avLst/>
          </a:prstGeom>
          <a:noFill/>
          <a:ln/>
        </p:spPr>
        <p:txBody>
          <a:bodyPr wrap="square" lIns="0" tIns="0" rIns="0" bIns="0" rtlCol="0" anchor="t"/>
          <a:lstStyle/>
          <a:p>
            <a:pPr algn="l" indent="0" marL="0">
              <a:buNone/>
            </a:pPr>
            <a:r>
              <a:rPr lang="en-US" sz="2100" b="1" dirty="0">
                <a:solidFill>
                  <a:schemeClr val="tx2"/>
                </a:solidFill>
              </a:rPr>
              <a:t>Conventional Deployment or Job</a:t>
            </a:r>
            <a:endParaRPr lang="en-US" sz="2100" dirty="0"/>
          </a:p>
        </p:txBody>
      </p:sp>
      <p:sp>
        <p:nvSpPr>
          <p:cNvPr id="7" name="Conventional Deployment or Job points"/>
          <p:cNvSpPr txBox="1"/>
          <p:nvPr/>
        </p:nvSpPr>
        <p:spPr>
          <a:xfrm>
            <a:off x="822960" y="2743200"/>
            <a:ext cx="4846320" cy="242316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1"/>
                </a:solidFill>
              </a:rPr>
              <a:t>For trusted applications that keep session state outside the process</a:t>
            </a:r>
            <a:endParaRPr lang="en-US" sz="1400" dirty="0"/>
          </a:p>
          <a:p>
            <a:pPr marL="342900" indent="-342900">
              <a:spcAft>
                <a:spcPts val="700"/>
              </a:spcAft>
              <a:buSzPct val="100000"/>
              <a:buChar char="•"/>
            </a:pPr>
            <a:r>
              <a:rPr lang="en-US" sz="1400" dirty="0">
                <a:solidFill>
                  <a:schemeClr val="tx1"/>
                </a:solidFill>
              </a:rPr>
              <a:t>The platform chart supplies identity, limits, telemetry and gateway bindings</a:t>
            </a:r>
            <a:endParaRPr lang="en-US" sz="1400" dirty="0"/>
          </a:p>
          <a:p>
            <a:pPr marL="342900" indent="-342900">
              <a:spcAft>
                <a:spcPts val="700"/>
              </a:spcAft>
              <a:buSzPct val="100000"/>
              <a:buChar char="•"/>
            </a:pPr>
            <a:r>
              <a:rPr lang="en-US" sz="1400" dirty="0">
                <a:solidFill>
                  <a:schemeClr val="tx1"/>
                </a:solidFill>
              </a:rPr>
              <a:t>The application sets concurrency, timeouts, iteration and token limits</a:t>
            </a:r>
            <a:endParaRPr lang="en-US" sz="1400" dirty="0"/>
          </a:p>
          <a:p>
            <a:pPr marL="342900" indent="-342900">
              <a:spcAft>
                <a:spcPts val="700"/>
              </a:spcAft>
              <a:buSzPct val="100000"/>
              <a:buChar char="•"/>
            </a:pPr>
            <a:r>
              <a:rPr lang="en-US" sz="1400" dirty="0">
                <a:solidFill>
                  <a:schemeClr val="tx1"/>
                </a:solidFill>
              </a:rPr>
              <a:t>Jobs and workers cover bounded background work</a:t>
            </a:r>
            <a:endParaRPr lang="en-US" sz="1400" dirty="0"/>
          </a:p>
        </p:txBody>
      </p:sp>
      <p:sp>
        <p:nvSpPr>
          <p:cNvPr id="8" name="kagent with Agent Substrate card"/>
          <p:cNvSpPr/>
          <p:nvPr/>
        </p:nvSpPr>
        <p:spPr>
          <a:xfrm>
            <a:off x="6245352" y="1554480"/>
            <a:ext cx="5394960" cy="3703320"/>
          </a:xfrm>
          <a:prstGeom prst="roundRect">
            <a:avLst>
              <a:gd name="adj" fmla="val 2469"/>
            </a:avLst>
          </a:prstGeom>
          <a:solidFill>
            <a:schemeClr val="accent2">
              <a:alpha val="10000"/>
            </a:schemeClr>
          </a:solidFill>
          <a:ln/>
        </p:spPr>
      </p:sp>
      <p:sp>
        <p:nvSpPr>
          <p:cNvPr id="9" name="kagent with Agent Substrate tag"/>
          <p:cNvSpPr txBox="1"/>
          <p:nvPr/>
        </p:nvSpPr>
        <p:spPr>
          <a:xfrm>
            <a:off x="6519672" y="1764792"/>
            <a:ext cx="1600200" cy="292608"/>
          </a:xfrm>
          <a:prstGeom prst="roundRect">
            <a:avLst>
              <a:gd name="adj" fmla="val 25000"/>
            </a:avLst>
          </a:prstGeom>
          <a:solidFill>
            <a:schemeClr val="accent2">
              <a:alpha val="14000"/>
            </a:schemeClr>
          </a:solidFill>
          <a:ln w="15875">
            <a:solidFill>
              <a:schemeClr val="accent2"/>
            </a:solidFill>
            <a:prstDash val="sysDash"/>
          </a:ln>
        </p:spPr>
        <p:txBody>
          <a:bodyPr wrap="square" lIns="635" tIns="635" rIns="635" bIns="635" rtlCol="0" anchor="ctr"/>
          <a:lstStyle/>
          <a:p>
            <a:pPr algn="ctr" indent="0" marL="0">
              <a:buNone/>
            </a:pPr>
            <a:r>
              <a:rPr lang="en-US" sz="1100" b="1" dirty="0">
                <a:solidFill>
                  <a:schemeClr val="tx1"/>
                </a:solidFill>
              </a:rPr>
              <a:t>Candidate, alpha</a:t>
            </a:r>
            <a:endParaRPr lang="en-US" sz="1100" dirty="0"/>
          </a:p>
        </p:txBody>
      </p:sp>
      <p:sp>
        <p:nvSpPr>
          <p:cNvPr id="10" name="kagent with Agent Substrate heading"/>
          <p:cNvSpPr txBox="1"/>
          <p:nvPr/>
        </p:nvSpPr>
        <p:spPr>
          <a:xfrm>
            <a:off x="6519672" y="2194560"/>
            <a:ext cx="4846320" cy="411480"/>
          </a:xfrm>
          <a:prstGeom prst="rect">
            <a:avLst/>
          </a:prstGeom>
          <a:noFill/>
          <a:ln/>
        </p:spPr>
        <p:txBody>
          <a:bodyPr wrap="square" lIns="0" tIns="0" rIns="0" bIns="0" rtlCol="0" anchor="t"/>
          <a:lstStyle/>
          <a:p>
            <a:pPr algn="l" indent="0" marL="0">
              <a:buNone/>
            </a:pPr>
            <a:r>
              <a:rPr lang="en-US" sz="2100" b="1" dirty="0">
                <a:solidFill>
                  <a:schemeClr val="tx2"/>
                </a:solidFill>
              </a:rPr>
              <a:t>kagent with Agent Substrate</a:t>
            </a:r>
            <a:endParaRPr lang="en-US" sz="2100" dirty="0"/>
          </a:p>
        </p:txBody>
      </p:sp>
      <p:sp>
        <p:nvSpPr>
          <p:cNvPr id="11" name="kagent with Agent Substrate points"/>
          <p:cNvSpPr txBox="1"/>
          <p:nvPr/>
        </p:nvSpPr>
        <p:spPr>
          <a:xfrm>
            <a:off x="6519672" y="2743200"/>
            <a:ext cx="4846320" cy="242316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1"/>
                </a:solidFill>
              </a:rPr>
              <a:t>Declarative agents: a Harness and an AgentTemplate compile to an immutable revision</a:t>
            </a:r>
            <a:endParaRPr lang="en-US" sz="1400" dirty="0"/>
          </a:p>
          <a:p>
            <a:pPr marL="342900" indent="-342900">
              <a:spcAft>
                <a:spcPts val="700"/>
              </a:spcAft>
              <a:buSzPct val="100000"/>
              <a:buChar char="•"/>
            </a:pPr>
            <a:r>
              <a:rPr lang="en-US" sz="1400" dirty="0">
                <a:solidFill>
                  <a:schemeClr val="tx1"/>
                </a:solidFill>
              </a:rPr>
              <a:t>Sessions run in gVisor sandboxes, suspended each turn and resumed from snapshots</a:t>
            </a:r>
            <a:endParaRPr lang="en-US" sz="1400" dirty="0"/>
          </a:p>
          <a:p>
            <a:pPr marL="342900" indent="-342900">
              <a:spcAft>
                <a:spcPts val="700"/>
              </a:spcAft>
              <a:buSzPct val="100000"/>
              <a:buChar char="•"/>
            </a:pPr>
            <a:r>
              <a:rPr lang="en-US" sz="1400" dirty="0">
                <a:solidFill>
                  <a:schemeClr val="tx1"/>
                </a:solidFill>
              </a:rPr>
              <a:t>Egress is default-deny per actor, from an allowlist kagent derives</a:t>
            </a:r>
            <a:endParaRPr lang="en-US" sz="1400" dirty="0"/>
          </a:p>
          <a:p>
            <a:pPr marL="342900" indent="-342900">
              <a:spcAft>
                <a:spcPts val="700"/>
              </a:spcAft>
              <a:buSzPct val="100000"/>
              <a:buChar char="•"/>
            </a:pPr>
            <a:r>
              <a:rPr lang="en-US" sz="1400" dirty="0">
                <a:solidFill>
                  <a:schemeClr val="tx1"/>
                </a:solidFill>
              </a:rPr>
              <a:t>Bring-your-own images must serve A2A over gRPC; the LangGraph and CrewAI adapters do not qualify yet</a:t>
            </a:r>
            <a:endParaRPr lang="en-US" sz="1400" dirty="0"/>
          </a:p>
        </p:txBody>
      </p:sp>
      <p:sp>
        <p:nvSpPr>
          <p:cNvPr id="12" name="Trust note panel"/>
          <p:cNvSpPr/>
          <p:nvPr/>
        </p:nvSpPr>
        <p:spPr>
          <a:xfrm>
            <a:off x="548640" y="5440680"/>
            <a:ext cx="11091672" cy="640080"/>
          </a:xfrm>
          <a:prstGeom prst="roundRect">
            <a:avLst>
              <a:gd name="adj" fmla="val 14286"/>
            </a:avLst>
          </a:prstGeom>
          <a:solidFill>
            <a:schemeClr val="bg2"/>
          </a:solidFill>
          <a:ln/>
        </p:spPr>
      </p:sp>
      <p:sp>
        <p:nvSpPr>
          <p:cNvPr id="13" name="Trust note"/>
          <p:cNvSpPr txBox="1"/>
          <p:nvPr/>
        </p:nvSpPr>
        <p:spPr>
          <a:xfrm>
            <a:off x="822960" y="5440680"/>
            <a:ext cx="10543032" cy="640080"/>
          </a:xfrm>
          <a:prstGeom prst="rect">
            <a:avLst/>
          </a:prstGeom>
          <a:noFill/>
          <a:ln/>
        </p:spPr>
        <p:txBody>
          <a:bodyPr wrap="square" lIns="0" tIns="0" rIns="0" bIns="0" rtlCol="0" anchor="ctr"/>
          <a:lstStyle/>
          <a:p>
            <a:pPr algn="l" indent="0" marL="0">
              <a:buNone/>
            </a:pPr>
            <a:r>
              <a:rPr lang="en-US" sz="1400" b="1" dirty="0">
                <a:solidFill>
                  <a:schemeClr val="tx1"/>
                </a:solidFill>
              </a:rPr>
              <a:t>Decide first </a:t>
            </a:r>
            <a:pPr algn="l" indent="0" marL="0">
              <a:buNone/>
            </a:pPr>
            <a:r>
              <a:rPr lang="en-US" sz="1400" dirty="0">
                <a:solidFill>
                  <a:schemeClr val="tx1"/>
                </a:solidFill>
              </a:rPr>
              <a:t>whether gVisor meets the execution-trust requirement, then test density (D-10).</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One artifact, promoted by merge request</a:t>
            </a:r>
            <a:endParaRPr lang="en-US" sz="3600" dirty="0"/>
          </a:p>
        </p:txBody>
      </p:sp>
      <p:sp>
        <p:nvSpPr>
          <p:cNvPr id="4" name="Source change"/>
          <p:cNvSpPr txBox="1"/>
          <p:nvPr/>
        </p:nvSpPr>
        <p:spPr>
          <a:xfrm>
            <a:off x="548640" y="1691640"/>
            <a:ext cx="1574292" cy="777240"/>
          </a:xfrm>
          <a:prstGeom prst="roundRect">
            <a:avLst>
              <a:gd name="adj" fmla="val 9412"/>
            </a:avLst>
          </a:prstGeom>
          <a:solidFill>
            <a:schemeClr val="accent4">
              <a:alpha val="22000"/>
            </a:schemeClr>
          </a:solidFill>
          <a:ln w="15875">
            <a:solidFill>
              <a:schemeClr val="accent4"/>
            </a:solidFill>
            <a:prstDash val="solid"/>
          </a:ln>
        </p:spPr>
        <p:txBody>
          <a:bodyPr wrap="square" lIns="635" tIns="635" rIns="635" bIns="635" rtlCol="0" anchor="ctr"/>
          <a:lstStyle/>
          <a:p>
            <a:pPr algn="ctr" indent="0" marL="0">
              <a:buNone/>
            </a:pPr>
            <a:r>
              <a:rPr lang="en-US" sz="1400" b="1" dirty="0">
                <a:solidFill>
                  <a:schemeClr val="tx1"/>
                </a:solidFill>
              </a:rPr>
              <a:t>Source change</a:t>
            </a:r>
            <a:endParaRPr lang="en-US" sz="1400" dirty="0"/>
          </a:p>
        </p:txBody>
      </p:sp>
      <p:sp>
        <p:nvSpPr>
          <p:cNvPr id="5" name="Source change caption"/>
          <p:cNvSpPr txBox="1"/>
          <p:nvPr/>
        </p:nvSpPr>
        <p:spPr>
          <a:xfrm>
            <a:off x="548640" y="2606040"/>
            <a:ext cx="1574292" cy="960120"/>
          </a:xfrm>
          <a:prstGeom prst="rect">
            <a:avLst/>
          </a:prstGeom>
          <a:noFill/>
          <a:ln/>
        </p:spPr>
        <p:txBody>
          <a:bodyPr wrap="square" lIns="0" tIns="0" rIns="0" bIns="0" rtlCol="0" anchor="t"/>
          <a:lstStyle/>
          <a:p>
            <a:pPr algn="l" indent="0" marL="0">
              <a:buNone/>
            </a:pPr>
            <a:r>
              <a:rPr lang="en-US" sz="1200" dirty="0">
                <a:solidFill>
                  <a:schemeClr val="accent6"/>
                </a:solidFill>
              </a:rPr>
              <a:t>In the component's own repository</a:t>
            </a:r>
            <a:endParaRPr lang="en-US" sz="1200" dirty="0"/>
          </a:p>
        </p:txBody>
      </p:sp>
      <p:sp>
        <p:nvSpPr>
          <p:cNvPr id="6" name="Step arrow 1"/>
          <p:cNvSpPr/>
          <p:nvPr/>
        </p:nvSpPr>
        <p:spPr>
          <a:xfrm>
            <a:off x="2159508" y="2080260"/>
            <a:ext cx="256032" cy="0"/>
          </a:xfrm>
          <a:prstGeom prst="line">
            <a:avLst/>
          </a:prstGeom>
          <a:noFill/>
          <a:ln w="19050">
            <a:solidFill>
              <a:schemeClr val="accent6"/>
            </a:solidFill>
            <a:prstDash val="solid"/>
            <a:tailEnd type="triangle"/>
          </a:ln>
        </p:spPr>
      </p:sp>
      <p:sp>
        <p:nvSpPr>
          <p:cNvPr id="7" name="Tests and evaluations"/>
          <p:cNvSpPr txBox="1"/>
          <p:nvPr/>
        </p:nvSpPr>
        <p:spPr>
          <a:xfrm>
            <a:off x="2452116" y="1691640"/>
            <a:ext cx="1574292" cy="777240"/>
          </a:xfrm>
          <a:prstGeom prst="roundRect">
            <a:avLst>
              <a:gd name="adj" fmla="val 9412"/>
            </a:avLst>
          </a:prstGeom>
          <a:solidFill>
            <a:schemeClr val="accent4">
              <a:alpha val="22000"/>
            </a:schemeClr>
          </a:solidFill>
          <a:ln w="15875">
            <a:solidFill>
              <a:schemeClr val="accent4"/>
            </a:solidFill>
            <a:prstDash val="solid"/>
          </a:ln>
        </p:spPr>
        <p:txBody>
          <a:bodyPr wrap="square" lIns="635" tIns="635" rIns="635" bIns="635" rtlCol="0" anchor="ctr"/>
          <a:lstStyle/>
          <a:p>
            <a:pPr algn="ctr" indent="0" marL="0">
              <a:buNone/>
            </a:pPr>
            <a:r>
              <a:rPr lang="en-US" sz="1400" b="1" dirty="0">
                <a:solidFill>
                  <a:schemeClr val="tx1"/>
                </a:solidFill>
              </a:rPr>
              <a:t>Tests and evaluations</a:t>
            </a:r>
            <a:endParaRPr lang="en-US" sz="1400" dirty="0"/>
          </a:p>
        </p:txBody>
      </p:sp>
      <p:sp>
        <p:nvSpPr>
          <p:cNvPr id="8" name="Tests and evaluations caption"/>
          <p:cNvSpPr txBox="1"/>
          <p:nvPr/>
        </p:nvSpPr>
        <p:spPr>
          <a:xfrm>
            <a:off x="2452116" y="2606040"/>
            <a:ext cx="1574292" cy="960120"/>
          </a:xfrm>
          <a:prstGeom prst="rect">
            <a:avLst/>
          </a:prstGeom>
          <a:noFill/>
          <a:ln/>
        </p:spPr>
        <p:txBody>
          <a:bodyPr wrap="square" lIns="0" tIns="0" rIns="0" bIns="0" rtlCol="0" anchor="t"/>
          <a:lstStyle/>
          <a:p>
            <a:pPr algn="l" indent="0" marL="0">
              <a:buNone/>
            </a:pPr>
            <a:r>
              <a:rPr lang="en-US" sz="1200" dirty="0">
                <a:solidFill>
                  <a:schemeClr val="accent6"/>
                </a:solidFill>
              </a:rPr>
              <a:t>On failure there is no new selection, and the current release stays</a:t>
            </a:r>
            <a:endParaRPr lang="en-US" sz="1200" dirty="0"/>
          </a:p>
        </p:txBody>
      </p:sp>
      <p:sp>
        <p:nvSpPr>
          <p:cNvPr id="9" name="Step arrow 2"/>
          <p:cNvSpPr/>
          <p:nvPr/>
        </p:nvSpPr>
        <p:spPr>
          <a:xfrm>
            <a:off x="4062984" y="2080260"/>
            <a:ext cx="256032" cy="0"/>
          </a:xfrm>
          <a:prstGeom prst="line">
            <a:avLst/>
          </a:prstGeom>
          <a:noFill/>
          <a:ln w="19050">
            <a:solidFill>
              <a:schemeClr val="accent6"/>
            </a:solidFill>
            <a:prstDash val="solid"/>
            <a:tailEnd type="triangle"/>
          </a:ln>
        </p:spPr>
      </p:sp>
      <p:sp>
        <p:nvSpPr>
          <p:cNvPr id="10" name="Immutable artifact"/>
          <p:cNvSpPr txBox="1"/>
          <p:nvPr/>
        </p:nvSpPr>
        <p:spPr>
          <a:xfrm>
            <a:off x="4355592" y="1691640"/>
            <a:ext cx="1574292" cy="777240"/>
          </a:xfrm>
          <a:prstGeom prst="roundRect">
            <a:avLst>
              <a:gd name="adj" fmla="val 9412"/>
            </a:avLst>
          </a:prstGeom>
          <a:solidFill>
            <a:schemeClr val="accent4">
              <a:alpha val="22000"/>
            </a:schemeClr>
          </a:solidFill>
          <a:ln w="15875">
            <a:solidFill>
              <a:schemeClr val="accent4"/>
            </a:solidFill>
            <a:prstDash val="solid"/>
          </a:ln>
        </p:spPr>
        <p:txBody>
          <a:bodyPr wrap="square" lIns="635" tIns="635" rIns="635" bIns="635" rtlCol="0" anchor="ctr"/>
          <a:lstStyle/>
          <a:p>
            <a:pPr algn="ctr" indent="0" marL="0">
              <a:buNone/>
            </a:pPr>
            <a:r>
              <a:rPr lang="en-US" sz="1400" b="1" dirty="0">
                <a:solidFill>
                  <a:schemeClr val="tx1"/>
                </a:solidFill>
              </a:rPr>
              <a:t>Immutable artifact</a:t>
            </a:r>
            <a:endParaRPr lang="en-US" sz="1400" dirty="0"/>
          </a:p>
        </p:txBody>
      </p:sp>
      <p:sp>
        <p:nvSpPr>
          <p:cNvPr id="11" name="Immutable artifact caption"/>
          <p:cNvSpPr txBox="1"/>
          <p:nvPr/>
        </p:nvSpPr>
        <p:spPr>
          <a:xfrm>
            <a:off x="4355592" y="2606040"/>
            <a:ext cx="1574292" cy="960120"/>
          </a:xfrm>
          <a:prstGeom prst="rect">
            <a:avLst/>
          </a:prstGeom>
          <a:noFill/>
          <a:ln/>
        </p:spPr>
        <p:txBody>
          <a:bodyPr wrap="square" lIns="0" tIns="0" rIns="0" bIns="0" rtlCol="0" anchor="t"/>
          <a:lstStyle/>
          <a:p>
            <a:pPr algn="l" indent="0" marL="0">
              <a:buNone/>
            </a:pPr>
            <a:r>
              <a:rPr lang="en-US" sz="1200" dirty="0">
                <a:solidFill>
                  <a:schemeClr val="accent6"/>
                </a:solidFill>
              </a:rPr>
              <a:t>Published once, by digest. The same bytes run in every environment</a:t>
            </a:r>
            <a:endParaRPr lang="en-US" sz="1200" dirty="0"/>
          </a:p>
        </p:txBody>
      </p:sp>
      <p:sp>
        <p:nvSpPr>
          <p:cNvPr id="12" name="Step arrow 3"/>
          <p:cNvSpPr/>
          <p:nvPr/>
        </p:nvSpPr>
        <p:spPr>
          <a:xfrm>
            <a:off x="5966460" y="2080260"/>
            <a:ext cx="256032" cy="0"/>
          </a:xfrm>
          <a:prstGeom prst="line">
            <a:avLst/>
          </a:prstGeom>
          <a:noFill/>
          <a:ln w="19050">
            <a:solidFill>
              <a:schemeClr val="accent6"/>
            </a:solidFill>
            <a:prstDash val="solid"/>
            <a:tailEnd type="triangle"/>
          </a:ln>
        </p:spPr>
      </p:sp>
      <p:sp>
        <p:nvSpPr>
          <p:cNvPr id="13" name="dev"/>
          <p:cNvSpPr txBox="1"/>
          <p:nvPr/>
        </p:nvSpPr>
        <p:spPr>
          <a:xfrm>
            <a:off x="6259068" y="1691640"/>
            <a:ext cx="1574292" cy="777240"/>
          </a:xfrm>
          <a:prstGeom prst="roundRect">
            <a:avLst>
              <a:gd name="adj" fmla="val 9412"/>
            </a:avLst>
          </a:prstGeom>
          <a:solidFill>
            <a:schemeClr val="accent1">
              <a:alpha val="14000"/>
            </a:schemeClr>
          </a:solidFill>
          <a:ln w="15875">
            <a:solidFill>
              <a:schemeClr val="accent1"/>
            </a:solidFill>
            <a:prstDash val="solid"/>
          </a:ln>
        </p:spPr>
        <p:txBody>
          <a:bodyPr wrap="square" lIns="635" tIns="635" rIns="635" bIns="635" rtlCol="0" anchor="ctr"/>
          <a:lstStyle/>
          <a:p>
            <a:pPr algn="ctr" indent="0" marL="0">
              <a:buNone/>
            </a:pPr>
            <a:r>
              <a:rPr lang="en-US" sz="1800" b="1" dirty="0">
                <a:solidFill>
                  <a:schemeClr val="tx1"/>
                </a:solidFill>
              </a:rPr>
              <a:t>dev</a:t>
            </a:r>
            <a:endParaRPr lang="en-US" sz="1800" dirty="0"/>
          </a:p>
        </p:txBody>
      </p:sp>
      <p:sp>
        <p:nvSpPr>
          <p:cNvPr id="14" name="dev caption"/>
          <p:cNvSpPr txBox="1"/>
          <p:nvPr/>
        </p:nvSpPr>
        <p:spPr>
          <a:xfrm>
            <a:off x="6259068" y="2606040"/>
            <a:ext cx="1574292" cy="960120"/>
          </a:xfrm>
          <a:prstGeom prst="rect">
            <a:avLst/>
          </a:prstGeom>
          <a:noFill/>
          <a:ln/>
        </p:spPr>
        <p:txBody>
          <a:bodyPr wrap="square" lIns="0" tIns="0" rIns="0" bIns="0" rtlCol="0" anchor="t"/>
          <a:lstStyle/>
          <a:p>
            <a:pPr algn="l" indent="0" marL="0">
              <a:buNone/>
            </a:pPr>
            <a:r>
              <a:rPr lang="en-US" sz="1200" dirty="0">
                <a:solidFill>
                  <a:schemeClr val="accent6"/>
                </a:solidFill>
              </a:rPr>
              <a:t>Shows that the artifact deploys and integrates</a:t>
            </a:r>
            <a:endParaRPr lang="en-US" sz="1200" dirty="0"/>
          </a:p>
        </p:txBody>
      </p:sp>
      <p:sp>
        <p:nvSpPr>
          <p:cNvPr id="15" name="Step arrow 4"/>
          <p:cNvSpPr/>
          <p:nvPr/>
        </p:nvSpPr>
        <p:spPr>
          <a:xfrm>
            <a:off x="7869936" y="2080260"/>
            <a:ext cx="256032" cy="0"/>
          </a:xfrm>
          <a:prstGeom prst="line">
            <a:avLst/>
          </a:prstGeom>
          <a:noFill/>
          <a:ln w="19050">
            <a:solidFill>
              <a:schemeClr val="accent6"/>
            </a:solidFill>
            <a:prstDash val="solid"/>
            <a:tailEnd type="triangle"/>
          </a:ln>
        </p:spPr>
      </p:sp>
      <p:sp>
        <p:nvSpPr>
          <p:cNvPr id="16" name="stage"/>
          <p:cNvSpPr txBox="1"/>
          <p:nvPr/>
        </p:nvSpPr>
        <p:spPr>
          <a:xfrm>
            <a:off x="8162544" y="1691640"/>
            <a:ext cx="1574292" cy="777240"/>
          </a:xfrm>
          <a:prstGeom prst="roundRect">
            <a:avLst>
              <a:gd name="adj" fmla="val 9412"/>
            </a:avLst>
          </a:prstGeom>
          <a:solidFill>
            <a:schemeClr val="accent1">
              <a:alpha val="14000"/>
            </a:schemeClr>
          </a:solidFill>
          <a:ln w="15875">
            <a:solidFill>
              <a:schemeClr val="accent1"/>
            </a:solidFill>
            <a:prstDash val="solid"/>
          </a:ln>
        </p:spPr>
        <p:txBody>
          <a:bodyPr wrap="square" lIns="635" tIns="635" rIns="635" bIns="635" rtlCol="0" anchor="ctr"/>
          <a:lstStyle/>
          <a:p>
            <a:pPr algn="ctr" indent="0" marL="0">
              <a:buNone/>
            </a:pPr>
            <a:r>
              <a:rPr lang="en-US" sz="1800" b="1" dirty="0">
                <a:solidFill>
                  <a:schemeClr val="tx1"/>
                </a:solidFill>
              </a:rPr>
              <a:t>stage</a:t>
            </a:r>
            <a:endParaRPr lang="en-US" sz="1800" dirty="0"/>
          </a:p>
        </p:txBody>
      </p:sp>
      <p:sp>
        <p:nvSpPr>
          <p:cNvPr id="17" name="stage caption"/>
          <p:cNvSpPr txBox="1"/>
          <p:nvPr/>
        </p:nvSpPr>
        <p:spPr>
          <a:xfrm>
            <a:off x="8162544" y="2606040"/>
            <a:ext cx="1574292" cy="960120"/>
          </a:xfrm>
          <a:prstGeom prst="rect">
            <a:avLst/>
          </a:prstGeom>
          <a:noFill/>
          <a:ln/>
        </p:spPr>
        <p:txBody>
          <a:bodyPr wrap="square" lIns="0" tIns="0" rIns="0" bIns="0" rtlCol="0" anchor="t"/>
          <a:lstStyle/>
          <a:p>
            <a:pPr algn="l" indent="0" marL="0">
              <a:buNone/>
            </a:pPr>
            <a:r>
              <a:rPr lang="en-US" sz="1200" dirty="0">
                <a:solidFill>
                  <a:schemeClr val="accent6"/>
                </a:solidFill>
              </a:rPr>
              <a:t>Rehearses against production-shaped identity, policy and data</a:t>
            </a:r>
            <a:endParaRPr lang="en-US" sz="1200" dirty="0"/>
          </a:p>
        </p:txBody>
      </p:sp>
      <p:sp>
        <p:nvSpPr>
          <p:cNvPr id="18" name="Step arrow 5"/>
          <p:cNvSpPr/>
          <p:nvPr/>
        </p:nvSpPr>
        <p:spPr>
          <a:xfrm>
            <a:off x="9773412" y="2080260"/>
            <a:ext cx="256032" cy="0"/>
          </a:xfrm>
          <a:prstGeom prst="line">
            <a:avLst/>
          </a:prstGeom>
          <a:noFill/>
          <a:ln w="19050">
            <a:solidFill>
              <a:schemeClr val="accent6"/>
            </a:solidFill>
            <a:prstDash val="solid"/>
            <a:tailEnd type="triangle"/>
          </a:ln>
        </p:spPr>
      </p:sp>
      <p:sp>
        <p:nvSpPr>
          <p:cNvPr id="19" name="prod"/>
          <p:cNvSpPr txBox="1"/>
          <p:nvPr/>
        </p:nvSpPr>
        <p:spPr>
          <a:xfrm>
            <a:off x="10066020" y="1691640"/>
            <a:ext cx="1574292" cy="777240"/>
          </a:xfrm>
          <a:prstGeom prst="roundRect">
            <a:avLst>
              <a:gd name="adj" fmla="val 9412"/>
            </a:avLst>
          </a:prstGeom>
          <a:solidFill>
            <a:schemeClr val="accent1">
              <a:alpha val="14000"/>
            </a:schemeClr>
          </a:solidFill>
          <a:ln w="15875">
            <a:solidFill>
              <a:schemeClr val="accent1"/>
            </a:solidFill>
            <a:prstDash val="solid"/>
          </a:ln>
        </p:spPr>
        <p:txBody>
          <a:bodyPr wrap="square" lIns="635" tIns="635" rIns="635" bIns="635" rtlCol="0" anchor="ctr"/>
          <a:lstStyle/>
          <a:p>
            <a:pPr algn="ctr" indent="0" marL="0">
              <a:buNone/>
            </a:pPr>
            <a:r>
              <a:rPr lang="en-US" sz="1800" b="1" dirty="0">
                <a:solidFill>
                  <a:schemeClr val="tx1"/>
                </a:solidFill>
              </a:rPr>
              <a:t>prod</a:t>
            </a:r>
            <a:endParaRPr lang="en-US" sz="1800" dirty="0"/>
          </a:p>
        </p:txBody>
      </p:sp>
      <p:sp>
        <p:nvSpPr>
          <p:cNvPr id="20" name="prod caption"/>
          <p:cNvSpPr txBox="1"/>
          <p:nvPr/>
        </p:nvSpPr>
        <p:spPr>
          <a:xfrm>
            <a:off x="10066020" y="2606040"/>
            <a:ext cx="1574292" cy="960120"/>
          </a:xfrm>
          <a:prstGeom prst="rect">
            <a:avLst/>
          </a:prstGeom>
          <a:noFill/>
          <a:ln/>
        </p:spPr>
        <p:txBody>
          <a:bodyPr wrap="square" lIns="0" tIns="0" rIns="0" bIns="0" rtlCol="0" anchor="t"/>
          <a:lstStyle/>
          <a:p>
            <a:pPr algn="l" indent="0" marL="0">
              <a:buNone/>
            </a:pPr>
            <a:r>
              <a:rPr lang="en-US" sz="1200" dirty="0">
                <a:solidFill>
                  <a:schemeClr val="accent6"/>
                </a:solidFill>
              </a:rPr>
              <a:t>Receives only a selection already verified in stage</a:t>
            </a:r>
            <a:endParaRPr lang="en-US" sz="1200" dirty="0"/>
          </a:p>
        </p:txBody>
      </p:sp>
      <p:sp>
        <p:nvSpPr>
          <p:cNvPr id="21" name="Promotion note"/>
          <p:cNvSpPr txBox="1"/>
          <p:nvPr/>
        </p:nvSpPr>
        <p:spPr>
          <a:xfrm>
            <a:off x="6259068" y="1371600"/>
            <a:ext cx="5381244" cy="274320"/>
          </a:xfrm>
          <a:prstGeom prst="rect">
            <a:avLst/>
          </a:prstGeom>
          <a:noFill/>
          <a:ln/>
        </p:spPr>
        <p:txBody>
          <a:bodyPr wrap="square" lIns="0" tIns="0" rIns="0" bIns="0" rtlCol="0" anchor="t"/>
          <a:lstStyle/>
          <a:p>
            <a:pPr algn="l" indent="0" marL="0">
              <a:buNone/>
            </a:pPr>
            <a:r>
              <a:rPr lang="en-US" sz="1200" b="1" dirty="0">
                <a:solidFill>
                  <a:schemeClr val="accent6"/>
                </a:solidFill>
              </a:rPr>
              <a:t>Each promotion is a selection merge request that names the same digest.</a:t>
            </a:r>
            <a:endParaRPr lang="en-US" sz="1200" dirty="0"/>
          </a:p>
        </p:txBody>
      </p:sp>
      <p:sp>
        <p:nvSpPr>
          <p:cNvPr id="22" name="Text 19"/>
          <p:cNvSpPr txBox="1"/>
          <p:nvPr/>
        </p:nvSpPr>
        <p:spPr>
          <a:xfrm>
            <a:off x="548640" y="3840480"/>
            <a:ext cx="3657600" cy="237744"/>
          </a:xfrm>
          <a:prstGeom prst="rect">
            <a:avLst/>
          </a:prstGeom>
          <a:noFill/>
          <a:ln/>
        </p:spPr>
        <p:txBody>
          <a:bodyPr wrap="square" lIns="0" tIns="0" rIns="0" bIns="0" rtlCol="0" anchor="t"/>
          <a:lstStyle/>
          <a:p>
            <a:pPr algn="l" indent="0" marL="0">
              <a:buNone/>
            </a:pPr>
            <a:r>
              <a:rPr lang="en-US" sz="1050" b="1" spc="100" kern="0" dirty="0">
                <a:solidFill>
                  <a:schemeClr val="accent6"/>
                </a:solidFill>
              </a:rPr>
              <a:t>TWO RECOVERY PATHS</a:t>
            </a:r>
            <a:endParaRPr lang="en-US" sz="1050" dirty="0"/>
          </a:p>
        </p:txBody>
      </p:sp>
      <p:sp>
        <p:nvSpPr>
          <p:cNvPr id="23" name="Routine rollback card"/>
          <p:cNvSpPr/>
          <p:nvPr/>
        </p:nvSpPr>
        <p:spPr>
          <a:xfrm>
            <a:off x="548640" y="4114800"/>
            <a:ext cx="5385816" cy="1783080"/>
          </a:xfrm>
          <a:prstGeom prst="roundRect">
            <a:avLst>
              <a:gd name="adj" fmla="val 5128"/>
            </a:avLst>
          </a:prstGeom>
          <a:solidFill>
            <a:schemeClr val="bg2"/>
          </a:solidFill>
          <a:ln/>
        </p:spPr>
      </p:sp>
      <p:sp>
        <p:nvSpPr>
          <p:cNvPr id="24" name="Routine rollback circle"/>
          <p:cNvSpPr/>
          <p:nvPr/>
        </p:nvSpPr>
        <p:spPr>
          <a:xfrm>
            <a:off x="822960" y="4343400"/>
            <a:ext cx="566928" cy="566928"/>
          </a:xfrm>
          <a:prstGeom prst="ellipse">
            <a:avLst/>
          </a:prstGeom>
          <a:solidFill>
            <a:schemeClr val="accent1"/>
          </a:solidFill>
          <a:ln/>
        </p:spPr>
      </p:sp>
      <p:pic>
        <p:nvPicPr>
          <p:cNvPr id="25" name="Routine rollback icon" descr="preencoded.png">    </p:cNvPr>
          <p:cNvPicPr>
            <a:picLocks noChangeAspect="1"/>
          </p:cNvPicPr>
          <p:nvPr/>
        </p:nvPicPr>
        <p:blipFill>
          <a:blip r:embed="rId1"/>
          <a:stretch>
            <a:fillRect/>
          </a:stretch>
        </p:blipFill>
        <p:spPr>
          <a:xfrm>
            <a:off x="964692" y="4485132"/>
            <a:ext cx="283464" cy="283464"/>
          </a:xfrm>
          <a:prstGeom prst="rect">
            <a:avLst/>
          </a:prstGeom>
        </p:spPr>
      </p:pic>
      <p:sp>
        <p:nvSpPr>
          <p:cNvPr id="26" name="Routine rollback heading"/>
          <p:cNvSpPr txBox="1"/>
          <p:nvPr/>
        </p:nvSpPr>
        <p:spPr>
          <a:xfrm>
            <a:off x="1554480" y="4343400"/>
            <a:ext cx="4105656" cy="566928"/>
          </a:xfrm>
          <a:prstGeom prst="rect">
            <a:avLst/>
          </a:prstGeom>
          <a:noFill/>
          <a:ln/>
        </p:spPr>
        <p:txBody>
          <a:bodyPr wrap="square" lIns="0" tIns="0" rIns="0" bIns="0" rtlCol="0" anchor="ctr"/>
          <a:lstStyle/>
          <a:p>
            <a:pPr indent="0" marL="0">
              <a:buNone/>
            </a:pPr>
            <a:r>
              <a:rPr lang="en-US" sz="1800" b="1" dirty="0">
                <a:solidFill>
                  <a:schemeClr val="tx2"/>
                </a:solidFill>
              </a:rPr>
              <a:t>Routine rollback</a:t>
            </a:r>
            <a:endParaRPr lang="en-US" sz="1800" dirty="0"/>
          </a:p>
        </p:txBody>
      </p:sp>
      <p:sp>
        <p:nvSpPr>
          <p:cNvPr id="27" name="Routine rollback text"/>
          <p:cNvSpPr txBox="1"/>
          <p:nvPr/>
        </p:nvSpPr>
        <p:spPr>
          <a:xfrm>
            <a:off x="822960" y="5029200"/>
            <a:ext cx="4837176" cy="777240"/>
          </a:xfrm>
          <a:prstGeom prst="rect">
            <a:avLst/>
          </a:prstGeom>
          <a:noFill/>
          <a:ln/>
        </p:spPr>
        <p:txBody>
          <a:bodyPr wrap="square" lIns="0" tIns="0" rIns="0" bIns="0" rtlCol="0" anchor="t"/>
          <a:lstStyle/>
          <a:p>
            <a:pPr algn="l" indent="0" marL="0">
              <a:buNone/>
            </a:pPr>
            <a:r>
              <a:rPr lang="en-US" sz="1400" dirty="0">
                <a:solidFill>
                  <a:schemeClr val="tx1"/>
                </a:solidFill>
              </a:rPr>
              <a:t>A selection merge request for a retained compatible artifact, through the normal pipeline and its verification.</a:t>
            </a:r>
            <a:endParaRPr lang="en-US" sz="1400" dirty="0"/>
          </a:p>
        </p:txBody>
      </p:sp>
      <p:sp>
        <p:nvSpPr>
          <p:cNvPr id="28" name="Emergency change card"/>
          <p:cNvSpPr/>
          <p:nvPr/>
        </p:nvSpPr>
        <p:spPr>
          <a:xfrm>
            <a:off x="6254496" y="4114800"/>
            <a:ext cx="5385816" cy="1783080"/>
          </a:xfrm>
          <a:prstGeom prst="roundRect">
            <a:avLst>
              <a:gd name="adj" fmla="val 5128"/>
            </a:avLst>
          </a:prstGeom>
          <a:solidFill>
            <a:schemeClr val="bg2"/>
          </a:solidFill>
          <a:ln/>
        </p:spPr>
      </p:sp>
      <p:sp>
        <p:nvSpPr>
          <p:cNvPr id="29" name="Emergency change circle"/>
          <p:cNvSpPr/>
          <p:nvPr/>
        </p:nvSpPr>
        <p:spPr>
          <a:xfrm>
            <a:off x="6528816" y="4343400"/>
            <a:ext cx="566928" cy="566928"/>
          </a:xfrm>
          <a:prstGeom prst="ellipse">
            <a:avLst/>
          </a:prstGeom>
          <a:solidFill>
            <a:schemeClr val="accent2"/>
          </a:solidFill>
          <a:ln/>
        </p:spPr>
      </p:sp>
      <p:pic>
        <p:nvPicPr>
          <p:cNvPr id="30" name="Emergency change icon" descr="preencoded.png">    </p:cNvPr>
          <p:cNvPicPr>
            <a:picLocks noChangeAspect="1"/>
          </p:cNvPicPr>
          <p:nvPr/>
        </p:nvPicPr>
        <p:blipFill>
          <a:blip r:embed="rId2"/>
          <a:stretch>
            <a:fillRect/>
          </a:stretch>
        </p:blipFill>
        <p:spPr>
          <a:xfrm>
            <a:off x="6670548" y="4485132"/>
            <a:ext cx="283464" cy="283464"/>
          </a:xfrm>
          <a:prstGeom prst="rect">
            <a:avLst/>
          </a:prstGeom>
        </p:spPr>
      </p:pic>
      <p:sp>
        <p:nvSpPr>
          <p:cNvPr id="31" name="Emergency change heading"/>
          <p:cNvSpPr txBox="1"/>
          <p:nvPr/>
        </p:nvSpPr>
        <p:spPr>
          <a:xfrm>
            <a:off x="7260336" y="4343400"/>
            <a:ext cx="4105656" cy="566928"/>
          </a:xfrm>
          <a:prstGeom prst="rect">
            <a:avLst/>
          </a:prstGeom>
          <a:noFill/>
          <a:ln/>
        </p:spPr>
        <p:txBody>
          <a:bodyPr wrap="square" lIns="0" tIns="0" rIns="0" bIns="0" rtlCol="0" anchor="ctr"/>
          <a:lstStyle/>
          <a:p>
            <a:pPr indent="0" marL="0">
              <a:buNone/>
            </a:pPr>
            <a:r>
              <a:rPr lang="en-US" sz="1800" b="1" dirty="0">
                <a:solidFill>
                  <a:schemeClr val="tx2"/>
                </a:solidFill>
              </a:rPr>
              <a:t>Emergency change</a:t>
            </a:r>
            <a:endParaRPr lang="en-US" sz="1800" dirty="0"/>
          </a:p>
        </p:txBody>
      </p:sp>
      <p:sp>
        <p:nvSpPr>
          <p:cNvPr id="32" name="Emergency change text"/>
          <p:cNvSpPr txBox="1"/>
          <p:nvPr/>
        </p:nvSpPr>
        <p:spPr>
          <a:xfrm>
            <a:off x="6528816" y="5029200"/>
            <a:ext cx="4837176" cy="777240"/>
          </a:xfrm>
          <a:prstGeom prst="rect">
            <a:avLst/>
          </a:prstGeom>
          <a:noFill/>
          <a:ln/>
        </p:spPr>
        <p:txBody>
          <a:bodyPr wrap="square" lIns="0" tIns="0" rIns="0" bIns="0" rtlCol="0" anchor="t"/>
          <a:lstStyle/>
          <a:p>
            <a:pPr algn="l" indent="0" marL="0">
              <a:buNone/>
            </a:pPr>
            <a:r>
              <a:rPr lang="en-US" sz="1400" dirty="0">
                <a:solidFill>
                  <a:schemeClr val="tx1"/>
                </a:solidFill>
              </a:rPr>
              <a:t>Outside the pipeline when it is unavailable or too slow. Needs an operator, an audit record and immediate reconciliation into configuration.</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Every object has exactly one writer</a:t>
            </a:r>
            <a:endParaRPr lang="en-US" sz="3600" dirty="0"/>
          </a:p>
        </p:txBody>
      </p:sp>
      <p:sp>
        <p:nvSpPr>
          <p:cNvPr id="4" name="Source repository card"/>
          <p:cNvSpPr/>
          <p:nvPr/>
        </p:nvSpPr>
        <p:spPr>
          <a:xfrm>
            <a:off x="548640" y="1600200"/>
            <a:ext cx="1925726" cy="2377440"/>
          </a:xfrm>
          <a:prstGeom prst="roundRect">
            <a:avLst>
              <a:gd name="adj" fmla="val 4748"/>
            </a:avLst>
          </a:prstGeom>
          <a:solidFill>
            <a:schemeClr val="accent1">
              <a:alpha val="10000"/>
            </a:schemeClr>
          </a:solidFill>
          <a:ln/>
        </p:spPr>
      </p:sp>
      <p:sp>
        <p:nvSpPr>
          <p:cNvPr id="5" name="Text 2"/>
          <p:cNvSpPr txBox="1"/>
          <p:nvPr/>
        </p:nvSpPr>
        <p:spPr>
          <a:xfrm>
            <a:off x="731520" y="1764792"/>
            <a:ext cx="1559966" cy="237744"/>
          </a:xfrm>
          <a:prstGeom prst="rect">
            <a:avLst/>
          </a:prstGeom>
          <a:noFill/>
          <a:ln/>
        </p:spPr>
        <p:txBody>
          <a:bodyPr wrap="square" lIns="0" tIns="0" rIns="0" bIns="0" rtlCol="0" anchor="t"/>
          <a:lstStyle/>
          <a:p>
            <a:pPr algn="l" indent="0" marL="0">
              <a:buNone/>
            </a:pPr>
            <a:r>
              <a:rPr lang="en-US" sz="1000" b="1" spc="100" kern="0" dirty="0">
                <a:solidFill>
                  <a:schemeClr val="accent6"/>
                </a:solidFill>
              </a:rPr>
              <a:t>COMPONENT TEAM</a:t>
            </a:r>
            <a:endParaRPr lang="en-US" sz="1000" dirty="0"/>
          </a:p>
        </p:txBody>
      </p:sp>
      <p:sp>
        <p:nvSpPr>
          <p:cNvPr id="6" name="Source repository heading"/>
          <p:cNvSpPr txBox="1"/>
          <p:nvPr/>
        </p:nvSpPr>
        <p:spPr>
          <a:xfrm>
            <a:off x="731520" y="2057400"/>
            <a:ext cx="1559966" cy="640080"/>
          </a:xfrm>
          <a:prstGeom prst="rect">
            <a:avLst/>
          </a:prstGeom>
          <a:noFill/>
          <a:ln/>
        </p:spPr>
        <p:txBody>
          <a:bodyPr wrap="square" lIns="0" tIns="0" rIns="0" bIns="0" rtlCol="0" anchor="t"/>
          <a:lstStyle/>
          <a:p>
            <a:pPr algn="l" indent="0" marL="0">
              <a:buNone/>
            </a:pPr>
            <a:r>
              <a:rPr lang="en-US" sz="1600" b="1" dirty="0">
                <a:solidFill>
                  <a:schemeClr val="tx2"/>
                </a:solidFill>
              </a:rPr>
              <a:t>Source repository</a:t>
            </a:r>
            <a:endParaRPr lang="en-US" sz="1600" dirty="0"/>
          </a:p>
        </p:txBody>
      </p:sp>
      <p:sp>
        <p:nvSpPr>
          <p:cNvPr id="7" name="Source repository rule"/>
          <p:cNvSpPr txBox="1"/>
          <p:nvPr/>
        </p:nvSpPr>
        <p:spPr>
          <a:xfrm>
            <a:off x="731520" y="2743200"/>
            <a:ext cx="1559966" cy="1143000"/>
          </a:xfrm>
          <a:prstGeom prst="rect">
            <a:avLst/>
          </a:prstGeom>
          <a:noFill/>
          <a:ln/>
        </p:spPr>
        <p:txBody>
          <a:bodyPr wrap="square" lIns="0" tIns="0" rIns="0" bIns="0" rtlCol="0" anchor="t"/>
          <a:lstStyle/>
          <a:p>
            <a:pPr algn="l" indent="0" marL="0">
              <a:buNone/>
            </a:pPr>
            <a:r>
              <a:rPr lang="en-US" sz="1300" dirty="0">
                <a:solidFill>
                  <a:schemeClr val="tx1"/>
                </a:solidFill>
              </a:rPr>
              <a:t>Behavior, tool contracts, prompts and skills.</a:t>
            </a:r>
            <a:endParaRPr lang="en-US" sz="1300" dirty="0"/>
          </a:p>
        </p:txBody>
      </p:sp>
      <p:sp>
        <p:nvSpPr>
          <p:cNvPr id="8" name="Stage arrow 1"/>
          <p:cNvSpPr/>
          <p:nvPr/>
        </p:nvSpPr>
        <p:spPr>
          <a:xfrm>
            <a:off x="2520086" y="2788920"/>
            <a:ext cx="274320" cy="0"/>
          </a:xfrm>
          <a:prstGeom prst="line">
            <a:avLst/>
          </a:prstGeom>
          <a:noFill/>
          <a:ln w="19050">
            <a:solidFill>
              <a:schemeClr val="accent6"/>
            </a:solidFill>
            <a:prstDash val="solid"/>
            <a:tailEnd type="triangle"/>
          </a:ln>
        </p:spPr>
      </p:sp>
      <p:sp>
        <p:nvSpPr>
          <p:cNvPr id="9" name="Artifact stores card"/>
          <p:cNvSpPr/>
          <p:nvPr/>
        </p:nvSpPr>
        <p:spPr>
          <a:xfrm>
            <a:off x="2840126" y="1600200"/>
            <a:ext cx="1925726" cy="2377440"/>
          </a:xfrm>
          <a:prstGeom prst="roundRect">
            <a:avLst>
              <a:gd name="adj" fmla="val 4748"/>
            </a:avLst>
          </a:prstGeom>
          <a:solidFill>
            <a:schemeClr val="accent1">
              <a:alpha val="10000"/>
            </a:schemeClr>
          </a:solidFill>
          <a:ln/>
        </p:spPr>
      </p:sp>
      <p:sp>
        <p:nvSpPr>
          <p:cNvPr id="10" name="Text 7"/>
          <p:cNvSpPr txBox="1"/>
          <p:nvPr/>
        </p:nvSpPr>
        <p:spPr>
          <a:xfrm>
            <a:off x="3023006" y="1764792"/>
            <a:ext cx="1559966" cy="237744"/>
          </a:xfrm>
          <a:prstGeom prst="rect">
            <a:avLst/>
          </a:prstGeom>
          <a:noFill/>
          <a:ln/>
        </p:spPr>
        <p:txBody>
          <a:bodyPr wrap="square" lIns="0" tIns="0" rIns="0" bIns="0" rtlCol="0" anchor="t"/>
          <a:lstStyle/>
          <a:p>
            <a:pPr algn="l" indent="0" marL="0">
              <a:buNone/>
            </a:pPr>
            <a:r>
              <a:rPr lang="en-US" sz="1000" b="1" spc="100" kern="0" dirty="0">
                <a:solidFill>
                  <a:schemeClr val="accent6"/>
                </a:solidFill>
              </a:rPr>
              <a:t>PUBLISHER CI</a:t>
            </a:r>
            <a:endParaRPr lang="en-US" sz="1000" dirty="0"/>
          </a:p>
        </p:txBody>
      </p:sp>
      <p:sp>
        <p:nvSpPr>
          <p:cNvPr id="11" name="Artifact stores heading"/>
          <p:cNvSpPr txBox="1"/>
          <p:nvPr/>
        </p:nvSpPr>
        <p:spPr>
          <a:xfrm>
            <a:off x="3023006" y="2057400"/>
            <a:ext cx="1559966" cy="640080"/>
          </a:xfrm>
          <a:prstGeom prst="rect">
            <a:avLst/>
          </a:prstGeom>
          <a:noFill/>
          <a:ln/>
        </p:spPr>
        <p:txBody>
          <a:bodyPr wrap="square" lIns="0" tIns="0" rIns="0" bIns="0" rtlCol="0" anchor="t"/>
          <a:lstStyle/>
          <a:p>
            <a:pPr algn="l" indent="0" marL="0">
              <a:buNone/>
            </a:pPr>
            <a:r>
              <a:rPr lang="en-US" sz="1600" b="1" dirty="0">
                <a:solidFill>
                  <a:schemeClr val="tx2"/>
                </a:solidFill>
              </a:rPr>
              <a:t>Artifact stores</a:t>
            </a:r>
            <a:endParaRPr lang="en-US" sz="1600" dirty="0"/>
          </a:p>
        </p:txBody>
      </p:sp>
      <p:sp>
        <p:nvSpPr>
          <p:cNvPr id="12" name="Artifact stores rule"/>
          <p:cNvSpPr txBox="1"/>
          <p:nvPr/>
        </p:nvSpPr>
        <p:spPr>
          <a:xfrm>
            <a:off x="3023006" y="2743200"/>
            <a:ext cx="1559966" cy="1143000"/>
          </a:xfrm>
          <a:prstGeom prst="rect">
            <a:avLst/>
          </a:prstGeom>
          <a:noFill/>
          <a:ln/>
        </p:spPr>
        <p:txBody>
          <a:bodyPr wrap="square" lIns="0" tIns="0" rIns="0" bIns="0" rtlCol="0" anchor="t"/>
          <a:lstStyle/>
          <a:p>
            <a:pPr algn="l" indent="0" marL="0">
              <a:buNone/>
            </a:pPr>
            <a:r>
              <a:rPr lang="en-US" sz="1300" dirty="0">
                <a:solidFill>
                  <a:schemeClr val="tx1"/>
                </a:solidFill>
              </a:rPr>
              <a:t>Released bytes in ECR, S3 or the GitLab package registry. Immutable.</a:t>
            </a:r>
            <a:endParaRPr lang="en-US" sz="1300" dirty="0"/>
          </a:p>
        </p:txBody>
      </p:sp>
      <p:sp>
        <p:nvSpPr>
          <p:cNvPr id="13" name="Stage arrow 2"/>
          <p:cNvSpPr/>
          <p:nvPr/>
        </p:nvSpPr>
        <p:spPr>
          <a:xfrm>
            <a:off x="4811573" y="2788920"/>
            <a:ext cx="274320" cy="0"/>
          </a:xfrm>
          <a:prstGeom prst="line">
            <a:avLst/>
          </a:prstGeom>
          <a:noFill/>
          <a:ln w="19050">
            <a:solidFill>
              <a:schemeClr val="accent6"/>
            </a:solidFill>
            <a:prstDash val="solid"/>
            <a:tailEnd type="triangle"/>
          </a:ln>
        </p:spPr>
      </p:sp>
      <p:sp>
        <p:nvSpPr>
          <p:cNvPr id="14" name="Environment configuration card"/>
          <p:cNvSpPr/>
          <p:nvPr/>
        </p:nvSpPr>
        <p:spPr>
          <a:xfrm>
            <a:off x="5131613" y="1600200"/>
            <a:ext cx="1925726" cy="2377440"/>
          </a:xfrm>
          <a:prstGeom prst="roundRect">
            <a:avLst>
              <a:gd name="adj" fmla="val 4748"/>
            </a:avLst>
          </a:prstGeom>
          <a:solidFill>
            <a:schemeClr val="accent1">
              <a:alpha val="10000"/>
            </a:schemeClr>
          </a:solidFill>
          <a:ln/>
        </p:spPr>
      </p:sp>
      <p:sp>
        <p:nvSpPr>
          <p:cNvPr id="15" name="Text 12"/>
          <p:cNvSpPr txBox="1"/>
          <p:nvPr/>
        </p:nvSpPr>
        <p:spPr>
          <a:xfrm>
            <a:off x="5314493" y="1764792"/>
            <a:ext cx="1559966" cy="237744"/>
          </a:xfrm>
          <a:prstGeom prst="rect">
            <a:avLst/>
          </a:prstGeom>
          <a:noFill/>
          <a:ln/>
        </p:spPr>
        <p:txBody>
          <a:bodyPr wrap="square" lIns="0" tIns="0" rIns="0" bIns="0" rtlCol="0" anchor="t"/>
          <a:lstStyle/>
          <a:p>
            <a:pPr algn="l" indent="0" marL="0">
              <a:buNone/>
            </a:pPr>
            <a:r>
              <a:rPr lang="en-US" sz="1000" b="1" spc="100" kern="0" dirty="0">
                <a:solidFill>
                  <a:schemeClr val="accent6"/>
                </a:solidFill>
              </a:rPr>
              <a:t>ENVIRONMENT OWNERS</a:t>
            </a:r>
            <a:endParaRPr lang="en-US" sz="1000" dirty="0"/>
          </a:p>
        </p:txBody>
      </p:sp>
      <p:sp>
        <p:nvSpPr>
          <p:cNvPr id="16" name="Environment configuration heading"/>
          <p:cNvSpPr txBox="1"/>
          <p:nvPr/>
        </p:nvSpPr>
        <p:spPr>
          <a:xfrm>
            <a:off x="5314493" y="2057400"/>
            <a:ext cx="1559966" cy="640080"/>
          </a:xfrm>
          <a:prstGeom prst="rect">
            <a:avLst/>
          </a:prstGeom>
          <a:noFill/>
          <a:ln/>
        </p:spPr>
        <p:txBody>
          <a:bodyPr wrap="square" lIns="0" tIns="0" rIns="0" bIns="0" rtlCol="0" anchor="t"/>
          <a:lstStyle/>
          <a:p>
            <a:pPr algn="l" indent="0" marL="0">
              <a:buNone/>
            </a:pPr>
            <a:r>
              <a:rPr lang="en-US" sz="1600" b="1" dirty="0">
                <a:solidFill>
                  <a:schemeClr val="tx2"/>
                </a:solidFill>
              </a:rPr>
              <a:t>Environment configuration</a:t>
            </a:r>
            <a:endParaRPr lang="en-US" sz="1600" dirty="0"/>
          </a:p>
        </p:txBody>
      </p:sp>
      <p:sp>
        <p:nvSpPr>
          <p:cNvPr id="17" name="Environment configuration rule"/>
          <p:cNvSpPr txBox="1"/>
          <p:nvPr/>
        </p:nvSpPr>
        <p:spPr>
          <a:xfrm>
            <a:off x="5314493" y="2743200"/>
            <a:ext cx="1559966" cy="1143000"/>
          </a:xfrm>
          <a:prstGeom prst="rect">
            <a:avLst/>
          </a:prstGeom>
          <a:noFill/>
          <a:ln/>
        </p:spPr>
        <p:txBody>
          <a:bodyPr wrap="square" lIns="0" tIns="0" rIns="0" bIns="0" rtlCol="0" anchor="t"/>
          <a:lstStyle/>
          <a:p>
            <a:pPr algn="l" indent="0" marL="0">
              <a:buNone/>
            </a:pPr>
            <a:r>
              <a:rPr lang="en-US" sz="1300" dirty="0">
                <a:solidFill>
                  <a:schemeClr val="tx1"/>
                </a:solidFill>
              </a:rPr>
              <a:t>Version, placement and bindings, changed by a selection MR.</a:t>
            </a:r>
            <a:endParaRPr lang="en-US" sz="1300" dirty="0"/>
          </a:p>
        </p:txBody>
      </p:sp>
      <p:sp>
        <p:nvSpPr>
          <p:cNvPr id="18" name="Stage arrow 3"/>
          <p:cNvSpPr/>
          <p:nvPr/>
        </p:nvSpPr>
        <p:spPr>
          <a:xfrm>
            <a:off x="7103059" y="2788920"/>
            <a:ext cx="274320" cy="0"/>
          </a:xfrm>
          <a:prstGeom prst="line">
            <a:avLst/>
          </a:prstGeom>
          <a:noFill/>
          <a:ln w="19050">
            <a:solidFill>
              <a:schemeClr val="accent6"/>
            </a:solidFill>
            <a:prstDash val="solid"/>
            <a:tailEnd type="triangle"/>
          </a:ln>
        </p:spPr>
      </p:sp>
      <p:sp>
        <p:nvSpPr>
          <p:cNvPr id="19" name="Helm release card"/>
          <p:cNvSpPr/>
          <p:nvPr/>
        </p:nvSpPr>
        <p:spPr>
          <a:xfrm>
            <a:off x="7423099" y="1600200"/>
            <a:ext cx="1925726" cy="2377440"/>
          </a:xfrm>
          <a:prstGeom prst="roundRect">
            <a:avLst>
              <a:gd name="adj" fmla="val 4748"/>
            </a:avLst>
          </a:prstGeom>
          <a:solidFill>
            <a:schemeClr val="accent1">
              <a:alpha val="10000"/>
            </a:schemeClr>
          </a:solidFill>
          <a:ln/>
        </p:spPr>
      </p:sp>
      <p:sp>
        <p:nvSpPr>
          <p:cNvPr id="20" name="Text 17"/>
          <p:cNvSpPr txBox="1"/>
          <p:nvPr/>
        </p:nvSpPr>
        <p:spPr>
          <a:xfrm>
            <a:off x="7605979" y="1764792"/>
            <a:ext cx="1559966" cy="237744"/>
          </a:xfrm>
          <a:prstGeom prst="rect">
            <a:avLst/>
          </a:prstGeom>
          <a:noFill/>
          <a:ln/>
        </p:spPr>
        <p:txBody>
          <a:bodyPr wrap="square" lIns="0" tIns="0" rIns="0" bIns="0" rtlCol="0" anchor="t"/>
          <a:lstStyle/>
          <a:p>
            <a:pPr algn="l" indent="0" marL="0">
              <a:buNone/>
            </a:pPr>
            <a:r>
              <a:rPr lang="en-US" sz="1000" b="1" spc="100" kern="0" dirty="0">
                <a:solidFill>
                  <a:schemeClr val="accent6"/>
                </a:solidFill>
              </a:rPr>
              <a:t>DELIVERY PIPELINE</a:t>
            </a:r>
            <a:endParaRPr lang="en-US" sz="1000" dirty="0"/>
          </a:p>
        </p:txBody>
      </p:sp>
      <p:sp>
        <p:nvSpPr>
          <p:cNvPr id="21" name="Helm release heading"/>
          <p:cNvSpPr txBox="1"/>
          <p:nvPr/>
        </p:nvSpPr>
        <p:spPr>
          <a:xfrm>
            <a:off x="7605979" y="2057400"/>
            <a:ext cx="1559966" cy="640080"/>
          </a:xfrm>
          <a:prstGeom prst="rect">
            <a:avLst/>
          </a:prstGeom>
          <a:noFill/>
          <a:ln/>
        </p:spPr>
        <p:txBody>
          <a:bodyPr wrap="square" lIns="0" tIns="0" rIns="0" bIns="0" rtlCol="0" anchor="t"/>
          <a:lstStyle/>
          <a:p>
            <a:pPr algn="l" indent="0" marL="0">
              <a:buNone/>
            </a:pPr>
            <a:r>
              <a:rPr lang="en-US" sz="1600" b="1" dirty="0">
                <a:solidFill>
                  <a:schemeClr val="tx2"/>
                </a:solidFill>
              </a:rPr>
              <a:t>Helm release</a:t>
            </a:r>
            <a:endParaRPr lang="en-US" sz="1600" dirty="0"/>
          </a:p>
        </p:txBody>
      </p:sp>
      <p:sp>
        <p:nvSpPr>
          <p:cNvPr id="22" name="Helm release rule"/>
          <p:cNvSpPr txBox="1"/>
          <p:nvPr/>
        </p:nvSpPr>
        <p:spPr>
          <a:xfrm>
            <a:off x="7605979" y="2743200"/>
            <a:ext cx="1559966" cy="1143000"/>
          </a:xfrm>
          <a:prstGeom prst="rect">
            <a:avLst/>
          </a:prstGeom>
          <a:noFill/>
          <a:ln/>
        </p:spPr>
        <p:txBody>
          <a:bodyPr wrap="square" lIns="0" tIns="0" rIns="0" bIns="0" rtlCol="0" anchor="t"/>
          <a:lstStyle/>
          <a:p>
            <a:pPr algn="l" indent="0" marL="0">
              <a:buNone/>
            </a:pPr>
            <a:r>
              <a:rPr lang="en-US" sz="1300" dirty="0">
                <a:solidFill>
                  <a:schemeClr val="tx1"/>
                </a:solidFill>
              </a:rPr>
              <a:t>Declared Kubernetes resources. No second writer.</a:t>
            </a:r>
            <a:endParaRPr lang="en-US" sz="1300" dirty="0"/>
          </a:p>
        </p:txBody>
      </p:sp>
      <p:sp>
        <p:nvSpPr>
          <p:cNvPr id="23" name="Stage arrow 4"/>
          <p:cNvSpPr/>
          <p:nvPr/>
        </p:nvSpPr>
        <p:spPr>
          <a:xfrm>
            <a:off x="9394546" y="2788920"/>
            <a:ext cx="274320" cy="0"/>
          </a:xfrm>
          <a:prstGeom prst="line">
            <a:avLst/>
          </a:prstGeom>
          <a:noFill/>
          <a:ln w="19050">
            <a:solidFill>
              <a:schemeClr val="accent6"/>
            </a:solidFill>
            <a:prstDash val="solid"/>
            <a:tailEnd type="triangle"/>
          </a:ln>
        </p:spPr>
      </p:sp>
      <p:sp>
        <p:nvSpPr>
          <p:cNvPr id="24" name="Generated resources card"/>
          <p:cNvSpPr/>
          <p:nvPr/>
        </p:nvSpPr>
        <p:spPr>
          <a:xfrm>
            <a:off x="9714586" y="1600200"/>
            <a:ext cx="1925726" cy="2377440"/>
          </a:xfrm>
          <a:prstGeom prst="roundRect">
            <a:avLst>
              <a:gd name="adj" fmla="val 4748"/>
            </a:avLst>
          </a:prstGeom>
          <a:solidFill>
            <a:schemeClr val="accent1">
              <a:alpha val="10000"/>
            </a:schemeClr>
          </a:solidFill>
          <a:ln/>
        </p:spPr>
      </p:sp>
      <p:sp>
        <p:nvSpPr>
          <p:cNvPr id="25" name="Text 22"/>
          <p:cNvSpPr txBox="1"/>
          <p:nvPr/>
        </p:nvSpPr>
        <p:spPr>
          <a:xfrm>
            <a:off x="9897466" y="1764792"/>
            <a:ext cx="1559966" cy="237744"/>
          </a:xfrm>
          <a:prstGeom prst="rect">
            <a:avLst/>
          </a:prstGeom>
          <a:noFill/>
          <a:ln/>
        </p:spPr>
        <p:txBody>
          <a:bodyPr wrap="square" lIns="0" tIns="0" rIns="0" bIns="0" rtlCol="0" anchor="t"/>
          <a:lstStyle/>
          <a:p>
            <a:pPr algn="l" indent="0" marL="0">
              <a:buNone/>
            </a:pPr>
            <a:r>
              <a:rPr lang="en-US" sz="1000" b="1" spc="100" kern="0" dirty="0">
                <a:solidFill>
                  <a:schemeClr val="accent6"/>
                </a:solidFill>
              </a:rPr>
              <a:t>CONTROLLERS</a:t>
            </a:r>
            <a:endParaRPr lang="en-US" sz="1000" dirty="0"/>
          </a:p>
        </p:txBody>
      </p:sp>
      <p:sp>
        <p:nvSpPr>
          <p:cNvPr id="26" name="Generated resources heading"/>
          <p:cNvSpPr txBox="1"/>
          <p:nvPr/>
        </p:nvSpPr>
        <p:spPr>
          <a:xfrm>
            <a:off x="9897466" y="2057400"/>
            <a:ext cx="1559966" cy="640080"/>
          </a:xfrm>
          <a:prstGeom prst="rect">
            <a:avLst/>
          </a:prstGeom>
          <a:noFill/>
          <a:ln/>
        </p:spPr>
        <p:txBody>
          <a:bodyPr wrap="square" lIns="0" tIns="0" rIns="0" bIns="0" rtlCol="0" anchor="t"/>
          <a:lstStyle/>
          <a:p>
            <a:pPr algn="l" indent="0" marL="0">
              <a:buNone/>
            </a:pPr>
            <a:r>
              <a:rPr lang="en-US" sz="1600" b="1" dirty="0">
                <a:solidFill>
                  <a:schemeClr val="tx2"/>
                </a:solidFill>
              </a:rPr>
              <a:t>Generated resources</a:t>
            </a:r>
            <a:endParaRPr lang="en-US" sz="1600" dirty="0"/>
          </a:p>
        </p:txBody>
      </p:sp>
      <p:sp>
        <p:nvSpPr>
          <p:cNvPr id="27" name="Generated resources rule"/>
          <p:cNvSpPr txBox="1"/>
          <p:nvPr/>
        </p:nvSpPr>
        <p:spPr>
          <a:xfrm>
            <a:off x="9897466" y="2743200"/>
            <a:ext cx="1559966" cy="1143000"/>
          </a:xfrm>
          <a:prstGeom prst="rect">
            <a:avLst/>
          </a:prstGeom>
          <a:noFill/>
          <a:ln/>
        </p:spPr>
        <p:txBody>
          <a:bodyPr wrap="square" lIns="0" tIns="0" rIns="0" bIns="0" rtlCol="0" anchor="t"/>
          <a:lstStyle/>
          <a:p>
            <a:pPr algn="l" indent="0" marL="0">
              <a:buNone/>
            </a:pPr>
            <a:r>
              <a:rPr lang="en-US" sz="1300" dirty="0">
                <a:solidFill>
                  <a:schemeClr val="tx1"/>
                </a:solidFill>
              </a:rPr>
              <a:t>Children and status. The pipeline does not patch them.</a:t>
            </a:r>
            <a:endParaRPr lang="en-US" sz="1300" dirty="0"/>
          </a:p>
        </p:txBody>
      </p:sp>
      <p:sp>
        <p:nvSpPr>
          <p:cNvPr id="28" name="Text 25"/>
          <p:cNvSpPr txBox="1"/>
          <p:nvPr/>
        </p:nvSpPr>
        <p:spPr>
          <a:xfrm>
            <a:off x="548640" y="4343400"/>
            <a:ext cx="5486400" cy="237744"/>
          </a:xfrm>
          <a:prstGeom prst="rect">
            <a:avLst/>
          </a:prstGeom>
          <a:noFill/>
          <a:ln/>
        </p:spPr>
        <p:txBody>
          <a:bodyPr wrap="square" lIns="0" tIns="0" rIns="0" bIns="0" rtlCol="0" anchor="t"/>
          <a:lstStyle/>
          <a:p>
            <a:pPr algn="l" indent="0" marL="0">
              <a:buNone/>
            </a:pPr>
            <a:r>
              <a:rPr lang="en-US" sz="1050" b="1" spc="100" kern="0" dirty="0">
                <a:solidFill>
                  <a:schemeClr val="accent6"/>
                </a:solidFill>
              </a:rPr>
              <a:t>NOT WRITERS OF PRODUCTION OBJECTS</a:t>
            </a:r>
            <a:endParaRPr lang="en-US" sz="1050" dirty="0"/>
          </a:p>
        </p:txBody>
      </p:sp>
      <p:sp>
        <p:nvSpPr>
          <p:cNvPr id="29" name="Registry CLI or its deployment integration card"/>
          <p:cNvSpPr/>
          <p:nvPr/>
        </p:nvSpPr>
        <p:spPr>
          <a:xfrm>
            <a:off x="548640" y="4617720"/>
            <a:ext cx="3514344" cy="1371600"/>
          </a:xfrm>
          <a:prstGeom prst="roundRect">
            <a:avLst>
              <a:gd name="adj" fmla="val 6667"/>
            </a:avLst>
          </a:prstGeom>
          <a:solidFill>
            <a:schemeClr val="accent5">
              <a:alpha val="7000"/>
            </a:schemeClr>
          </a:solidFill>
          <a:ln w="15875">
            <a:solidFill>
              <a:schemeClr val="accent5"/>
            </a:solidFill>
            <a:prstDash val="dash"/>
          </a:ln>
        </p:spPr>
      </p:sp>
      <p:sp>
        <p:nvSpPr>
          <p:cNvPr id="30" name="Registry CLI or its deployment integration circle"/>
          <p:cNvSpPr/>
          <p:nvPr/>
        </p:nvSpPr>
        <p:spPr>
          <a:xfrm>
            <a:off x="749808" y="4800600"/>
            <a:ext cx="420624" cy="420624"/>
          </a:xfrm>
          <a:prstGeom prst="ellipse">
            <a:avLst/>
          </a:prstGeom>
          <a:solidFill>
            <a:schemeClr val="accent5"/>
          </a:solidFill>
          <a:ln/>
        </p:spPr>
      </p:sp>
      <p:pic>
        <p:nvPicPr>
          <p:cNvPr id="31" name="Registry CLI or its deployment integration icon" descr="preencoded.png">    </p:cNvPr>
          <p:cNvPicPr>
            <a:picLocks noChangeAspect="1"/>
          </p:cNvPicPr>
          <p:nvPr/>
        </p:nvPicPr>
        <p:blipFill>
          <a:blip r:embed="rId1"/>
          <a:stretch>
            <a:fillRect/>
          </a:stretch>
        </p:blipFill>
        <p:spPr>
          <a:xfrm>
            <a:off x="854964" y="4905756"/>
            <a:ext cx="210312" cy="210312"/>
          </a:xfrm>
          <a:prstGeom prst="rect">
            <a:avLst/>
          </a:prstGeom>
        </p:spPr>
      </p:pic>
      <p:sp>
        <p:nvSpPr>
          <p:cNvPr id="32" name="Registry CLI or its deployment integration"/>
          <p:cNvSpPr txBox="1"/>
          <p:nvPr/>
        </p:nvSpPr>
        <p:spPr>
          <a:xfrm>
            <a:off x="1325880" y="4754880"/>
            <a:ext cx="2554224" cy="512064"/>
          </a:xfrm>
          <a:prstGeom prst="rect">
            <a:avLst/>
          </a:prstGeom>
          <a:noFill/>
          <a:ln/>
        </p:spPr>
        <p:txBody>
          <a:bodyPr wrap="square" lIns="0" tIns="0" rIns="0" bIns="0" rtlCol="0" anchor="ctr"/>
          <a:lstStyle/>
          <a:p>
            <a:pPr indent="0" marL="0">
              <a:buNone/>
            </a:pPr>
            <a:r>
              <a:rPr lang="en-US" sz="1400" b="1" dirty="0">
                <a:solidFill>
                  <a:schemeClr val="tx1"/>
                </a:solidFill>
              </a:rPr>
              <a:t>Registry CLI or its deployment integration</a:t>
            </a:r>
            <a:endParaRPr lang="en-US" sz="1400" dirty="0"/>
          </a:p>
        </p:txBody>
      </p:sp>
      <p:sp>
        <p:nvSpPr>
          <p:cNvPr id="33" name="Registry CLI or its deployment integration note"/>
          <p:cNvSpPr txBox="1"/>
          <p:nvPr/>
        </p:nvSpPr>
        <p:spPr>
          <a:xfrm>
            <a:off x="1325880" y="5321808"/>
            <a:ext cx="2554224" cy="594360"/>
          </a:xfrm>
          <a:prstGeom prst="rect">
            <a:avLst/>
          </a:prstGeom>
          <a:noFill/>
          <a:ln/>
        </p:spPr>
        <p:txBody>
          <a:bodyPr wrap="square" lIns="0" tIns="0" rIns="0" bIns="0" rtlCol="0" anchor="t"/>
          <a:lstStyle/>
          <a:p>
            <a:pPr algn="l" indent="0" marL="0">
              <a:buNone/>
            </a:pPr>
            <a:r>
              <a:rPr lang="en-US" sz="1300" dirty="0">
                <a:solidFill>
                  <a:schemeClr val="accent6"/>
                </a:solidFill>
              </a:rPr>
              <a:t>A dedicated sandbox may use it for local development.</a:t>
            </a:r>
            <a:endParaRPr lang="en-US" sz="1300" dirty="0"/>
          </a:p>
        </p:txBody>
      </p:sp>
      <p:sp>
        <p:nvSpPr>
          <p:cNvPr id="34" name="Ad-hoc kubectl card"/>
          <p:cNvSpPr/>
          <p:nvPr/>
        </p:nvSpPr>
        <p:spPr>
          <a:xfrm>
            <a:off x="4337304" y="4617720"/>
            <a:ext cx="3514344" cy="1371600"/>
          </a:xfrm>
          <a:prstGeom prst="roundRect">
            <a:avLst>
              <a:gd name="adj" fmla="val 6667"/>
            </a:avLst>
          </a:prstGeom>
          <a:solidFill>
            <a:schemeClr val="accent5">
              <a:alpha val="7000"/>
            </a:schemeClr>
          </a:solidFill>
          <a:ln w="15875">
            <a:solidFill>
              <a:schemeClr val="accent5"/>
            </a:solidFill>
            <a:prstDash val="dash"/>
          </a:ln>
        </p:spPr>
      </p:sp>
      <p:sp>
        <p:nvSpPr>
          <p:cNvPr id="35" name="Ad-hoc kubectl circle"/>
          <p:cNvSpPr/>
          <p:nvPr/>
        </p:nvSpPr>
        <p:spPr>
          <a:xfrm>
            <a:off x="4538472" y="4800600"/>
            <a:ext cx="420624" cy="420624"/>
          </a:xfrm>
          <a:prstGeom prst="ellipse">
            <a:avLst/>
          </a:prstGeom>
          <a:solidFill>
            <a:schemeClr val="accent5"/>
          </a:solidFill>
          <a:ln/>
        </p:spPr>
      </p:sp>
      <p:pic>
        <p:nvPicPr>
          <p:cNvPr id="36" name="Ad-hoc kubectl icon" descr="preencoded.png">    </p:cNvPr>
          <p:cNvPicPr>
            <a:picLocks noChangeAspect="1"/>
          </p:cNvPicPr>
          <p:nvPr/>
        </p:nvPicPr>
        <p:blipFill>
          <a:blip r:embed="rId2"/>
          <a:stretch>
            <a:fillRect/>
          </a:stretch>
        </p:blipFill>
        <p:spPr>
          <a:xfrm>
            <a:off x="4643628" y="4905756"/>
            <a:ext cx="210312" cy="210312"/>
          </a:xfrm>
          <a:prstGeom prst="rect">
            <a:avLst/>
          </a:prstGeom>
        </p:spPr>
      </p:pic>
      <p:sp>
        <p:nvSpPr>
          <p:cNvPr id="37" name="Ad-hoc kubectl"/>
          <p:cNvSpPr txBox="1"/>
          <p:nvPr/>
        </p:nvSpPr>
        <p:spPr>
          <a:xfrm>
            <a:off x="5114544" y="4754880"/>
            <a:ext cx="2554224" cy="512064"/>
          </a:xfrm>
          <a:prstGeom prst="rect">
            <a:avLst/>
          </a:prstGeom>
          <a:noFill/>
          <a:ln/>
        </p:spPr>
        <p:txBody>
          <a:bodyPr wrap="square" lIns="0" tIns="0" rIns="0" bIns="0" rtlCol="0" anchor="ctr"/>
          <a:lstStyle/>
          <a:p>
            <a:pPr indent="0" marL="0">
              <a:buNone/>
            </a:pPr>
            <a:r>
              <a:rPr lang="en-US" sz="1400" b="1" dirty="0">
                <a:solidFill>
                  <a:schemeClr val="tx1"/>
                </a:solidFill>
              </a:rPr>
              <a:t>Ad-hoc kubectl</a:t>
            </a:r>
            <a:endParaRPr lang="en-US" sz="1400" dirty="0"/>
          </a:p>
        </p:txBody>
      </p:sp>
      <p:sp>
        <p:nvSpPr>
          <p:cNvPr id="38" name="Ad-hoc kubectl note"/>
          <p:cNvSpPr txBox="1"/>
          <p:nvPr/>
        </p:nvSpPr>
        <p:spPr>
          <a:xfrm>
            <a:off x="5114544" y="5321808"/>
            <a:ext cx="2554224" cy="594360"/>
          </a:xfrm>
          <a:prstGeom prst="rect">
            <a:avLst/>
          </a:prstGeom>
          <a:noFill/>
          <a:ln/>
        </p:spPr>
        <p:txBody>
          <a:bodyPr wrap="square" lIns="0" tIns="0" rIns="0" bIns="0" rtlCol="0" anchor="t"/>
          <a:lstStyle/>
          <a:p>
            <a:pPr algn="l" indent="0" marL="0">
              <a:buNone/>
            </a:pPr>
            <a:r>
              <a:rPr lang="en-US" sz="1300" dirty="0">
                <a:solidFill>
                  <a:schemeClr val="accent6"/>
                </a:solidFill>
              </a:rPr>
              <a:t>Except as an audited emergency change, reconciled at once.</a:t>
            </a:r>
            <a:endParaRPr lang="en-US" sz="1300" dirty="0"/>
          </a:p>
        </p:txBody>
      </p:sp>
      <p:sp>
        <p:nvSpPr>
          <p:cNvPr id="39" name="Runner pod service account or node role card"/>
          <p:cNvSpPr/>
          <p:nvPr/>
        </p:nvSpPr>
        <p:spPr>
          <a:xfrm>
            <a:off x="8125968" y="4617720"/>
            <a:ext cx="3514344" cy="1371600"/>
          </a:xfrm>
          <a:prstGeom prst="roundRect">
            <a:avLst>
              <a:gd name="adj" fmla="val 6667"/>
            </a:avLst>
          </a:prstGeom>
          <a:solidFill>
            <a:schemeClr val="accent5">
              <a:alpha val="7000"/>
            </a:schemeClr>
          </a:solidFill>
          <a:ln w="15875">
            <a:solidFill>
              <a:schemeClr val="accent5"/>
            </a:solidFill>
            <a:prstDash val="dash"/>
          </a:ln>
        </p:spPr>
      </p:sp>
      <p:sp>
        <p:nvSpPr>
          <p:cNvPr id="40" name="Runner pod service account or node role circle"/>
          <p:cNvSpPr/>
          <p:nvPr/>
        </p:nvSpPr>
        <p:spPr>
          <a:xfrm>
            <a:off x="8327136" y="4800600"/>
            <a:ext cx="420624" cy="420624"/>
          </a:xfrm>
          <a:prstGeom prst="ellipse">
            <a:avLst/>
          </a:prstGeom>
          <a:solidFill>
            <a:schemeClr val="accent5"/>
          </a:solidFill>
          <a:ln/>
        </p:spPr>
      </p:sp>
      <p:pic>
        <p:nvPicPr>
          <p:cNvPr id="41" name="Runner pod service account or node role icon" descr="preencoded.png">    </p:cNvPr>
          <p:cNvPicPr>
            <a:picLocks noChangeAspect="1"/>
          </p:cNvPicPr>
          <p:nvPr/>
        </p:nvPicPr>
        <p:blipFill>
          <a:blip r:embed="rId3"/>
          <a:stretch>
            <a:fillRect/>
          </a:stretch>
        </p:blipFill>
        <p:spPr>
          <a:xfrm>
            <a:off x="8432292" y="4905756"/>
            <a:ext cx="210312" cy="210312"/>
          </a:xfrm>
          <a:prstGeom prst="rect">
            <a:avLst/>
          </a:prstGeom>
        </p:spPr>
      </p:pic>
      <p:sp>
        <p:nvSpPr>
          <p:cNvPr id="42" name="Runner pod service account or node role"/>
          <p:cNvSpPr txBox="1"/>
          <p:nvPr/>
        </p:nvSpPr>
        <p:spPr>
          <a:xfrm>
            <a:off x="8903208" y="4754880"/>
            <a:ext cx="2554224" cy="512064"/>
          </a:xfrm>
          <a:prstGeom prst="rect">
            <a:avLst/>
          </a:prstGeom>
          <a:noFill/>
          <a:ln/>
        </p:spPr>
        <p:txBody>
          <a:bodyPr wrap="square" lIns="0" tIns="0" rIns="0" bIns="0" rtlCol="0" anchor="ctr"/>
          <a:lstStyle/>
          <a:p>
            <a:pPr indent="0" marL="0">
              <a:buNone/>
            </a:pPr>
            <a:r>
              <a:rPr lang="en-US" sz="1400" b="1" dirty="0">
                <a:solidFill>
                  <a:schemeClr val="tx1"/>
                </a:solidFill>
              </a:rPr>
              <a:t>Runner pod service account or node role</a:t>
            </a:r>
            <a:endParaRPr lang="en-US" sz="1400" dirty="0"/>
          </a:p>
        </p:txBody>
      </p:sp>
      <p:sp>
        <p:nvSpPr>
          <p:cNvPr id="43" name="Runner pod service account or node role note"/>
          <p:cNvSpPr txBox="1"/>
          <p:nvPr/>
        </p:nvSpPr>
        <p:spPr>
          <a:xfrm>
            <a:off x="8903208" y="5321808"/>
            <a:ext cx="2554224" cy="594360"/>
          </a:xfrm>
          <a:prstGeom prst="rect">
            <a:avLst/>
          </a:prstGeom>
          <a:noFill/>
          <a:ln/>
        </p:spPr>
        <p:txBody>
          <a:bodyPr wrap="square" lIns="0" tIns="0" rIns="0" bIns="0" rtlCol="0" anchor="t"/>
          <a:lstStyle/>
          <a:p>
            <a:pPr algn="l" indent="0" marL="0">
              <a:buNone/>
            </a:pPr>
            <a:r>
              <a:rPr lang="en-US" sz="1300" dirty="0">
                <a:solidFill>
                  <a:schemeClr val="accent6"/>
                </a:solidFill>
              </a:rPr>
              <a:t>Deployment rights sit on ID-token roles and protected runners.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Six paths: pick the smallest that works</a:t>
            </a:r>
            <a:endParaRPr lang="en-US" sz="3600" dirty="0"/>
          </a:p>
        </p:txBody>
      </p:sp>
      <p:sp>
        <p:nvSpPr>
          <p:cNvPr id="4" name="Existing client card"/>
          <p:cNvSpPr/>
          <p:nvPr/>
        </p:nvSpPr>
        <p:spPr>
          <a:xfrm>
            <a:off x="548640" y="1554480"/>
            <a:ext cx="3514344" cy="2103120"/>
          </a:xfrm>
          <a:prstGeom prst="roundRect">
            <a:avLst>
              <a:gd name="adj" fmla="val 4348"/>
            </a:avLst>
          </a:prstGeom>
          <a:solidFill>
            <a:schemeClr val="bg2"/>
          </a:solidFill>
          <a:ln/>
        </p:spPr>
      </p:sp>
      <p:sp>
        <p:nvSpPr>
          <p:cNvPr id="5" name="Existing client tag"/>
          <p:cNvSpPr txBox="1"/>
          <p:nvPr/>
        </p:nvSpPr>
        <p:spPr>
          <a:xfrm>
            <a:off x="777240" y="1755648"/>
            <a:ext cx="1371600" cy="274320"/>
          </a:xfrm>
          <a:prstGeom prst="roundRect">
            <a:avLst>
              <a:gd name="adj" fmla="val 26667"/>
            </a:avLst>
          </a:prstGeom>
          <a:solidFill>
            <a:schemeClr val="accent4">
              <a:alpha val="22000"/>
            </a:schemeClr>
          </a:solidFill>
          <a:ln w="15875">
            <a:solidFill>
              <a:schemeClr val="accent4"/>
            </a:solidFill>
            <a:prstDash val="solid"/>
          </a:ln>
        </p:spPr>
        <p:txBody>
          <a:bodyPr wrap="square" lIns="635" tIns="635" rIns="635" bIns="635" rtlCol="0" anchor="ctr"/>
          <a:lstStyle/>
          <a:p>
            <a:pPr algn="ctr" indent="0" marL="0">
              <a:buNone/>
            </a:pPr>
            <a:r>
              <a:rPr lang="en-US" sz="1100" b="1" dirty="0">
                <a:solidFill>
                  <a:schemeClr val="tx1"/>
                </a:solidFill>
              </a:rPr>
              <a:t>No compute</a:t>
            </a:r>
            <a:endParaRPr lang="en-US" sz="1100" dirty="0"/>
          </a:p>
        </p:txBody>
      </p:sp>
      <p:sp>
        <p:nvSpPr>
          <p:cNvPr id="6" name="Existing client heading"/>
          <p:cNvSpPr txBox="1"/>
          <p:nvPr/>
        </p:nvSpPr>
        <p:spPr>
          <a:xfrm>
            <a:off x="777240" y="2121408"/>
            <a:ext cx="3057144" cy="365760"/>
          </a:xfrm>
          <a:prstGeom prst="rect">
            <a:avLst/>
          </a:prstGeom>
          <a:noFill/>
          <a:ln/>
        </p:spPr>
        <p:txBody>
          <a:bodyPr wrap="square" lIns="0" tIns="0" rIns="0" bIns="0" rtlCol="0" anchor="t"/>
          <a:lstStyle/>
          <a:p>
            <a:pPr algn="l" indent="0" marL="0">
              <a:buNone/>
            </a:pPr>
            <a:r>
              <a:rPr lang="en-US" sz="1700" b="1" dirty="0">
                <a:solidFill>
                  <a:schemeClr val="tx2"/>
                </a:solidFill>
              </a:rPr>
              <a:t>Existing client</a:t>
            </a:r>
            <a:endParaRPr lang="en-US" sz="1700" dirty="0"/>
          </a:p>
        </p:txBody>
      </p:sp>
      <p:sp>
        <p:nvSpPr>
          <p:cNvPr id="7" name="Existing client text"/>
          <p:cNvSpPr txBox="1"/>
          <p:nvPr/>
        </p:nvSpPr>
        <p:spPr>
          <a:xfrm>
            <a:off x="777240" y="2542032"/>
            <a:ext cx="3057144" cy="1051560"/>
          </a:xfrm>
          <a:prstGeom prst="rect">
            <a:avLst/>
          </a:prstGeom>
          <a:noFill/>
          <a:ln/>
        </p:spPr>
        <p:txBody>
          <a:bodyPr wrap="square" lIns="0" tIns="0" rIns="0" bIns="0" rtlCol="0" anchor="t"/>
          <a:lstStyle/>
          <a:p>
            <a:pPr indent="0" marL="0">
              <a:spcAft>
                <a:spcPts val="500"/>
              </a:spcAft>
              <a:buNone/>
            </a:pPr>
            <a:r>
              <a:rPr lang="en-US" sz="1400" b="1" dirty="0">
                <a:solidFill>
                  <a:schemeClr val="tx1"/>
                </a:solidFill>
              </a:rPr>
              <a:t>You own </a:t>
            </a:r>
            <a:pPr indent="0" marL="0">
              <a:spcAft>
                <a:spcPts val="500"/>
              </a:spcAft>
              <a:buNone/>
            </a:pPr>
            <a:r>
              <a:rPr lang="en-US" sz="1400" dirty="0">
                <a:solidFill>
                  <a:schemeClr val="tx1"/>
                </a:solidFill>
              </a:rPr>
              <a:t>client configuration and selected tools.</a:t>
            </a:r>
            <a:endParaRPr lang="en-US" sz="1400" dirty="0"/>
          </a:p>
          <a:p>
            <a:pPr indent="0" marL="0">
              <a:spcAft>
                <a:spcPts val="500"/>
              </a:spcAft>
              <a:buNone/>
            </a:pPr>
            <a:r>
              <a:rPr lang="en-US" sz="1400" b="1" dirty="0">
                <a:solidFill>
                  <a:schemeClr val="tx1"/>
                </a:solidFill>
              </a:rPr>
              <a:t>The platform supplies </a:t>
            </a:r>
            <a:pPr indent="0" marL="0">
              <a:spcAft>
                <a:spcPts val="500"/>
              </a:spcAft>
              <a:buNone/>
            </a:pPr>
            <a:r>
              <a:rPr lang="en-US" sz="1400" dirty="0">
                <a:solidFill>
                  <a:schemeClr val="tx1"/>
                </a:solidFill>
              </a:rPr>
              <a:t>endpoints, sign-in, permissions and diagnostics.</a:t>
            </a:r>
            <a:endParaRPr lang="en-US" sz="1400" dirty="0"/>
          </a:p>
        </p:txBody>
      </p:sp>
      <p:sp>
        <p:nvSpPr>
          <p:cNvPr id="8" name="Existing remote MCP server card"/>
          <p:cNvSpPr/>
          <p:nvPr/>
        </p:nvSpPr>
        <p:spPr>
          <a:xfrm>
            <a:off x="4337304" y="1554480"/>
            <a:ext cx="3514344" cy="2103120"/>
          </a:xfrm>
          <a:prstGeom prst="roundRect">
            <a:avLst>
              <a:gd name="adj" fmla="val 4348"/>
            </a:avLst>
          </a:prstGeom>
          <a:solidFill>
            <a:schemeClr val="bg2"/>
          </a:solidFill>
          <a:ln/>
        </p:spPr>
      </p:sp>
      <p:sp>
        <p:nvSpPr>
          <p:cNvPr id="9" name="Existing remote MCP server tag"/>
          <p:cNvSpPr txBox="1"/>
          <p:nvPr/>
        </p:nvSpPr>
        <p:spPr>
          <a:xfrm>
            <a:off x="4565904" y="1755648"/>
            <a:ext cx="1371600" cy="274320"/>
          </a:xfrm>
          <a:prstGeom prst="roundRect">
            <a:avLst>
              <a:gd name="adj" fmla="val 26667"/>
            </a:avLst>
          </a:prstGeom>
          <a:solidFill>
            <a:schemeClr val="accent4">
              <a:alpha val="22000"/>
            </a:schemeClr>
          </a:solidFill>
          <a:ln w="15875">
            <a:solidFill>
              <a:schemeClr val="accent4"/>
            </a:solidFill>
            <a:prstDash val="solid"/>
          </a:ln>
        </p:spPr>
        <p:txBody>
          <a:bodyPr wrap="square" lIns="635" tIns="635" rIns="635" bIns="635" rtlCol="0" anchor="ctr"/>
          <a:lstStyle/>
          <a:p>
            <a:pPr algn="ctr" indent="0" marL="0">
              <a:buNone/>
            </a:pPr>
            <a:r>
              <a:rPr lang="en-US" sz="1100" b="1" dirty="0">
                <a:solidFill>
                  <a:schemeClr val="tx1"/>
                </a:solidFill>
              </a:rPr>
              <a:t>No new compute</a:t>
            </a:r>
            <a:endParaRPr lang="en-US" sz="1100" dirty="0"/>
          </a:p>
        </p:txBody>
      </p:sp>
      <p:sp>
        <p:nvSpPr>
          <p:cNvPr id="10" name="Existing remote MCP server heading"/>
          <p:cNvSpPr txBox="1"/>
          <p:nvPr/>
        </p:nvSpPr>
        <p:spPr>
          <a:xfrm>
            <a:off x="4565904" y="2121408"/>
            <a:ext cx="3057144" cy="365760"/>
          </a:xfrm>
          <a:prstGeom prst="rect">
            <a:avLst/>
          </a:prstGeom>
          <a:noFill/>
          <a:ln/>
        </p:spPr>
        <p:txBody>
          <a:bodyPr wrap="square" lIns="0" tIns="0" rIns="0" bIns="0" rtlCol="0" anchor="t"/>
          <a:lstStyle/>
          <a:p>
            <a:pPr algn="l" indent="0" marL="0">
              <a:buNone/>
            </a:pPr>
            <a:r>
              <a:rPr lang="en-US" sz="1700" b="1" dirty="0">
                <a:solidFill>
                  <a:schemeClr val="tx2"/>
                </a:solidFill>
              </a:rPr>
              <a:t>Existing remote MCP server</a:t>
            </a:r>
            <a:endParaRPr lang="en-US" sz="1700" dirty="0"/>
          </a:p>
        </p:txBody>
      </p:sp>
      <p:sp>
        <p:nvSpPr>
          <p:cNvPr id="11" name="Existing remote MCP server text"/>
          <p:cNvSpPr txBox="1"/>
          <p:nvPr/>
        </p:nvSpPr>
        <p:spPr>
          <a:xfrm>
            <a:off x="4565904" y="2542032"/>
            <a:ext cx="3057144" cy="1051560"/>
          </a:xfrm>
          <a:prstGeom prst="rect">
            <a:avLst/>
          </a:prstGeom>
          <a:noFill/>
          <a:ln/>
        </p:spPr>
        <p:txBody>
          <a:bodyPr wrap="square" lIns="0" tIns="0" rIns="0" bIns="0" rtlCol="0" anchor="t"/>
          <a:lstStyle/>
          <a:p>
            <a:pPr indent="0" marL="0">
              <a:spcAft>
                <a:spcPts val="500"/>
              </a:spcAft>
              <a:buNone/>
            </a:pPr>
            <a:r>
              <a:rPr lang="en-US" sz="1400" b="1" dirty="0">
                <a:solidFill>
                  <a:schemeClr val="tx1"/>
                </a:solidFill>
              </a:rPr>
              <a:t>You own </a:t>
            </a:r>
            <a:pPr indent="0" marL="0">
              <a:spcAft>
                <a:spcPts val="500"/>
              </a:spcAft>
              <a:buNone/>
            </a:pPr>
            <a:r>
              <a:rPr lang="en-US" sz="1400" dirty="0">
                <a:solidFill>
                  <a:schemeClr val="tx1"/>
                </a:solidFill>
              </a:rPr>
              <a:t>the service and its protocol contract.</a:t>
            </a:r>
            <a:endParaRPr lang="en-US" sz="1400" dirty="0"/>
          </a:p>
          <a:p>
            <a:pPr indent="0" marL="0">
              <a:spcAft>
                <a:spcPts val="500"/>
              </a:spcAft>
              <a:buNone/>
            </a:pPr>
            <a:r>
              <a:rPr lang="en-US" sz="1400" b="1" dirty="0">
                <a:solidFill>
                  <a:schemeClr val="tx1"/>
                </a:solidFill>
              </a:rPr>
              <a:t>The platform supplies </a:t>
            </a:r>
            <a:pPr indent="0" marL="0">
              <a:spcAft>
                <a:spcPts val="500"/>
              </a:spcAft>
              <a:buNone/>
            </a:pPr>
            <a:r>
              <a:rPr lang="en-US" sz="1400" dirty="0">
                <a:solidFill>
                  <a:schemeClr val="tx1"/>
                </a:solidFill>
              </a:rPr>
              <a:t>the gateway binding and approved access.</a:t>
            </a:r>
            <a:endParaRPr lang="en-US" sz="1400" dirty="0"/>
          </a:p>
        </p:txBody>
      </p:sp>
      <p:sp>
        <p:nvSpPr>
          <p:cNvPr id="12" name="New hosted MCP server card"/>
          <p:cNvSpPr/>
          <p:nvPr/>
        </p:nvSpPr>
        <p:spPr>
          <a:xfrm>
            <a:off x="8125968" y="1554480"/>
            <a:ext cx="3514344" cy="2103120"/>
          </a:xfrm>
          <a:prstGeom prst="roundRect">
            <a:avLst>
              <a:gd name="adj" fmla="val 4348"/>
            </a:avLst>
          </a:prstGeom>
          <a:solidFill>
            <a:schemeClr val="bg2"/>
          </a:solidFill>
          <a:ln/>
        </p:spPr>
      </p:sp>
      <p:sp>
        <p:nvSpPr>
          <p:cNvPr id="13" name="New hosted MCP server tag"/>
          <p:cNvSpPr txBox="1"/>
          <p:nvPr/>
        </p:nvSpPr>
        <p:spPr>
          <a:xfrm>
            <a:off x="8354568" y="1755648"/>
            <a:ext cx="1371600" cy="274320"/>
          </a:xfrm>
          <a:prstGeom prst="roundRect">
            <a:avLst>
              <a:gd name="adj" fmla="val 26667"/>
            </a:avLst>
          </a:prstGeom>
          <a:solidFill>
            <a:schemeClr val="accent1">
              <a:alpha val="14000"/>
            </a:schemeClr>
          </a:solidFill>
          <a:ln w="15875">
            <a:solidFill>
              <a:schemeClr val="accent1"/>
            </a:solidFill>
            <a:prstDash val="solid"/>
          </a:ln>
        </p:spPr>
        <p:txBody>
          <a:bodyPr wrap="square" lIns="635" tIns="635" rIns="635" bIns="635" rtlCol="0" anchor="ctr"/>
          <a:lstStyle/>
          <a:p>
            <a:pPr algn="ctr" indent="0" marL="0">
              <a:buNone/>
            </a:pPr>
            <a:r>
              <a:rPr lang="en-US" sz="1100" b="1" dirty="0">
                <a:solidFill>
                  <a:schemeClr val="tx1"/>
                </a:solidFill>
              </a:rPr>
              <a:t>Hosted</a:t>
            </a:r>
            <a:endParaRPr lang="en-US" sz="1100" dirty="0"/>
          </a:p>
        </p:txBody>
      </p:sp>
      <p:sp>
        <p:nvSpPr>
          <p:cNvPr id="14" name="New hosted MCP server heading"/>
          <p:cNvSpPr txBox="1"/>
          <p:nvPr/>
        </p:nvSpPr>
        <p:spPr>
          <a:xfrm>
            <a:off x="8354568" y="2121408"/>
            <a:ext cx="3057144" cy="365760"/>
          </a:xfrm>
          <a:prstGeom prst="rect">
            <a:avLst/>
          </a:prstGeom>
          <a:noFill/>
          <a:ln/>
        </p:spPr>
        <p:txBody>
          <a:bodyPr wrap="square" lIns="0" tIns="0" rIns="0" bIns="0" rtlCol="0" anchor="t"/>
          <a:lstStyle/>
          <a:p>
            <a:pPr algn="l" indent="0" marL="0">
              <a:buNone/>
            </a:pPr>
            <a:r>
              <a:rPr lang="en-US" sz="1700" b="1" dirty="0">
                <a:solidFill>
                  <a:schemeClr val="tx2"/>
                </a:solidFill>
              </a:rPr>
              <a:t>New hosted MCP server</a:t>
            </a:r>
            <a:endParaRPr lang="en-US" sz="1700" dirty="0"/>
          </a:p>
        </p:txBody>
      </p:sp>
      <p:sp>
        <p:nvSpPr>
          <p:cNvPr id="15" name="New hosted MCP server text"/>
          <p:cNvSpPr txBox="1"/>
          <p:nvPr/>
        </p:nvSpPr>
        <p:spPr>
          <a:xfrm>
            <a:off x="8354568" y="2542032"/>
            <a:ext cx="3057144" cy="1051560"/>
          </a:xfrm>
          <a:prstGeom prst="rect">
            <a:avLst/>
          </a:prstGeom>
          <a:noFill/>
          <a:ln/>
        </p:spPr>
        <p:txBody>
          <a:bodyPr wrap="square" lIns="0" tIns="0" rIns="0" bIns="0" rtlCol="0" anchor="t"/>
          <a:lstStyle/>
          <a:p>
            <a:pPr indent="0" marL="0">
              <a:spcAft>
                <a:spcPts val="500"/>
              </a:spcAft>
              <a:buNone/>
            </a:pPr>
            <a:r>
              <a:rPr lang="en-US" sz="1400" b="1" dirty="0">
                <a:solidFill>
                  <a:schemeClr val="tx1"/>
                </a:solidFill>
              </a:rPr>
              <a:t>You own </a:t>
            </a:r>
            <a:pPr indent="0" marL="0">
              <a:spcAft>
                <a:spcPts val="500"/>
              </a:spcAft>
              <a:buNone/>
            </a:pPr>
            <a:r>
              <a:rPr lang="en-US" sz="1400" dirty="0">
                <a:solidFill>
                  <a:schemeClr val="tx1"/>
                </a:solidFill>
              </a:rPr>
              <a:t>the adapter image and its tests.</a:t>
            </a:r>
            <a:endParaRPr lang="en-US" sz="1400" dirty="0"/>
          </a:p>
          <a:p>
            <a:pPr indent="0" marL="0">
              <a:spcAft>
                <a:spcPts val="500"/>
              </a:spcAft>
              <a:buNone/>
            </a:pPr>
            <a:r>
              <a:rPr lang="en-US" sz="1400" b="1" dirty="0">
                <a:solidFill>
                  <a:schemeClr val="tx1"/>
                </a:solidFill>
              </a:rPr>
              <a:t>The platform supplies </a:t>
            </a:r>
            <a:pPr indent="0" marL="0">
              <a:spcAft>
                <a:spcPts val="500"/>
              </a:spcAft>
              <a:buNone/>
            </a:pPr>
            <a:r>
              <a:rPr lang="en-US" sz="1400" dirty="0">
                <a:solidFill>
                  <a:schemeClr val="tx1"/>
                </a:solidFill>
              </a:rPr>
              <a:t>deployment conventions and gateway exposure.</a:t>
            </a:r>
            <a:endParaRPr lang="en-US" sz="1400" dirty="0"/>
          </a:p>
        </p:txBody>
      </p:sp>
      <p:sp>
        <p:nvSpPr>
          <p:cNvPr id="16" name="Conventional hosted agent card"/>
          <p:cNvSpPr/>
          <p:nvPr/>
        </p:nvSpPr>
        <p:spPr>
          <a:xfrm>
            <a:off x="548640" y="3886200"/>
            <a:ext cx="3514344" cy="2103120"/>
          </a:xfrm>
          <a:prstGeom prst="roundRect">
            <a:avLst>
              <a:gd name="adj" fmla="val 4348"/>
            </a:avLst>
          </a:prstGeom>
          <a:solidFill>
            <a:schemeClr val="bg2"/>
          </a:solidFill>
          <a:ln/>
        </p:spPr>
      </p:sp>
      <p:sp>
        <p:nvSpPr>
          <p:cNvPr id="17" name="Conventional hosted agent tag"/>
          <p:cNvSpPr txBox="1"/>
          <p:nvPr/>
        </p:nvSpPr>
        <p:spPr>
          <a:xfrm>
            <a:off x="777240" y="4087368"/>
            <a:ext cx="1371600" cy="274320"/>
          </a:xfrm>
          <a:prstGeom prst="roundRect">
            <a:avLst>
              <a:gd name="adj" fmla="val 26667"/>
            </a:avLst>
          </a:prstGeom>
          <a:solidFill>
            <a:schemeClr val="accent1">
              <a:alpha val="14000"/>
            </a:schemeClr>
          </a:solidFill>
          <a:ln w="15875">
            <a:solidFill>
              <a:schemeClr val="accent1"/>
            </a:solidFill>
            <a:prstDash val="solid"/>
          </a:ln>
        </p:spPr>
        <p:txBody>
          <a:bodyPr wrap="square" lIns="635" tIns="635" rIns="635" bIns="635" rtlCol="0" anchor="ctr"/>
          <a:lstStyle/>
          <a:p>
            <a:pPr algn="ctr" indent="0" marL="0">
              <a:buNone/>
            </a:pPr>
            <a:r>
              <a:rPr lang="en-US" sz="1100" b="1" dirty="0">
                <a:solidFill>
                  <a:schemeClr val="tx1"/>
                </a:solidFill>
              </a:rPr>
              <a:t>Hosted</a:t>
            </a:r>
            <a:endParaRPr lang="en-US" sz="1100" dirty="0"/>
          </a:p>
        </p:txBody>
      </p:sp>
      <p:sp>
        <p:nvSpPr>
          <p:cNvPr id="18" name="Conventional hosted agent heading"/>
          <p:cNvSpPr txBox="1"/>
          <p:nvPr/>
        </p:nvSpPr>
        <p:spPr>
          <a:xfrm>
            <a:off x="777240" y="4453128"/>
            <a:ext cx="3057144" cy="365760"/>
          </a:xfrm>
          <a:prstGeom prst="rect">
            <a:avLst/>
          </a:prstGeom>
          <a:noFill/>
          <a:ln/>
        </p:spPr>
        <p:txBody>
          <a:bodyPr wrap="square" lIns="0" tIns="0" rIns="0" bIns="0" rtlCol="0" anchor="t"/>
          <a:lstStyle/>
          <a:p>
            <a:pPr algn="l" indent="0" marL="0">
              <a:buNone/>
            </a:pPr>
            <a:r>
              <a:rPr lang="en-US" sz="1700" b="1" dirty="0">
                <a:solidFill>
                  <a:schemeClr val="tx2"/>
                </a:solidFill>
              </a:rPr>
              <a:t>Conventional hosted agent</a:t>
            </a:r>
            <a:endParaRPr lang="en-US" sz="1700" dirty="0"/>
          </a:p>
        </p:txBody>
      </p:sp>
      <p:sp>
        <p:nvSpPr>
          <p:cNvPr id="19" name="Conventional hosted agent text"/>
          <p:cNvSpPr txBox="1"/>
          <p:nvPr/>
        </p:nvSpPr>
        <p:spPr>
          <a:xfrm>
            <a:off x="777240" y="4873752"/>
            <a:ext cx="3057144" cy="1051560"/>
          </a:xfrm>
          <a:prstGeom prst="rect">
            <a:avLst/>
          </a:prstGeom>
          <a:noFill/>
          <a:ln/>
        </p:spPr>
        <p:txBody>
          <a:bodyPr wrap="square" lIns="0" tIns="0" rIns="0" bIns="0" rtlCol="0" anchor="t"/>
          <a:lstStyle/>
          <a:p>
            <a:pPr indent="0" marL="0">
              <a:spcAft>
                <a:spcPts val="500"/>
              </a:spcAft>
              <a:buNone/>
            </a:pPr>
            <a:r>
              <a:rPr lang="en-US" sz="1400" b="1" dirty="0">
                <a:solidFill>
                  <a:schemeClr val="tx1"/>
                </a:solidFill>
              </a:rPr>
              <a:t>You own </a:t>
            </a:r>
            <a:pPr indent="0" marL="0">
              <a:spcAft>
                <a:spcPts val="500"/>
              </a:spcAft>
              <a:buNone/>
            </a:pPr>
            <a:r>
              <a:rPr lang="en-US" sz="1400" dirty="0">
                <a:solidFill>
                  <a:schemeClr val="tx1"/>
                </a:solidFill>
              </a:rPr>
              <a:t>framework, code, checkpoints and scenarios.</a:t>
            </a:r>
            <a:endParaRPr lang="en-US" sz="1400" dirty="0"/>
          </a:p>
          <a:p>
            <a:pPr indent="0" marL="0">
              <a:spcAft>
                <a:spcPts val="500"/>
              </a:spcAft>
              <a:buNone/>
            </a:pPr>
            <a:r>
              <a:rPr lang="en-US" sz="1400" b="1" dirty="0">
                <a:solidFill>
                  <a:schemeClr val="tx1"/>
                </a:solidFill>
              </a:rPr>
              <a:t>The platform supplies </a:t>
            </a:r>
            <a:pPr indent="0" marL="0">
              <a:spcAft>
                <a:spcPts val="500"/>
              </a:spcAft>
              <a:buNone/>
            </a:pPr>
            <a:r>
              <a:rPr lang="en-US" sz="1400" dirty="0">
                <a:solidFill>
                  <a:schemeClr val="tx1"/>
                </a:solidFill>
              </a:rPr>
              <a:t>the workload profile, identity and telemetry.</a:t>
            </a:r>
            <a:endParaRPr lang="en-US" sz="1400" dirty="0"/>
          </a:p>
        </p:txBody>
      </p:sp>
      <p:sp>
        <p:nvSpPr>
          <p:cNvPr id="20" name="kagent agent card"/>
          <p:cNvSpPr/>
          <p:nvPr/>
        </p:nvSpPr>
        <p:spPr>
          <a:xfrm>
            <a:off x="4337304" y="3886200"/>
            <a:ext cx="3514344" cy="2103120"/>
          </a:xfrm>
          <a:prstGeom prst="roundRect">
            <a:avLst>
              <a:gd name="adj" fmla="val 4348"/>
            </a:avLst>
          </a:prstGeom>
          <a:solidFill>
            <a:schemeClr val="bg2"/>
          </a:solidFill>
          <a:ln/>
        </p:spPr>
      </p:sp>
      <p:sp>
        <p:nvSpPr>
          <p:cNvPr id="21" name="kagent agent tag"/>
          <p:cNvSpPr txBox="1"/>
          <p:nvPr/>
        </p:nvSpPr>
        <p:spPr>
          <a:xfrm>
            <a:off x="4565904" y="4087368"/>
            <a:ext cx="1371600" cy="274320"/>
          </a:xfrm>
          <a:prstGeom prst="roundRect">
            <a:avLst>
              <a:gd name="adj" fmla="val 26667"/>
            </a:avLst>
          </a:prstGeom>
          <a:solidFill>
            <a:schemeClr val="accent2">
              <a:alpha val="14000"/>
            </a:schemeClr>
          </a:solidFill>
          <a:ln w="15875">
            <a:solidFill>
              <a:schemeClr val="accent2"/>
            </a:solidFill>
            <a:prstDash val="sysDash"/>
          </a:ln>
        </p:spPr>
        <p:txBody>
          <a:bodyPr wrap="square" lIns="635" tIns="635" rIns="635" bIns="635" rtlCol="0" anchor="ctr"/>
          <a:lstStyle/>
          <a:p>
            <a:pPr algn="ctr" indent="0" marL="0">
              <a:buNone/>
            </a:pPr>
            <a:r>
              <a:rPr lang="en-US" sz="1100" b="1" dirty="0">
                <a:solidFill>
                  <a:schemeClr val="tx1"/>
                </a:solidFill>
              </a:rPr>
              <a:t>Candidate</a:t>
            </a:r>
            <a:endParaRPr lang="en-US" sz="1100" dirty="0"/>
          </a:p>
        </p:txBody>
      </p:sp>
      <p:sp>
        <p:nvSpPr>
          <p:cNvPr id="22" name="kagent agent heading"/>
          <p:cNvSpPr txBox="1"/>
          <p:nvPr/>
        </p:nvSpPr>
        <p:spPr>
          <a:xfrm>
            <a:off x="4565904" y="4453128"/>
            <a:ext cx="3057144" cy="365760"/>
          </a:xfrm>
          <a:prstGeom prst="rect">
            <a:avLst/>
          </a:prstGeom>
          <a:noFill/>
          <a:ln/>
        </p:spPr>
        <p:txBody>
          <a:bodyPr wrap="square" lIns="0" tIns="0" rIns="0" bIns="0" rtlCol="0" anchor="t"/>
          <a:lstStyle/>
          <a:p>
            <a:pPr algn="l" indent="0" marL="0">
              <a:buNone/>
            </a:pPr>
            <a:r>
              <a:rPr lang="en-US" sz="1700" b="1" dirty="0">
                <a:solidFill>
                  <a:schemeClr val="tx2"/>
                </a:solidFill>
              </a:rPr>
              <a:t>kagent agent</a:t>
            </a:r>
            <a:endParaRPr lang="en-US" sz="1700" dirty="0"/>
          </a:p>
        </p:txBody>
      </p:sp>
      <p:sp>
        <p:nvSpPr>
          <p:cNvPr id="23" name="kagent agent text"/>
          <p:cNvSpPr txBox="1"/>
          <p:nvPr/>
        </p:nvSpPr>
        <p:spPr>
          <a:xfrm>
            <a:off x="4565904" y="4873752"/>
            <a:ext cx="3057144" cy="1051560"/>
          </a:xfrm>
          <a:prstGeom prst="rect">
            <a:avLst/>
          </a:prstGeom>
          <a:noFill/>
          <a:ln/>
        </p:spPr>
        <p:txBody>
          <a:bodyPr wrap="square" lIns="0" tIns="0" rIns="0" bIns="0" rtlCol="0" anchor="t"/>
          <a:lstStyle/>
          <a:p>
            <a:pPr indent="0" marL="0">
              <a:spcAft>
                <a:spcPts val="500"/>
              </a:spcAft>
              <a:buNone/>
            </a:pPr>
            <a:r>
              <a:rPr lang="en-US" sz="1400" b="1" dirty="0">
                <a:solidFill>
                  <a:schemeClr val="tx1"/>
                </a:solidFill>
              </a:rPr>
              <a:t>You own </a:t>
            </a:r>
            <a:pPr indent="0" marL="0">
              <a:spcAft>
                <a:spcPts val="500"/>
              </a:spcAft>
              <a:buNone/>
            </a:pPr>
            <a:r>
              <a:rPr lang="en-US" sz="1400" dirty="0">
                <a:solidFill>
                  <a:schemeClr val="tx1"/>
                </a:solidFill>
              </a:rPr>
              <a:t>native agent behavior and configuration.</a:t>
            </a:r>
            <a:endParaRPr lang="en-US" sz="1400" dirty="0"/>
          </a:p>
          <a:p>
            <a:pPr indent="0" marL="0">
              <a:spcAft>
                <a:spcPts val="500"/>
              </a:spcAft>
              <a:buNone/>
            </a:pPr>
            <a:r>
              <a:rPr lang="en-US" sz="1400" b="1" dirty="0">
                <a:solidFill>
                  <a:schemeClr val="tx1"/>
                </a:solidFill>
              </a:rPr>
              <a:t>The platform supplies </a:t>
            </a:r>
            <a:pPr indent="0" marL="0">
              <a:spcAft>
                <a:spcPts val="500"/>
              </a:spcAft>
              <a:buNone/>
            </a:pPr>
            <a:r>
              <a:rPr lang="en-US" sz="1400" dirty="0">
                <a:solidFill>
                  <a:schemeClr val="tx1"/>
                </a:solidFill>
              </a:rPr>
              <a:t>a supported Harness and runtime profile.</a:t>
            </a:r>
            <a:endParaRPr lang="en-US" sz="1400" dirty="0"/>
          </a:p>
        </p:txBody>
      </p:sp>
      <p:sp>
        <p:nvSpPr>
          <p:cNvPr id="24" name="Background work card"/>
          <p:cNvSpPr/>
          <p:nvPr/>
        </p:nvSpPr>
        <p:spPr>
          <a:xfrm>
            <a:off x="8125968" y="3886200"/>
            <a:ext cx="3514344" cy="2103120"/>
          </a:xfrm>
          <a:prstGeom prst="roundRect">
            <a:avLst>
              <a:gd name="adj" fmla="val 4348"/>
            </a:avLst>
          </a:prstGeom>
          <a:solidFill>
            <a:schemeClr val="bg2"/>
          </a:solidFill>
          <a:ln/>
        </p:spPr>
      </p:sp>
      <p:sp>
        <p:nvSpPr>
          <p:cNvPr id="25" name="Background work tag"/>
          <p:cNvSpPr txBox="1"/>
          <p:nvPr/>
        </p:nvSpPr>
        <p:spPr>
          <a:xfrm>
            <a:off x="8354568" y="4087368"/>
            <a:ext cx="1371600" cy="274320"/>
          </a:xfrm>
          <a:prstGeom prst="roundRect">
            <a:avLst>
              <a:gd name="adj" fmla="val 26667"/>
            </a:avLst>
          </a:prstGeom>
          <a:solidFill>
            <a:schemeClr val="accent1">
              <a:alpha val="14000"/>
            </a:schemeClr>
          </a:solidFill>
          <a:ln w="15875">
            <a:solidFill>
              <a:schemeClr val="accent1"/>
            </a:solidFill>
            <a:prstDash val="solid"/>
          </a:ln>
        </p:spPr>
        <p:txBody>
          <a:bodyPr wrap="square" lIns="635" tIns="635" rIns="635" bIns="635" rtlCol="0" anchor="ctr"/>
          <a:lstStyle/>
          <a:p>
            <a:pPr algn="ctr" indent="0" marL="0">
              <a:buNone/>
            </a:pPr>
            <a:r>
              <a:rPr lang="en-US" sz="1100" b="1" dirty="0">
                <a:solidFill>
                  <a:schemeClr val="tx1"/>
                </a:solidFill>
              </a:rPr>
              <a:t>Hosted</a:t>
            </a:r>
            <a:endParaRPr lang="en-US" sz="1100" dirty="0"/>
          </a:p>
        </p:txBody>
      </p:sp>
      <p:sp>
        <p:nvSpPr>
          <p:cNvPr id="26" name="Background work heading"/>
          <p:cNvSpPr txBox="1"/>
          <p:nvPr/>
        </p:nvSpPr>
        <p:spPr>
          <a:xfrm>
            <a:off x="8354568" y="4453128"/>
            <a:ext cx="3057144" cy="365760"/>
          </a:xfrm>
          <a:prstGeom prst="rect">
            <a:avLst/>
          </a:prstGeom>
          <a:noFill/>
          <a:ln/>
        </p:spPr>
        <p:txBody>
          <a:bodyPr wrap="square" lIns="0" tIns="0" rIns="0" bIns="0" rtlCol="0" anchor="t"/>
          <a:lstStyle/>
          <a:p>
            <a:pPr algn="l" indent="0" marL="0">
              <a:buNone/>
            </a:pPr>
            <a:r>
              <a:rPr lang="en-US" sz="1700" b="1" dirty="0">
                <a:solidFill>
                  <a:schemeClr val="tx2"/>
                </a:solidFill>
              </a:rPr>
              <a:t>Background work</a:t>
            </a:r>
            <a:endParaRPr lang="en-US" sz="1700" dirty="0"/>
          </a:p>
        </p:txBody>
      </p:sp>
      <p:sp>
        <p:nvSpPr>
          <p:cNvPr id="27" name="Background work text"/>
          <p:cNvSpPr txBox="1"/>
          <p:nvPr/>
        </p:nvSpPr>
        <p:spPr>
          <a:xfrm>
            <a:off x="8354568" y="4873752"/>
            <a:ext cx="3057144" cy="1051560"/>
          </a:xfrm>
          <a:prstGeom prst="rect">
            <a:avLst/>
          </a:prstGeom>
          <a:noFill/>
          <a:ln/>
        </p:spPr>
        <p:txBody>
          <a:bodyPr wrap="square" lIns="0" tIns="0" rIns="0" bIns="0" rtlCol="0" anchor="t"/>
          <a:lstStyle/>
          <a:p>
            <a:pPr indent="0" marL="0">
              <a:spcAft>
                <a:spcPts val="500"/>
              </a:spcAft>
              <a:buNone/>
            </a:pPr>
            <a:r>
              <a:rPr lang="en-US" sz="1400" b="1" dirty="0">
                <a:solidFill>
                  <a:schemeClr val="tx1"/>
                </a:solidFill>
              </a:rPr>
              <a:t>You own </a:t>
            </a:r>
            <a:pPr indent="0" marL="0">
              <a:spcAft>
                <a:spcPts val="500"/>
              </a:spcAft>
              <a:buNone/>
            </a:pPr>
            <a:r>
              <a:rPr lang="en-US" sz="1400" dirty="0">
                <a:solidFill>
                  <a:schemeClr val="tx1"/>
                </a:solidFill>
              </a:rPr>
              <a:t>job logic and idempotent tool operations.</a:t>
            </a:r>
            <a:endParaRPr lang="en-US" sz="1400" dirty="0"/>
          </a:p>
          <a:p>
            <a:pPr indent="0" marL="0">
              <a:spcAft>
                <a:spcPts val="500"/>
              </a:spcAft>
              <a:buNone/>
            </a:pPr>
            <a:r>
              <a:rPr lang="en-US" sz="1400" b="1" dirty="0">
                <a:solidFill>
                  <a:schemeClr val="tx1"/>
                </a:solidFill>
              </a:rPr>
              <a:t>The platform supplies </a:t>
            </a:r>
            <a:pPr indent="0" marL="0">
              <a:spcAft>
                <a:spcPts val="500"/>
              </a:spcAft>
              <a:buNone/>
            </a:pPr>
            <a:r>
              <a:rPr lang="en-US" sz="1400" dirty="0">
                <a:solidFill>
                  <a:schemeClr val="tx1"/>
                </a:solidFill>
              </a:rPr>
              <a:t>job delivery and bounded capacity.</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Customize only as deep as you need</a:t>
            </a:r>
            <a:endParaRPr lang="en-US" sz="3600" dirty="0"/>
          </a:p>
        </p:txBody>
      </p:sp>
      <p:sp>
        <p:nvSpPr>
          <p:cNvPr id="4" name="Level 0 card"/>
          <p:cNvSpPr/>
          <p:nvPr/>
        </p:nvSpPr>
        <p:spPr>
          <a:xfrm>
            <a:off x="548640" y="2788920"/>
            <a:ext cx="2608326" cy="2880360"/>
          </a:xfrm>
          <a:prstGeom prst="roundRect">
            <a:avLst>
              <a:gd name="adj" fmla="val 3506"/>
            </a:avLst>
          </a:prstGeom>
          <a:solidFill>
            <a:schemeClr val="accent1">
              <a:alpha val="8000"/>
            </a:schemeClr>
          </a:solidFill>
          <a:ln/>
        </p:spPr>
      </p:sp>
      <p:sp>
        <p:nvSpPr>
          <p:cNvPr id="5" name="Text 2"/>
          <p:cNvSpPr txBox="1"/>
          <p:nvPr/>
        </p:nvSpPr>
        <p:spPr>
          <a:xfrm>
            <a:off x="777240" y="2990088"/>
            <a:ext cx="2151126" cy="237744"/>
          </a:xfrm>
          <a:prstGeom prst="rect">
            <a:avLst/>
          </a:prstGeom>
          <a:noFill/>
          <a:ln/>
        </p:spPr>
        <p:txBody>
          <a:bodyPr wrap="square" lIns="0" tIns="0" rIns="0" bIns="0" rtlCol="0" anchor="t"/>
          <a:lstStyle/>
          <a:p>
            <a:pPr algn="l" indent="0" marL="0">
              <a:buNone/>
            </a:pPr>
            <a:r>
              <a:rPr lang="en-US" sz="1050" b="1" spc="100" kern="0" dirty="0">
                <a:solidFill>
                  <a:schemeClr val="tx2"/>
                </a:solidFill>
              </a:rPr>
              <a:t>LEVEL 0</a:t>
            </a:r>
            <a:endParaRPr lang="en-US" sz="1050" dirty="0"/>
          </a:p>
        </p:txBody>
      </p:sp>
      <p:sp>
        <p:nvSpPr>
          <p:cNvPr id="6" name="Level 0 heading"/>
          <p:cNvSpPr txBox="1"/>
          <p:nvPr/>
        </p:nvSpPr>
        <p:spPr>
          <a:xfrm>
            <a:off x="777240" y="3264408"/>
            <a:ext cx="2151126" cy="411480"/>
          </a:xfrm>
          <a:prstGeom prst="rect">
            <a:avLst/>
          </a:prstGeom>
          <a:noFill/>
          <a:ln/>
        </p:spPr>
        <p:txBody>
          <a:bodyPr wrap="square" lIns="0" tIns="0" rIns="0" bIns="0" rtlCol="0" anchor="t"/>
          <a:lstStyle/>
          <a:p>
            <a:pPr algn="l" indent="0" marL="0">
              <a:buNone/>
            </a:pPr>
            <a:r>
              <a:rPr lang="en-US" sz="1900" b="1" dirty="0">
                <a:solidFill>
                  <a:schemeClr val="tx2"/>
                </a:solidFill>
              </a:rPr>
              <a:t>Configure</a:t>
            </a:r>
            <a:endParaRPr lang="en-US" sz="1900" dirty="0"/>
          </a:p>
        </p:txBody>
      </p:sp>
      <p:sp>
        <p:nvSpPr>
          <p:cNvPr id="7" name="Level 0 text"/>
          <p:cNvSpPr txBox="1"/>
          <p:nvPr/>
        </p:nvSpPr>
        <p:spPr>
          <a:xfrm>
            <a:off x="777240" y="3749040"/>
            <a:ext cx="2151126" cy="187452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The team writes: </a:t>
            </a:r>
            <a:pPr indent="0" marL="0">
              <a:spcAft>
                <a:spcPts val="600"/>
              </a:spcAft>
              <a:buNone/>
            </a:pPr>
            <a:r>
              <a:rPr lang="en-US" sz="1400" dirty="0">
                <a:solidFill>
                  <a:schemeClr val="tx1"/>
                </a:solidFill>
              </a:rPr>
              <a:t>Prompts, skills, scenarios, and the choice of model and tools.</a:t>
            </a:r>
            <a:endParaRPr lang="en-US" sz="1400" dirty="0"/>
          </a:p>
          <a:p>
            <a:pPr indent="0" marL="0">
              <a:spcAft>
                <a:spcPts val="600"/>
              </a:spcAft>
              <a:buNone/>
            </a:pPr>
            <a:r>
              <a:rPr lang="en-US" sz="1400" b="1" dirty="0">
                <a:solidFill>
                  <a:schemeClr val="tx1"/>
                </a:solidFill>
              </a:rPr>
              <a:t>Image: </a:t>
            </a:r>
            <a:pPr indent="0" marL="0">
              <a:spcAft>
                <a:spcPts val="600"/>
              </a:spcAft>
              <a:buNone/>
            </a:pPr>
            <a:r>
              <a:rPr lang="en-US" sz="1400" dirty="0">
                <a:solidFill>
                  <a:schemeClr val="tx1"/>
                </a:solidFill>
              </a:rPr>
              <a:t>No code and no Dockerfile. Built from the base application image.</a:t>
            </a:r>
            <a:endParaRPr lang="en-US" sz="1400" dirty="0"/>
          </a:p>
        </p:txBody>
      </p:sp>
      <p:sp>
        <p:nvSpPr>
          <p:cNvPr id="8" name="Level 1 card"/>
          <p:cNvSpPr/>
          <p:nvPr/>
        </p:nvSpPr>
        <p:spPr>
          <a:xfrm>
            <a:off x="3376422" y="2377440"/>
            <a:ext cx="2608326" cy="3291840"/>
          </a:xfrm>
          <a:prstGeom prst="roundRect">
            <a:avLst>
              <a:gd name="adj" fmla="val 3506"/>
            </a:avLst>
          </a:prstGeom>
          <a:solidFill>
            <a:schemeClr val="accent1">
              <a:alpha val="14000"/>
            </a:schemeClr>
          </a:solidFill>
          <a:ln/>
        </p:spPr>
      </p:sp>
      <p:sp>
        <p:nvSpPr>
          <p:cNvPr id="9" name="Text 6"/>
          <p:cNvSpPr txBox="1"/>
          <p:nvPr/>
        </p:nvSpPr>
        <p:spPr>
          <a:xfrm>
            <a:off x="3605022" y="2578608"/>
            <a:ext cx="2151126" cy="237744"/>
          </a:xfrm>
          <a:prstGeom prst="rect">
            <a:avLst/>
          </a:prstGeom>
          <a:noFill/>
          <a:ln/>
        </p:spPr>
        <p:txBody>
          <a:bodyPr wrap="square" lIns="0" tIns="0" rIns="0" bIns="0" rtlCol="0" anchor="t"/>
          <a:lstStyle/>
          <a:p>
            <a:pPr algn="l" indent="0" marL="0">
              <a:buNone/>
            </a:pPr>
            <a:r>
              <a:rPr lang="en-US" sz="1050" b="1" spc="100" kern="0" dirty="0">
                <a:solidFill>
                  <a:schemeClr val="tx2"/>
                </a:solidFill>
              </a:rPr>
              <a:t>LEVEL 1</a:t>
            </a:r>
            <a:endParaRPr lang="en-US" sz="1050" dirty="0"/>
          </a:p>
        </p:txBody>
      </p:sp>
      <p:sp>
        <p:nvSpPr>
          <p:cNvPr id="10" name="Level 1 heading"/>
          <p:cNvSpPr txBox="1"/>
          <p:nvPr/>
        </p:nvSpPr>
        <p:spPr>
          <a:xfrm>
            <a:off x="3605022" y="2852928"/>
            <a:ext cx="2151126" cy="411480"/>
          </a:xfrm>
          <a:prstGeom prst="rect">
            <a:avLst/>
          </a:prstGeom>
          <a:noFill/>
          <a:ln/>
        </p:spPr>
        <p:txBody>
          <a:bodyPr wrap="square" lIns="0" tIns="0" rIns="0" bIns="0" rtlCol="0" anchor="t"/>
          <a:lstStyle/>
          <a:p>
            <a:pPr algn="l" indent="0" marL="0">
              <a:buNone/>
            </a:pPr>
            <a:r>
              <a:rPr lang="en-US" sz="1900" b="1" dirty="0">
                <a:solidFill>
                  <a:schemeClr val="tx2"/>
                </a:solidFill>
              </a:rPr>
              <a:t>Publish a capability</a:t>
            </a:r>
            <a:endParaRPr lang="en-US" sz="1900" dirty="0"/>
          </a:p>
        </p:txBody>
      </p:sp>
      <p:sp>
        <p:nvSpPr>
          <p:cNvPr id="11" name="Level 1 text"/>
          <p:cNvSpPr txBox="1"/>
          <p:nvPr/>
        </p:nvSpPr>
        <p:spPr>
          <a:xfrm>
            <a:off x="3605022" y="3337560"/>
            <a:ext cx="2151126" cy="187452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The team writes: </a:t>
            </a:r>
            <a:pPr indent="0" marL="0">
              <a:spcAft>
                <a:spcPts val="600"/>
              </a:spcAft>
              <a:buNone/>
            </a:pPr>
            <a:r>
              <a:rPr lang="en-US" sz="1400" dirty="0">
                <a:solidFill>
                  <a:schemeClr val="tx1"/>
                </a:solidFill>
              </a:rPr>
              <a:t>An MCP adapter or a guidance bundle in the service repository.</a:t>
            </a:r>
            <a:endParaRPr lang="en-US" sz="1400" dirty="0"/>
          </a:p>
          <a:p>
            <a:pPr indent="0" marL="0">
              <a:spcAft>
                <a:spcPts val="600"/>
              </a:spcAft>
              <a:buNone/>
            </a:pPr>
            <a:r>
              <a:rPr lang="en-US" sz="1400" b="1" dirty="0">
                <a:solidFill>
                  <a:schemeClr val="tx1"/>
                </a:solidFill>
              </a:rPr>
              <a:t>Image: </a:t>
            </a:r>
            <a:pPr indent="0" marL="0">
              <a:spcAft>
                <a:spcPts val="600"/>
              </a:spcAft>
              <a:buNone/>
            </a:pPr>
            <a:r>
              <a:rPr lang="en-US" sz="1400" dirty="0">
                <a:solidFill>
                  <a:schemeClr val="tx1"/>
                </a:solidFill>
              </a:rPr>
              <a:t>An image only for a hosted MCP server.</a:t>
            </a:r>
            <a:endParaRPr lang="en-US" sz="1400" dirty="0"/>
          </a:p>
        </p:txBody>
      </p:sp>
      <p:sp>
        <p:nvSpPr>
          <p:cNvPr id="12" name="Level 2 card"/>
          <p:cNvSpPr/>
          <p:nvPr/>
        </p:nvSpPr>
        <p:spPr>
          <a:xfrm>
            <a:off x="6204204" y="1965960"/>
            <a:ext cx="2608326" cy="3703320"/>
          </a:xfrm>
          <a:prstGeom prst="roundRect">
            <a:avLst>
              <a:gd name="adj" fmla="val 3506"/>
            </a:avLst>
          </a:prstGeom>
          <a:solidFill>
            <a:schemeClr val="accent1">
              <a:alpha val="21000"/>
            </a:schemeClr>
          </a:solidFill>
          <a:ln/>
        </p:spPr>
      </p:sp>
      <p:sp>
        <p:nvSpPr>
          <p:cNvPr id="13" name="Text 10"/>
          <p:cNvSpPr txBox="1"/>
          <p:nvPr/>
        </p:nvSpPr>
        <p:spPr>
          <a:xfrm>
            <a:off x="6432804" y="2167128"/>
            <a:ext cx="2151126" cy="237744"/>
          </a:xfrm>
          <a:prstGeom prst="rect">
            <a:avLst/>
          </a:prstGeom>
          <a:noFill/>
          <a:ln/>
        </p:spPr>
        <p:txBody>
          <a:bodyPr wrap="square" lIns="0" tIns="0" rIns="0" bIns="0" rtlCol="0" anchor="t"/>
          <a:lstStyle/>
          <a:p>
            <a:pPr algn="l" indent="0" marL="0">
              <a:buNone/>
            </a:pPr>
            <a:r>
              <a:rPr lang="en-US" sz="1050" b="1" spc="100" kern="0" dirty="0">
                <a:solidFill>
                  <a:schemeClr val="tx2"/>
                </a:solidFill>
              </a:rPr>
              <a:t>LEVEL 2</a:t>
            </a:r>
            <a:endParaRPr lang="en-US" sz="1050" dirty="0"/>
          </a:p>
        </p:txBody>
      </p:sp>
      <p:sp>
        <p:nvSpPr>
          <p:cNvPr id="14" name="Level 2 heading"/>
          <p:cNvSpPr txBox="1"/>
          <p:nvPr/>
        </p:nvSpPr>
        <p:spPr>
          <a:xfrm>
            <a:off x="6432804" y="2441448"/>
            <a:ext cx="2151126" cy="411480"/>
          </a:xfrm>
          <a:prstGeom prst="rect">
            <a:avLst/>
          </a:prstGeom>
          <a:noFill/>
          <a:ln/>
        </p:spPr>
        <p:txBody>
          <a:bodyPr wrap="square" lIns="0" tIns="0" rIns="0" bIns="0" rtlCol="0" anchor="t"/>
          <a:lstStyle/>
          <a:p>
            <a:pPr algn="l" indent="0" marL="0">
              <a:buNone/>
            </a:pPr>
            <a:r>
              <a:rPr lang="en-US" sz="1900" b="1" dirty="0">
                <a:solidFill>
                  <a:schemeClr val="tx2"/>
                </a:solidFill>
              </a:rPr>
              <a:t>Compose</a:t>
            </a:r>
            <a:endParaRPr lang="en-US" sz="1900" dirty="0"/>
          </a:p>
        </p:txBody>
      </p:sp>
      <p:sp>
        <p:nvSpPr>
          <p:cNvPr id="15" name="Level 2 text"/>
          <p:cNvSpPr txBox="1"/>
          <p:nvPr/>
        </p:nvSpPr>
        <p:spPr>
          <a:xfrm>
            <a:off x="6432804" y="2926080"/>
            <a:ext cx="2151126" cy="187452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The team writes: </a:t>
            </a:r>
            <a:pPr indent="0" marL="0">
              <a:spcAft>
                <a:spcPts val="600"/>
              </a:spcAft>
              <a:buNone/>
            </a:pPr>
            <a:r>
              <a:rPr lang="en-US" sz="1400" dirty="0">
                <a:solidFill>
                  <a:schemeClr val="tx1"/>
                </a:solidFill>
              </a:rPr>
              <a:t>A thin application that imports the shared packages and adds hooks, routes or a session store.</a:t>
            </a:r>
            <a:endParaRPr lang="en-US" sz="1400" dirty="0"/>
          </a:p>
          <a:p>
            <a:pPr indent="0" marL="0">
              <a:spcAft>
                <a:spcPts val="600"/>
              </a:spcAft>
              <a:buNone/>
            </a:pPr>
            <a:r>
              <a:rPr lang="en-US" sz="1400" b="1" dirty="0">
                <a:solidFill>
                  <a:schemeClr val="tx1"/>
                </a:solidFill>
              </a:rPr>
              <a:t>Image: </a:t>
            </a:r>
            <a:pPr indent="0" marL="0">
              <a:spcAft>
                <a:spcPts val="600"/>
              </a:spcAft>
              <a:buNone/>
            </a:pPr>
            <a:r>
              <a:rPr lang="en-US" sz="1400" dirty="0">
                <a:solidFill>
                  <a:schemeClr val="tx1"/>
                </a:solidFill>
              </a:rPr>
              <a:t>Its own image.</a:t>
            </a:r>
            <a:endParaRPr lang="en-US" sz="1400" dirty="0"/>
          </a:p>
        </p:txBody>
      </p:sp>
      <p:sp>
        <p:nvSpPr>
          <p:cNvPr id="16" name="Level 3 card"/>
          <p:cNvSpPr/>
          <p:nvPr/>
        </p:nvSpPr>
        <p:spPr>
          <a:xfrm>
            <a:off x="9031986" y="1554480"/>
            <a:ext cx="2608326" cy="4114800"/>
          </a:xfrm>
          <a:prstGeom prst="roundRect">
            <a:avLst>
              <a:gd name="adj" fmla="val 3506"/>
            </a:avLst>
          </a:prstGeom>
          <a:solidFill>
            <a:schemeClr val="accent1">
              <a:alpha val="29000"/>
            </a:schemeClr>
          </a:solidFill>
          <a:ln/>
        </p:spPr>
      </p:sp>
      <p:sp>
        <p:nvSpPr>
          <p:cNvPr id="17" name="Text 14"/>
          <p:cNvSpPr txBox="1"/>
          <p:nvPr/>
        </p:nvSpPr>
        <p:spPr>
          <a:xfrm>
            <a:off x="9260586" y="1755648"/>
            <a:ext cx="2151126" cy="237744"/>
          </a:xfrm>
          <a:prstGeom prst="rect">
            <a:avLst/>
          </a:prstGeom>
          <a:noFill/>
          <a:ln/>
        </p:spPr>
        <p:txBody>
          <a:bodyPr wrap="square" lIns="0" tIns="0" rIns="0" bIns="0" rtlCol="0" anchor="t"/>
          <a:lstStyle/>
          <a:p>
            <a:pPr algn="l" indent="0" marL="0">
              <a:buNone/>
            </a:pPr>
            <a:r>
              <a:rPr lang="en-US" sz="1050" b="1" spc="100" kern="0" dirty="0">
                <a:solidFill>
                  <a:schemeClr val="tx2"/>
                </a:solidFill>
              </a:rPr>
              <a:t>LEVEL 3</a:t>
            </a:r>
            <a:endParaRPr lang="en-US" sz="1050" dirty="0"/>
          </a:p>
        </p:txBody>
      </p:sp>
      <p:sp>
        <p:nvSpPr>
          <p:cNvPr id="18" name="Level 3 heading"/>
          <p:cNvSpPr txBox="1"/>
          <p:nvPr/>
        </p:nvSpPr>
        <p:spPr>
          <a:xfrm>
            <a:off x="9260586" y="2029968"/>
            <a:ext cx="2151126" cy="411480"/>
          </a:xfrm>
          <a:prstGeom prst="rect">
            <a:avLst/>
          </a:prstGeom>
          <a:noFill/>
          <a:ln/>
        </p:spPr>
        <p:txBody>
          <a:bodyPr wrap="square" lIns="0" tIns="0" rIns="0" bIns="0" rtlCol="0" anchor="t"/>
          <a:lstStyle/>
          <a:p>
            <a:pPr algn="l" indent="0" marL="0">
              <a:buNone/>
            </a:pPr>
            <a:r>
              <a:rPr lang="en-US" sz="1900" b="1" dirty="0">
                <a:solidFill>
                  <a:schemeClr val="tx2"/>
                </a:solidFill>
              </a:rPr>
              <a:t>Replace a piece</a:t>
            </a:r>
            <a:endParaRPr lang="en-US" sz="1900" dirty="0"/>
          </a:p>
        </p:txBody>
      </p:sp>
      <p:sp>
        <p:nvSpPr>
          <p:cNvPr id="19" name="Level 3 text"/>
          <p:cNvSpPr txBox="1"/>
          <p:nvPr/>
        </p:nvSpPr>
        <p:spPr>
          <a:xfrm>
            <a:off x="9260586" y="2514600"/>
            <a:ext cx="2151126" cy="187452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The team writes: </a:t>
            </a:r>
            <a:pPr indent="0" marL="0">
              <a:spcAft>
                <a:spcPts val="600"/>
              </a:spcAft>
              <a:buNone/>
            </a:pPr>
            <a:r>
              <a:rPr lang="en-US" sz="1400" dirty="0">
                <a:solidFill>
                  <a:schemeClr val="tx1"/>
                </a:solidFill>
              </a:rPr>
              <a:t>Its own implementation of one package behind the same protocol, such as a different UI.</a:t>
            </a:r>
            <a:endParaRPr lang="en-US" sz="1400" dirty="0"/>
          </a:p>
          <a:p>
            <a:pPr indent="0" marL="0">
              <a:spcAft>
                <a:spcPts val="600"/>
              </a:spcAft>
              <a:buNone/>
            </a:pPr>
            <a:r>
              <a:rPr lang="en-US" sz="1400" b="1" dirty="0">
                <a:solidFill>
                  <a:schemeClr val="tx1"/>
                </a:solidFill>
              </a:rPr>
              <a:t>Image: </a:t>
            </a:r>
            <a:pPr indent="0" marL="0">
              <a:spcAft>
                <a:spcPts val="600"/>
              </a:spcAft>
              <a:buNone/>
            </a:pPr>
            <a:r>
              <a:rPr lang="en-US" sz="1400" dirty="0">
                <a:solidFill>
                  <a:schemeClr val="tx1"/>
                </a:solidFill>
              </a:rPr>
              <a:t>Its own image.</a:t>
            </a:r>
            <a:endParaRPr lang="en-US" sz="1400" dirty="0"/>
          </a:p>
        </p:txBody>
      </p:sp>
      <p:sp>
        <p:nvSpPr>
          <p:cNvPr id="20" name="Update note"/>
          <p:cNvSpPr txBox="1"/>
          <p:nvPr/>
        </p:nvSpPr>
        <p:spPr>
          <a:xfrm>
            <a:off x="548640" y="5852160"/>
            <a:ext cx="11091672" cy="320040"/>
          </a:xfrm>
          <a:prstGeom prst="rect">
            <a:avLst/>
          </a:prstGeom>
          <a:noFill/>
          <a:ln/>
        </p:spPr>
        <p:txBody>
          <a:bodyPr wrap="square" lIns="0" tIns="0" rIns="0" bIns="0" rtlCol="0" anchor="t"/>
          <a:lstStyle/>
          <a:p>
            <a:pPr algn="l" indent="0" marL="0">
              <a:buNone/>
            </a:pPr>
            <a:r>
              <a:rPr lang="en-US" sz="1400" dirty="0">
                <a:solidFill>
                  <a:schemeClr val="accent6"/>
                </a:solidFill>
              </a:rPr>
              <a:t>Every upstream change arrives as a merge request that the owning team chooses to merge.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One trace from client to service</a:t>
            </a:r>
            <a:endParaRPr lang="en-US" sz="3600" dirty="0"/>
          </a:p>
        </p:txBody>
      </p:sp>
      <p:sp>
        <p:nvSpPr>
          <p:cNvPr id="4" name="Agentgateway"/>
          <p:cNvSpPr txBox="1"/>
          <p:nvPr/>
        </p:nvSpPr>
        <p:spPr>
          <a:xfrm>
            <a:off x="548640" y="1645920"/>
            <a:ext cx="1347216" cy="713232"/>
          </a:xfrm>
          <a:prstGeom prst="roundRect">
            <a:avLst>
              <a:gd name="adj" fmla="val 10256"/>
            </a:avLst>
          </a:prstGeom>
          <a:solidFill>
            <a:schemeClr val="accent1">
              <a:alpha val="14000"/>
            </a:schemeClr>
          </a:solidFill>
          <a:ln w="15875">
            <a:solidFill>
              <a:schemeClr val="accent1"/>
            </a:solidFill>
            <a:prstDash val="solid"/>
          </a:ln>
        </p:spPr>
        <p:txBody>
          <a:bodyPr wrap="square" lIns="635" tIns="635" rIns="635" bIns="635" rtlCol="0" anchor="ctr"/>
          <a:lstStyle/>
          <a:p>
            <a:pPr algn="ctr" indent="0" marL="0">
              <a:buNone/>
            </a:pPr>
            <a:r>
              <a:rPr lang="en-US" sz="1200" b="1" dirty="0">
                <a:solidFill>
                  <a:schemeClr val="tx1"/>
                </a:solidFill>
              </a:rPr>
              <a:t>Agentgateway</a:t>
            </a:r>
            <a:endParaRPr lang="en-US" sz="1200" dirty="0"/>
          </a:p>
        </p:txBody>
      </p:sp>
      <p:sp>
        <p:nvSpPr>
          <p:cNvPr id="5" name="Signal arrow 1"/>
          <p:cNvSpPr/>
          <p:nvPr/>
        </p:nvSpPr>
        <p:spPr>
          <a:xfrm>
            <a:off x="1222248" y="2395728"/>
            <a:ext cx="0" cy="420624"/>
          </a:xfrm>
          <a:prstGeom prst="line">
            <a:avLst/>
          </a:prstGeom>
          <a:noFill/>
          <a:ln w="19050">
            <a:solidFill>
              <a:schemeClr val="accent6"/>
            </a:solidFill>
            <a:prstDash val="solid"/>
            <a:tailEnd type="triangle"/>
          </a:ln>
        </p:spPr>
      </p:sp>
      <p:sp>
        <p:nvSpPr>
          <p:cNvPr id="6" name="Agents"/>
          <p:cNvSpPr txBox="1"/>
          <p:nvPr/>
        </p:nvSpPr>
        <p:spPr>
          <a:xfrm>
            <a:off x="2023872" y="1645920"/>
            <a:ext cx="1347216" cy="713232"/>
          </a:xfrm>
          <a:prstGeom prst="roundRect">
            <a:avLst>
              <a:gd name="adj" fmla="val 10256"/>
            </a:avLst>
          </a:prstGeom>
          <a:solidFill>
            <a:schemeClr val="accent1">
              <a:alpha val="14000"/>
            </a:schemeClr>
          </a:solidFill>
          <a:ln w="15875">
            <a:solidFill>
              <a:schemeClr val="accent1"/>
            </a:solidFill>
            <a:prstDash val="solid"/>
          </a:ln>
        </p:spPr>
        <p:txBody>
          <a:bodyPr wrap="square" lIns="635" tIns="635" rIns="635" bIns="635" rtlCol="0" anchor="ctr"/>
          <a:lstStyle/>
          <a:p>
            <a:pPr algn="ctr" indent="0" marL="0">
              <a:buNone/>
            </a:pPr>
            <a:r>
              <a:rPr lang="en-US" sz="1200" b="1" dirty="0">
                <a:solidFill>
                  <a:schemeClr val="tx1"/>
                </a:solidFill>
              </a:rPr>
              <a:t>Agents</a:t>
            </a:r>
            <a:endParaRPr lang="en-US" sz="1200" dirty="0"/>
          </a:p>
        </p:txBody>
      </p:sp>
      <p:sp>
        <p:nvSpPr>
          <p:cNvPr id="7" name="Signal arrow 2"/>
          <p:cNvSpPr/>
          <p:nvPr/>
        </p:nvSpPr>
        <p:spPr>
          <a:xfrm>
            <a:off x="2697480" y="2395728"/>
            <a:ext cx="0" cy="420624"/>
          </a:xfrm>
          <a:prstGeom prst="line">
            <a:avLst/>
          </a:prstGeom>
          <a:noFill/>
          <a:ln w="19050">
            <a:solidFill>
              <a:schemeClr val="accent6"/>
            </a:solidFill>
            <a:prstDash val="solid"/>
            <a:tailEnd type="triangle"/>
          </a:ln>
        </p:spPr>
      </p:sp>
      <p:sp>
        <p:nvSpPr>
          <p:cNvPr id="8" name="MCP servers and services"/>
          <p:cNvSpPr txBox="1"/>
          <p:nvPr/>
        </p:nvSpPr>
        <p:spPr>
          <a:xfrm>
            <a:off x="3499104" y="1645920"/>
            <a:ext cx="1347216" cy="713232"/>
          </a:xfrm>
          <a:prstGeom prst="roundRect">
            <a:avLst>
              <a:gd name="adj" fmla="val 10256"/>
            </a:avLst>
          </a:prstGeom>
          <a:solidFill>
            <a:schemeClr val="accent1">
              <a:alpha val="14000"/>
            </a:schemeClr>
          </a:solidFill>
          <a:ln w="15875">
            <a:solidFill>
              <a:schemeClr val="accent1"/>
            </a:solidFill>
            <a:prstDash val="solid"/>
          </a:ln>
        </p:spPr>
        <p:txBody>
          <a:bodyPr wrap="square" lIns="635" tIns="635" rIns="635" bIns="635" rtlCol="0" anchor="ctr"/>
          <a:lstStyle/>
          <a:p>
            <a:pPr algn="ctr" indent="0" marL="0">
              <a:buNone/>
            </a:pPr>
            <a:r>
              <a:rPr lang="en-US" sz="1200" b="1" dirty="0">
                <a:solidFill>
                  <a:schemeClr val="tx1"/>
                </a:solidFill>
              </a:rPr>
              <a:t>MCP servers and services</a:t>
            </a:r>
            <a:endParaRPr lang="en-US" sz="1200" dirty="0"/>
          </a:p>
        </p:txBody>
      </p:sp>
      <p:sp>
        <p:nvSpPr>
          <p:cNvPr id="9" name="Signal arrow 3"/>
          <p:cNvSpPr/>
          <p:nvPr/>
        </p:nvSpPr>
        <p:spPr>
          <a:xfrm>
            <a:off x="4172712" y="2395728"/>
            <a:ext cx="0" cy="420624"/>
          </a:xfrm>
          <a:prstGeom prst="line">
            <a:avLst/>
          </a:prstGeom>
          <a:noFill/>
          <a:ln w="19050">
            <a:solidFill>
              <a:schemeClr val="accent6"/>
            </a:solidFill>
            <a:prstDash val="solid"/>
            <a:tailEnd type="triangle"/>
          </a:ln>
        </p:spPr>
      </p:sp>
      <p:sp>
        <p:nvSpPr>
          <p:cNvPr id="10" name="Collectors"/>
          <p:cNvSpPr txBox="1"/>
          <p:nvPr/>
        </p:nvSpPr>
        <p:spPr>
          <a:xfrm>
            <a:off x="548640" y="2852928"/>
            <a:ext cx="4297680" cy="658368"/>
          </a:xfrm>
          <a:prstGeom prst="roundRect">
            <a:avLst>
              <a:gd name="adj" fmla="val 11111"/>
            </a:avLst>
          </a:prstGeom>
          <a:solidFill>
            <a:schemeClr val="accent4">
              <a:alpha val="22000"/>
            </a:schemeClr>
          </a:solidFill>
          <a:ln w="15875">
            <a:solidFill>
              <a:schemeClr val="accent4"/>
            </a:solidFill>
            <a:prstDash val="solid"/>
          </a:ln>
        </p:spPr>
        <p:txBody>
          <a:bodyPr wrap="square" lIns="635" tIns="635" rIns="635" bIns="635" rtlCol="0" anchor="ctr"/>
          <a:lstStyle/>
          <a:p>
            <a:pPr algn="ctr" indent="0" marL="0">
              <a:buNone/>
            </a:pPr>
            <a:r>
              <a:rPr lang="en-US" sz="1300" b="1" dirty="0">
                <a:solidFill>
                  <a:schemeClr val="tx1"/>
                </a:solidFill>
              </a:rPr>
              <a:t>Existing OTel collectors: filtering, batching, bounded queues</a:t>
            </a:r>
            <a:endParaRPr lang="en-US" sz="1300" dirty="0"/>
          </a:p>
        </p:txBody>
      </p:sp>
      <p:sp>
        <p:nvSpPr>
          <p:cNvPr id="11" name="Backend arrow"/>
          <p:cNvSpPr/>
          <p:nvPr/>
        </p:nvSpPr>
        <p:spPr>
          <a:xfrm>
            <a:off x="1828800" y="3547872"/>
            <a:ext cx="0" cy="420624"/>
          </a:xfrm>
          <a:prstGeom prst="line">
            <a:avLst/>
          </a:prstGeom>
          <a:noFill/>
          <a:ln w="19050">
            <a:solidFill>
              <a:schemeClr val="accent6"/>
            </a:solidFill>
            <a:prstDash val="solid"/>
            <a:tailEnd type="triangle"/>
          </a:ln>
        </p:spPr>
      </p:sp>
      <p:sp>
        <p:nvSpPr>
          <p:cNvPr id="12" name="Langfuse arrow"/>
          <p:cNvSpPr/>
          <p:nvPr/>
        </p:nvSpPr>
        <p:spPr>
          <a:xfrm>
            <a:off x="3977640" y="3547872"/>
            <a:ext cx="0" cy="420624"/>
          </a:xfrm>
          <a:prstGeom prst="line">
            <a:avLst/>
          </a:prstGeom>
          <a:noFill/>
          <a:ln w="19050">
            <a:solidFill>
              <a:schemeClr val="accent6"/>
            </a:solidFill>
            <a:prstDash val="dash"/>
            <a:tailEnd type="triangle"/>
          </a:ln>
        </p:spPr>
      </p:sp>
      <p:sp>
        <p:nvSpPr>
          <p:cNvPr id="13" name="Backend"/>
          <p:cNvSpPr txBox="1"/>
          <p:nvPr/>
        </p:nvSpPr>
        <p:spPr>
          <a:xfrm>
            <a:off x="548640" y="4005072"/>
            <a:ext cx="2560320" cy="713232"/>
          </a:xfrm>
          <a:prstGeom prst="roundRect">
            <a:avLst>
              <a:gd name="adj" fmla="val 10256"/>
            </a:avLst>
          </a:prstGeom>
          <a:solidFill>
            <a:schemeClr val="accent4">
              <a:alpha val="22000"/>
            </a:schemeClr>
          </a:solidFill>
          <a:ln w="15875">
            <a:solidFill>
              <a:schemeClr val="accent4"/>
            </a:solidFill>
            <a:prstDash val="solid"/>
          </a:ln>
        </p:spPr>
        <p:txBody>
          <a:bodyPr wrap="square" lIns="635" tIns="635" rIns="635" bIns="635" rtlCol="0" anchor="ctr"/>
          <a:lstStyle/>
          <a:p>
            <a:pPr algn="ctr" indent="0" marL="0">
              <a:buNone/>
            </a:pPr>
            <a:r>
              <a:rPr lang="en-US" sz="1400" b="1" dirty="0">
                <a:solidFill>
                  <a:schemeClr val="tx1"/>
                </a:solidFill>
              </a:rPr>
              <a:t>New Relic or Dynatrace</a:t>
            </a:r>
            <a:endParaRPr lang="en-US" sz="1400" dirty="0"/>
          </a:p>
        </p:txBody>
      </p:sp>
      <p:sp>
        <p:nvSpPr>
          <p:cNvPr id="14" name="Langfuse"/>
          <p:cNvSpPr txBox="1"/>
          <p:nvPr/>
        </p:nvSpPr>
        <p:spPr>
          <a:xfrm>
            <a:off x="3246120" y="4005072"/>
            <a:ext cx="1600200" cy="713232"/>
          </a:xfrm>
          <a:prstGeom prst="roundRect">
            <a:avLst>
              <a:gd name="adj" fmla="val 10256"/>
            </a:avLst>
          </a:prstGeom>
          <a:solidFill>
            <a:schemeClr val="accent3">
              <a:alpha val="14000"/>
            </a:schemeClr>
          </a:solidFill>
          <a:ln w="15875">
            <a:solidFill>
              <a:schemeClr val="accent3"/>
            </a:solidFill>
            <a:prstDash val="dash"/>
          </a:ln>
        </p:spPr>
        <p:txBody>
          <a:bodyPr wrap="square" lIns="635" tIns="635" rIns="635" bIns="635" rtlCol="0" anchor="ctr"/>
          <a:lstStyle/>
          <a:p>
            <a:pPr algn="ctr" indent="0" marL="0">
              <a:buNone/>
            </a:pPr>
            <a:r>
              <a:rPr lang="en-US" sz="1200" b="1" dirty="0">
                <a:solidFill>
                  <a:schemeClr val="tx1"/>
                </a:solidFill>
              </a:rPr>
              <a:t>Langfuse, if adopted</a:t>
            </a:r>
            <a:endParaRPr lang="en-US" sz="1200" dirty="0"/>
          </a:p>
        </p:txBody>
      </p:sp>
      <p:sp>
        <p:nvSpPr>
          <p:cNvPr id="15" name="Sensitive data note panel"/>
          <p:cNvSpPr/>
          <p:nvPr/>
        </p:nvSpPr>
        <p:spPr>
          <a:xfrm>
            <a:off x="548640" y="4983480"/>
            <a:ext cx="4297680" cy="1051560"/>
          </a:xfrm>
          <a:prstGeom prst="roundRect">
            <a:avLst>
              <a:gd name="adj" fmla="val 8696"/>
            </a:avLst>
          </a:prstGeom>
          <a:solidFill>
            <a:schemeClr val="bg2"/>
          </a:solidFill>
          <a:ln/>
        </p:spPr>
      </p:sp>
      <p:sp>
        <p:nvSpPr>
          <p:cNvPr id="16" name="Sensitive data note"/>
          <p:cNvSpPr txBox="1"/>
          <p:nvPr/>
        </p:nvSpPr>
        <p:spPr>
          <a:xfrm>
            <a:off x="749808" y="4983480"/>
            <a:ext cx="3895344" cy="1051560"/>
          </a:xfrm>
          <a:prstGeom prst="rect">
            <a:avLst/>
          </a:prstGeom>
          <a:noFill/>
          <a:ln/>
        </p:spPr>
        <p:txBody>
          <a:bodyPr wrap="square" lIns="0" tIns="0" rIns="0" bIns="0" rtlCol="0" anchor="ctr"/>
          <a:lstStyle/>
          <a:p>
            <a:pPr algn="l" indent="0" marL="0">
              <a:buNone/>
            </a:pPr>
            <a:r>
              <a:rPr lang="en-US" sz="1400" dirty="0">
                <a:solidFill>
                  <a:schemeClr val="tx1"/>
                </a:solidFill>
              </a:rPr>
              <a:t>Secrets and sensitive prompt or tool content stay out of telemetry by default.</a:t>
            </a:r>
            <a:endParaRPr lang="en-US" sz="1400" dirty="0"/>
          </a:p>
        </p:txBody>
      </p:sp>
      <p:graphicFrame>
        <p:nvGraphicFramePr>
          <p:cNvPr id="17" name="Debugging table"/>
          <p:cNvGraphicFramePr>
            <a:graphicFrameLocks noGrp="1"/>
          </p:cNvGraphicFramePr>
          <p:nvPr>
            <p:extLst>
              <p:ext uri="{D42A27DB-BD31-4B8C-83A1-F6EECF244321}">
                <p14:modId xmlns:p14="http://schemas.microsoft.com/office/powerpoint/2010/main" val="1579011935"/>
              </p:ext>
            </p:extLst>
          </p:nvPr>
        </p:nvGraphicFramePr>
        <p:xfrm>
          <a:off x="5257800" y="1645920"/>
          <a:ext cx="6382512" cy="914400"/>
        </p:xfrm>
        <a:graphic>
          <a:graphicData uri="http://schemas.openxmlformats.org/drawingml/2006/table">
            <a:tbl>
              <a:tblPr/>
              <a:tblGrid>
                <a:gridCol w="2514600"/>
                <a:gridCol w="3867912"/>
              </a:tblGrid>
              <a:tr h="530352">
                <a:tc>
                  <a:txBody>
                    <a:bodyPr/>
                    <a:lstStyle/>
                    <a:p>
                      <a:pPr indent="0" marL="0">
                        <a:buNone/>
                      </a:pPr>
                      <a:r>
                        <a:rPr lang="en-US" sz="1300" b="1" dirty="0">
                          <a:solidFill>
                            <a:schemeClr val="bg1"/>
                          </a:solidFill>
                        </a:rPr>
                        <a:t>Symptom</a:t>
                      </a:r>
                      <a:endParaRPr lang="en-US" sz="1300" dirty="0"/>
                    </a:p>
                  </a:txBody>
                  <a:tcPr marL="109728" marR="109728" marT="54864" marB="54864"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First evidence to inspect</a:t>
                      </a:r>
                      <a:endParaRPr lang="en-US" sz="1300" dirty="0"/>
                    </a:p>
                  </a:txBody>
                  <a:tcPr marL="109728" marR="109728" marT="54864" marB="54864"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chemeClr val="tx2"/>
                    </a:solidFill>
                  </a:tcPr>
                </a:tc>
              </a:tr>
              <a:tr h="530352">
                <a:tc>
                  <a:txBody>
                    <a:bodyPr/>
                    <a:lstStyle/>
                    <a:p>
                      <a:pPr indent="0" marL="0">
                        <a:buNone/>
                      </a:pPr>
                      <a:r>
                        <a:rPr lang="en-US" sz="1400" dirty="0">
                          <a:solidFill>
                            <a:schemeClr val="tx1"/>
                          </a:solidFill>
                        </a:rPr>
                        <a:t>Authentication failure</a:t>
                      </a:r>
                      <a:endParaRPr lang="en-US" sz="1400" dirty="0"/>
                    </a:p>
                  </a:txBody>
                  <a:tcPr marL="109728" marR="109728" marT="54864" marB="54864"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Issuer, audience and expiry outcome; the client's flow</a:t>
                      </a:r>
                      <a:endParaRPr lang="en-US" sz="1400" dirty="0"/>
                    </a:p>
                  </a:txBody>
                  <a:tcPr marL="109728" marR="109728" marT="54864" marB="54864"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r>
              <a:tr h="530352">
                <a:tc>
                  <a:txBody>
                    <a:bodyPr/>
                    <a:lstStyle/>
                    <a:p>
                      <a:pPr indent="0" marL="0">
                        <a:buNone/>
                      </a:pPr>
                      <a:r>
                        <a:rPr lang="en-US" sz="1400" dirty="0">
                          <a:solidFill>
                            <a:schemeClr val="tx1"/>
                          </a:solidFill>
                        </a:rPr>
                        <a:t>Tool denied</a:t>
                      </a:r>
                      <a:endParaRPr lang="en-US" sz="1400" dirty="0"/>
                    </a:p>
                  </a:txBody>
                  <a:tcPr marL="109728" marR="109728" marT="54864" marB="54864"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Verified principal and effective tool policy</a:t>
                      </a:r>
                      <a:endParaRPr lang="en-US" sz="1400" dirty="0"/>
                    </a:p>
                  </a:txBody>
                  <a:tcPr marL="109728" marR="109728" marT="54864" marB="54864"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r>
              <a:tr h="530352">
                <a:tc>
                  <a:txBody>
                    <a:bodyPr/>
                    <a:lstStyle/>
                    <a:p>
                      <a:pPr indent="0" marL="0">
                        <a:buNone/>
                      </a:pPr>
                      <a:r>
                        <a:rPr lang="en-US" sz="1400" dirty="0">
                          <a:solidFill>
                            <a:schemeClr val="tx1"/>
                          </a:solidFill>
                        </a:rPr>
                        <a:t>Gateway cannot reach backend</a:t>
                      </a:r>
                      <a:endParaRPr lang="en-US" sz="1400" dirty="0"/>
                    </a:p>
                  </a:txBody>
                  <a:tcPr marL="109728" marR="109728" marT="54864" marB="54864"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Route status, DNS and TLS, backend readiness</a:t>
                      </a:r>
                      <a:endParaRPr lang="en-US" sz="1400" dirty="0"/>
                    </a:p>
                  </a:txBody>
                  <a:tcPr marL="109728" marR="109728" marT="54864" marB="54864"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r>
              <a:tr h="530352">
                <a:tc>
                  <a:txBody>
                    <a:bodyPr/>
                    <a:lstStyle/>
                    <a:p>
                      <a:pPr indent="0" marL="0">
                        <a:buNone/>
                      </a:pPr>
                      <a:r>
                        <a:rPr lang="en-US" sz="1400" dirty="0">
                          <a:solidFill>
                            <a:schemeClr val="tx1"/>
                          </a:solidFill>
                        </a:rPr>
                        <a:t>Model request refused</a:t>
                      </a:r>
                      <a:endParaRPr lang="en-US" sz="1400" dirty="0"/>
                    </a:p>
                  </a:txBody>
                  <a:tcPr marL="109728" marR="109728" marT="54864" marB="54864"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Approved-model policy and rate-limit decision</a:t>
                      </a:r>
                      <a:endParaRPr lang="en-US" sz="1400" dirty="0"/>
                    </a:p>
                  </a:txBody>
                  <a:tcPr marL="109728" marR="109728" marT="54864" marB="54864"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r>
              <a:tr h="530352">
                <a:tc>
                  <a:txBody>
                    <a:bodyPr/>
                    <a:lstStyle/>
                    <a:p>
                      <a:pPr indent="0" marL="0">
                        <a:buNone/>
                      </a:pPr>
                      <a:r>
                        <a:rPr lang="en-US" sz="1400" dirty="0">
                          <a:solidFill>
                            <a:schemeClr val="tx1"/>
                          </a:solidFill>
                        </a:rPr>
                        <a:t>Missing traces</a:t>
                      </a:r>
                      <a:endParaRPr lang="en-US" sz="1400" dirty="0"/>
                    </a:p>
                  </a:txBody>
                  <a:tcPr marL="109728" marR="109728" marT="54864" marB="54864"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Instrumentation, collector queues, vendor export</a:t>
                      </a:r>
                      <a:endParaRPr lang="en-US" sz="1400" dirty="0"/>
                    </a:p>
                  </a:txBody>
                  <a:tcPr marL="109728" marR="109728" marT="54864" marB="54864"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r>
            </a:tbl>
          </a:graphicData>
        </a:graphic>
      </p:graphicFrame>
      <p:sp>
        <p:nvSpPr>
          <p:cNvPr id="18" name="Access note panel"/>
          <p:cNvSpPr/>
          <p:nvPr/>
        </p:nvSpPr>
        <p:spPr>
          <a:xfrm>
            <a:off x="5257800" y="4983480"/>
            <a:ext cx="6382512" cy="1051560"/>
          </a:xfrm>
          <a:prstGeom prst="roundRect">
            <a:avLst>
              <a:gd name="adj" fmla="val 8696"/>
            </a:avLst>
          </a:prstGeom>
          <a:solidFill>
            <a:schemeClr val="tx2"/>
          </a:solidFill>
          <a:ln/>
        </p:spPr>
      </p:sp>
      <p:sp>
        <p:nvSpPr>
          <p:cNvPr id="19" name="Access note"/>
          <p:cNvSpPr txBox="1"/>
          <p:nvPr/>
        </p:nvSpPr>
        <p:spPr>
          <a:xfrm>
            <a:off x="5532120" y="4983480"/>
            <a:ext cx="5833872" cy="1051560"/>
          </a:xfrm>
          <a:prstGeom prst="rect">
            <a:avLst/>
          </a:prstGeom>
          <a:noFill/>
          <a:ln/>
        </p:spPr>
        <p:txBody>
          <a:bodyPr wrap="square" lIns="0" tIns="0" rIns="0" bIns="0" rtlCol="0" anchor="ctr"/>
          <a:lstStyle/>
          <a:p>
            <a:pPr algn="l" indent="0" marL="0">
              <a:buNone/>
            </a:pPr>
            <a:r>
              <a:rPr lang="en-US" sz="1500" b="1" dirty="0">
                <a:solidFill>
                  <a:schemeClr val="bg1"/>
                </a:solidFill>
              </a:rPr>
              <a:t>The pilot must show this with ordinary developer permissions, not cluster-admin.</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Cost is a model, not yet a number</a:t>
            </a:r>
            <a:endParaRPr lang="en-US" sz="3600" dirty="0"/>
          </a:p>
        </p:txBody>
      </p:sp>
      <p:sp>
        <p:nvSpPr>
          <p:cNvPr id="4" name="Text 1"/>
          <p:cNvSpPr txBox="1"/>
          <p:nvPr/>
        </p:nvSpPr>
        <p:spPr>
          <a:xfrm>
            <a:off x="548640" y="1481328"/>
            <a:ext cx="5394960" cy="237744"/>
          </a:xfrm>
          <a:prstGeom prst="rect">
            <a:avLst/>
          </a:prstGeom>
          <a:noFill/>
          <a:ln/>
        </p:spPr>
        <p:txBody>
          <a:bodyPr wrap="square" lIns="0" tIns="0" rIns="0" bIns="0" rtlCol="0" anchor="t"/>
          <a:lstStyle/>
          <a:p>
            <a:pPr algn="l" indent="0" marL="0">
              <a:buNone/>
            </a:pPr>
            <a:r>
              <a:rPr lang="en-US" sz="1050" b="1" spc="100" kern="0" dirty="0">
                <a:solidFill>
                  <a:schemeClr val="accent6"/>
                </a:solidFill>
              </a:rPr>
              <a:t>REPORT TWO VIEWS SIDE BY SIDE</a:t>
            </a:r>
            <a:endParaRPr lang="en-US" sz="1050" dirty="0"/>
          </a:p>
        </p:txBody>
      </p:sp>
      <p:sp>
        <p:nvSpPr>
          <p:cNvPr id="5" name="Incremental cash cost card"/>
          <p:cNvSpPr/>
          <p:nvPr/>
        </p:nvSpPr>
        <p:spPr>
          <a:xfrm>
            <a:off x="548640" y="1783080"/>
            <a:ext cx="2583180" cy="1600200"/>
          </a:xfrm>
          <a:prstGeom prst="roundRect">
            <a:avLst>
              <a:gd name="adj" fmla="val 5714"/>
            </a:avLst>
          </a:prstGeom>
          <a:solidFill>
            <a:schemeClr val="bg2"/>
          </a:solidFill>
          <a:ln/>
        </p:spPr>
      </p:sp>
      <p:sp>
        <p:nvSpPr>
          <p:cNvPr id="6" name="Incremental cash cost heading"/>
          <p:cNvSpPr txBox="1"/>
          <p:nvPr/>
        </p:nvSpPr>
        <p:spPr>
          <a:xfrm>
            <a:off x="749808" y="1938528"/>
            <a:ext cx="2180844" cy="594360"/>
          </a:xfrm>
          <a:prstGeom prst="rect">
            <a:avLst/>
          </a:prstGeom>
          <a:noFill/>
          <a:ln/>
        </p:spPr>
        <p:txBody>
          <a:bodyPr wrap="square" lIns="0" tIns="0" rIns="0" bIns="0" rtlCol="0" anchor="t"/>
          <a:lstStyle/>
          <a:p>
            <a:pPr algn="l" indent="0" marL="0">
              <a:buNone/>
            </a:pPr>
            <a:r>
              <a:rPr lang="en-US" sz="1700" b="1" dirty="0">
                <a:solidFill>
                  <a:schemeClr val="tx2"/>
                </a:solidFill>
              </a:rPr>
              <a:t>Incremental cash cost</a:t>
            </a:r>
            <a:endParaRPr lang="en-US" sz="1700" dirty="0"/>
          </a:p>
        </p:txBody>
      </p:sp>
      <p:sp>
        <p:nvSpPr>
          <p:cNvPr id="7" name="Incremental cash cost text"/>
          <p:cNvSpPr txBox="1"/>
          <p:nvPr/>
        </p:nvSpPr>
        <p:spPr>
          <a:xfrm>
            <a:off x="749808" y="2560320"/>
            <a:ext cx="2180844" cy="731520"/>
          </a:xfrm>
          <a:prstGeom prst="rect">
            <a:avLst/>
          </a:prstGeom>
          <a:noFill/>
          <a:ln/>
        </p:spPr>
        <p:txBody>
          <a:bodyPr wrap="square" lIns="0" tIns="0" rIns="0" bIns="0" rtlCol="0" anchor="t"/>
          <a:lstStyle/>
          <a:p>
            <a:pPr algn="l" indent="0" marL="0">
              <a:buNone/>
            </a:pPr>
            <a:r>
              <a:rPr lang="en-US" sz="1400" dirty="0">
                <a:solidFill>
                  <a:schemeClr val="tx1"/>
                </a:solidFill>
              </a:rPr>
              <a:t>The new spend this platform causes.</a:t>
            </a:r>
            <a:endParaRPr lang="en-US" sz="1400" dirty="0"/>
          </a:p>
        </p:txBody>
      </p:sp>
      <p:sp>
        <p:nvSpPr>
          <p:cNvPr id="8" name="Allocated platform cost card"/>
          <p:cNvSpPr/>
          <p:nvPr/>
        </p:nvSpPr>
        <p:spPr>
          <a:xfrm>
            <a:off x="3360420" y="1783080"/>
            <a:ext cx="2583180" cy="1600200"/>
          </a:xfrm>
          <a:prstGeom prst="roundRect">
            <a:avLst>
              <a:gd name="adj" fmla="val 5714"/>
            </a:avLst>
          </a:prstGeom>
          <a:solidFill>
            <a:schemeClr val="bg2"/>
          </a:solidFill>
          <a:ln/>
        </p:spPr>
      </p:sp>
      <p:sp>
        <p:nvSpPr>
          <p:cNvPr id="9" name="Allocated platform cost heading"/>
          <p:cNvSpPr txBox="1"/>
          <p:nvPr/>
        </p:nvSpPr>
        <p:spPr>
          <a:xfrm>
            <a:off x="3561588" y="1938528"/>
            <a:ext cx="2180844" cy="594360"/>
          </a:xfrm>
          <a:prstGeom prst="rect">
            <a:avLst/>
          </a:prstGeom>
          <a:noFill/>
          <a:ln/>
        </p:spPr>
        <p:txBody>
          <a:bodyPr wrap="square" lIns="0" tIns="0" rIns="0" bIns="0" rtlCol="0" anchor="t"/>
          <a:lstStyle/>
          <a:p>
            <a:pPr algn="l" indent="0" marL="0">
              <a:buNone/>
            </a:pPr>
            <a:r>
              <a:rPr lang="en-US" sz="1700" b="1" dirty="0">
                <a:solidFill>
                  <a:schemeClr val="tx2"/>
                </a:solidFill>
              </a:rPr>
              <a:t>Allocated platform cost</a:t>
            </a:r>
            <a:endParaRPr lang="en-US" sz="1700" dirty="0"/>
          </a:p>
        </p:txBody>
      </p:sp>
      <p:sp>
        <p:nvSpPr>
          <p:cNvPr id="10" name="Allocated platform cost text"/>
          <p:cNvSpPr txBox="1"/>
          <p:nvPr/>
        </p:nvSpPr>
        <p:spPr>
          <a:xfrm>
            <a:off x="3561588" y="2560320"/>
            <a:ext cx="2180844" cy="731520"/>
          </a:xfrm>
          <a:prstGeom prst="rect">
            <a:avLst/>
          </a:prstGeom>
          <a:noFill/>
          <a:ln/>
        </p:spPr>
        <p:txBody>
          <a:bodyPr wrap="square" lIns="0" tIns="0" rIns="0" bIns="0" rtlCol="0" anchor="t"/>
          <a:lstStyle/>
          <a:p>
            <a:pPr algn="l" indent="0" marL="0">
              <a:buNone/>
            </a:pPr>
            <a:r>
              <a:rPr lang="en-US" sz="1400" dirty="0">
                <a:solidFill>
                  <a:schemeClr val="tx1"/>
                </a:solidFill>
              </a:rPr>
              <a:t>Adds the shared capacity and operating work it consumes.</a:t>
            </a:r>
            <a:endParaRPr lang="en-US" sz="1400" dirty="0"/>
          </a:p>
        </p:txBody>
      </p:sp>
      <p:sp>
        <p:nvSpPr>
          <p:cNvPr id="11" name="People card"/>
          <p:cNvSpPr/>
          <p:nvPr/>
        </p:nvSpPr>
        <p:spPr>
          <a:xfrm>
            <a:off x="548640" y="3566160"/>
            <a:ext cx="5394960" cy="777240"/>
          </a:xfrm>
          <a:prstGeom prst="roundRect">
            <a:avLst>
              <a:gd name="adj" fmla="val 11765"/>
            </a:avLst>
          </a:prstGeom>
          <a:solidFill>
            <a:schemeClr val="bg2"/>
          </a:solidFill>
          <a:ln/>
        </p:spPr>
      </p:sp>
      <p:sp>
        <p:nvSpPr>
          <p:cNvPr id="12" name="People text"/>
          <p:cNvSpPr txBox="1"/>
          <p:nvPr/>
        </p:nvSpPr>
        <p:spPr>
          <a:xfrm>
            <a:off x="749808" y="3566160"/>
            <a:ext cx="4992624" cy="777240"/>
          </a:xfrm>
          <a:prstGeom prst="rect">
            <a:avLst/>
          </a:prstGeom>
          <a:noFill/>
          <a:ln/>
        </p:spPr>
        <p:txBody>
          <a:bodyPr wrap="square" lIns="0" tIns="0" rIns="0" bIns="0" rtlCol="0" anchor="ctr"/>
          <a:lstStyle/>
          <a:p>
            <a:pPr indent="0" marL="0">
              <a:buNone/>
            </a:pPr>
            <a:r>
              <a:rPr lang="en-US" sz="1400" b="1" dirty="0">
                <a:solidFill>
                  <a:schemeClr val="tx1"/>
                </a:solidFill>
              </a:rPr>
              <a:t>People: </a:t>
            </a:r>
            <a:pPr indent="0" marL="0">
              <a:buNone/>
            </a:pPr>
            <a:r>
              <a:rPr lang="en-US" sz="1400" dirty="0">
                <a:solidFill>
                  <a:schemeClr val="tx1"/>
                </a:solidFill>
              </a:rPr>
              <a:t>build, review, on-call, upgrade and support hours, reported separately.</a:t>
            </a:r>
            <a:endParaRPr lang="en-US" sz="1400" dirty="0"/>
          </a:p>
        </p:txBody>
      </p:sp>
      <p:sp>
        <p:nvSpPr>
          <p:cNvPr id="13" name="Unpriced panel"/>
          <p:cNvSpPr/>
          <p:nvPr/>
        </p:nvSpPr>
        <p:spPr>
          <a:xfrm>
            <a:off x="548640" y="4572000"/>
            <a:ext cx="5394960" cy="1463040"/>
          </a:xfrm>
          <a:prstGeom prst="roundRect">
            <a:avLst>
              <a:gd name="adj" fmla="val 6250"/>
            </a:avLst>
          </a:prstGeom>
          <a:solidFill>
            <a:schemeClr val="tx2"/>
          </a:solidFill>
          <a:ln/>
        </p:spPr>
      </p:sp>
      <p:sp>
        <p:nvSpPr>
          <p:cNvPr id="14" name="Unpriced text"/>
          <p:cNvSpPr txBox="1"/>
          <p:nvPr/>
        </p:nvSpPr>
        <p:spPr>
          <a:xfrm>
            <a:off x="822960" y="4572000"/>
            <a:ext cx="4846320" cy="1463040"/>
          </a:xfrm>
          <a:prstGeom prst="rect">
            <a:avLst/>
          </a:prstGeom>
          <a:noFill/>
          <a:ln/>
        </p:spPr>
        <p:txBody>
          <a:bodyPr wrap="square" lIns="0" tIns="0" rIns="0" bIns="0" rtlCol="0" anchor="ctr"/>
          <a:lstStyle/>
          <a:p>
            <a:pPr indent="0" marL="0">
              <a:buNone/>
            </a:pPr>
            <a:r>
              <a:rPr lang="en-US" sz="2000" b="1" dirty="0">
                <a:solidFill>
                  <a:schemeClr val="bg1"/>
                </a:solidFill>
              </a:rPr>
              <a:t>No line is priced yet.</a:t>
            </a:r>
            <a:endParaRPr lang="en-US" sz="2000" dirty="0"/>
          </a:p>
          <a:p>
            <a:pPr indent="0" marL="0">
              <a:buNone/>
            </a:pPr>
            <a:r>
              <a:rPr lang="en-US" sz="2000" dirty="0">
                <a:solidFill>
                  <a:schemeClr val="bg1"/>
                </a:solidFill>
              </a:rPr>
              <a:t>An unpriced option is not a cheaper one.</a:t>
            </a:r>
            <a:endParaRPr lang="en-US" sz="2000" dirty="0"/>
          </a:p>
        </p:txBody>
      </p:sp>
      <p:sp>
        <p:nvSpPr>
          <p:cNvPr id="15" name="Text 12"/>
          <p:cNvSpPr txBox="1"/>
          <p:nvPr/>
        </p:nvSpPr>
        <p:spPr>
          <a:xfrm>
            <a:off x="6355080" y="1481328"/>
            <a:ext cx="5285232" cy="237744"/>
          </a:xfrm>
          <a:prstGeom prst="rect">
            <a:avLst/>
          </a:prstGeom>
          <a:noFill/>
          <a:ln/>
        </p:spPr>
        <p:txBody>
          <a:bodyPr wrap="square" lIns="0" tIns="0" rIns="0" bIns="0" rtlCol="0" anchor="t"/>
          <a:lstStyle/>
          <a:p>
            <a:pPr algn="l" indent="0" marL="0">
              <a:buNone/>
            </a:pPr>
            <a:r>
              <a:rPr lang="en-US" sz="1050" b="1" spc="100" kern="0" dirty="0">
                <a:solidFill>
                  <a:schemeClr val="accent6"/>
                </a:solidFill>
              </a:rPr>
              <a:t>SHARED PRICING PROFILE, IDENTICAL FOR BOTH OPTIONS</a:t>
            </a:r>
            <a:endParaRPr lang="en-US" sz="1050" dirty="0"/>
          </a:p>
        </p:txBody>
      </p:sp>
      <p:sp>
        <p:nvSpPr>
          <p:cNvPr id="16" name="model calls per session stat"/>
          <p:cNvSpPr/>
          <p:nvPr/>
        </p:nvSpPr>
        <p:spPr>
          <a:xfrm>
            <a:off x="6355080" y="1783080"/>
            <a:ext cx="2528316" cy="1097280"/>
          </a:xfrm>
          <a:prstGeom prst="roundRect">
            <a:avLst>
              <a:gd name="adj" fmla="val 8333"/>
            </a:avLst>
          </a:prstGeom>
          <a:solidFill>
            <a:schemeClr val="accent1">
              <a:alpha val="10000"/>
            </a:schemeClr>
          </a:solidFill>
          <a:ln/>
        </p:spPr>
      </p:sp>
      <p:sp>
        <p:nvSpPr>
          <p:cNvPr id="17" name="model calls per session value"/>
          <p:cNvSpPr txBox="1"/>
          <p:nvPr/>
        </p:nvSpPr>
        <p:spPr>
          <a:xfrm>
            <a:off x="6583680" y="1874520"/>
            <a:ext cx="2071116" cy="566928"/>
          </a:xfrm>
          <a:prstGeom prst="rect">
            <a:avLst/>
          </a:prstGeom>
          <a:noFill/>
          <a:ln/>
        </p:spPr>
        <p:txBody>
          <a:bodyPr wrap="square" lIns="0" tIns="0" rIns="0" bIns="0" rtlCol="0" anchor="ctr"/>
          <a:lstStyle/>
          <a:p>
            <a:pPr indent="0" marL="0">
              <a:buNone/>
            </a:pPr>
            <a:r>
              <a:rPr lang="en-US" sz="3400" b="1" dirty="0">
                <a:solidFill>
                  <a:schemeClr val="tx2"/>
                </a:solidFill>
              </a:rPr>
              <a:t>6</a:t>
            </a:r>
            <a:endParaRPr lang="en-US" sz="3400" dirty="0"/>
          </a:p>
        </p:txBody>
      </p:sp>
      <p:sp>
        <p:nvSpPr>
          <p:cNvPr id="18" name="model calls per session label"/>
          <p:cNvSpPr txBox="1"/>
          <p:nvPr/>
        </p:nvSpPr>
        <p:spPr>
          <a:xfrm>
            <a:off x="6583680" y="2441448"/>
            <a:ext cx="2071116" cy="329184"/>
          </a:xfrm>
          <a:prstGeom prst="rect">
            <a:avLst/>
          </a:prstGeom>
          <a:noFill/>
          <a:ln/>
        </p:spPr>
        <p:txBody>
          <a:bodyPr wrap="square" lIns="0" tIns="0" rIns="0" bIns="0" rtlCol="0" anchor="t"/>
          <a:lstStyle/>
          <a:p>
            <a:pPr indent="0" marL="0">
              <a:buNone/>
            </a:pPr>
            <a:r>
              <a:rPr lang="en-US" sz="1400" dirty="0">
                <a:solidFill>
                  <a:schemeClr val="tx1"/>
                </a:solidFill>
              </a:rPr>
              <a:t>model calls per session</a:t>
            </a:r>
            <a:endParaRPr lang="en-US" sz="1400" dirty="0"/>
          </a:p>
        </p:txBody>
      </p:sp>
      <p:sp>
        <p:nvSpPr>
          <p:cNvPr id="19" name="gateway calls per session stat"/>
          <p:cNvSpPr/>
          <p:nvPr/>
        </p:nvSpPr>
        <p:spPr>
          <a:xfrm>
            <a:off x="9111996" y="1783080"/>
            <a:ext cx="2528316" cy="1097280"/>
          </a:xfrm>
          <a:prstGeom prst="roundRect">
            <a:avLst>
              <a:gd name="adj" fmla="val 8333"/>
            </a:avLst>
          </a:prstGeom>
          <a:solidFill>
            <a:schemeClr val="accent1">
              <a:alpha val="10000"/>
            </a:schemeClr>
          </a:solidFill>
          <a:ln/>
        </p:spPr>
      </p:sp>
      <p:sp>
        <p:nvSpPr>
          <p:cNvPr id="20" name="gateway calls per session value"/>
          <p:cNvSpPr txBox="1"/>
          <p:nvPr/>
        </p:nvSpPr>
        <p:spPr>
          <a:xfrm>
            <a:off x="9340596" y="1874520"/>
            <a:ext cx="2071116" cy="566928"/>
          </a:xfrm>
          <a:prstGeom prst="rect">
            <a:avLst/>
          </a:prstGeom>
          <a:noFill/>
          <a:ln/>
        </p:spPr>
        <p:txBody>
          <a:bodyPr wrap="square" lIns="0" tIns="0" rIns="0" bIns="0" rtlCol="0" anchor="ctr"/>
          <a:lstStyle/>
          <a:p>
            <a:pPr indent="0" marL="0">
              <a:buNone/>
            </a:pPr>
            <a:r>
              <a:rPr lang="en-US" sz="3400" b="1" dirty="0">
                <a:solidFill>
                  <a:schemeClr val="tx2"/>
                </a:solidFill>
              </a:rPr>
              <a:t>12</a:t>
            </a:r>
            <a:endParaRPr lang="en-US" sz="3400" dirty="0"/>
          </a:p>
        </p:txBody>
      </p:sp>
      <p:sp>
        <p:nvSpPr>
          <p:cNvPr id="21" name="gateway calls per session label"/>
          <p:cNvSpPr txBox="1"/>
          <p:nvPr/>
        </p:nvSpPr>
        <p:spPr>
          <a:xfrm>
            <a:off x="9340596" y="2441448"/>
            <a:ext cx="2071116" cy="329184"/>
          </a:xfrm>
          <a:prstGeom prst="rect">
            <a:avLst/>
          </a:prstGeom>
          <a:noFill/>
          <a:ln/>
        </p:spPr>
        <p:txBody>
          <a:bodyPr wrap="square" lIns="0" tIns="0" rIns="0" bIns="0" rtlCol="0" anchor="t"/>
          <a:lstStyle/>
          <a:p>
            <a:pPr indent="0" marL="0">
              <a:buNone/>
            </a:pPr>
            <a:r>
              <a:rPr lang="en-US" sz="1400" dirty="0">
                <a:solidFill>
                  <a:schemeClr val="tx1"/>
                </a:solidFill>
              </a:rPr>
              <a:t>gateway calls per session</a:t>
            </a:r>
            <a:endParaRPr lang="en-US" sz="1400" dirty="0"/>
          </a:p>
        </p:txBody>
      </p:sp>
      <p:sp>
        <p:nvSpPr>
          <p:cNvPr id="22" name="environments stat"/>
          <p:cNvSpPr/>
          <p:nvPr/>
        </p:nvSpPr>
        <p:spPr>
          <a:xfrm>
            <a:off x="6355080" y="3017520"/>
            <a:ext cx="2528316" cy="1097280"/>
          </a:xfrm>
          <a:prstGeom prst="roundRect">
            <a:avLst>
              <a:gd name="adj" fmla="val 8333"/>
            </a:avLst>
          </a:prstGeom>
          <a:solidFill>
            <a:schemeClr val="accent1">
              <a:alpha val="10000"/>
            </a:schemeClr>
          </a:solidFill>
          <a:ln/>
        </p:spPr>
      </p:sp>
      <p:sp>
        <p:nvSpPr>
          <p:cNvPr id="23" name="environments value"/>
          <p:cNvSpPr txBox="1"/>
          <p:nvPr/>
        </p:nvSpPr>
        <p:spPr>
          <a:xfrm>
            <a:off x="6583680" y="3108960"/>
            <a:ext cx="2071116" cy="566928"/>
          </a:xfrm>
          <a:prstGeom prst="rect">
            <a:avLst/>
          </a:prstGeom>
          <a:noFill/>
          <a:ln/>
        </p:spPr>
        <p:txBody>
          <a:bodyPr wrap="square" lIns="0" tIns="0" rIns="0" bIns="0" rtlCol="0" anchor="ctr"/>
          <a:lstStyle/>
          <a:p>
            <a:pPr indent="0" marL="0">
              <a:buNone/>
            </a:pPr>
            <a:r>
              <a:rPr lang="en-US" sz="3400" b="1" dirty="0">
                <a:solidFill>
                  <a:schemeClr val="tx2"/>
                </a:solidFill>
              </a:rPr>
              <a:t>3</a:t>
            </a:r>
            <a:endParaRPr lang="en-US" sz="3400" dirty="0"/>
          </a:p>
        </p:txBody>
      </p:sp>
      <p:sp>
        <p:nvSpPr>
          <p:cNvPr id="24" name="environments label"/>
          <p:cNvSpPr txBox="1"/>
          <p:nvPr/>
        </p:nvSpPr>
        <p:spPr>
          <a:xfrm>
            <a:off x="6583680" y="3675888"/>
            <a:ext cx="2071116" cy="329184"/>
          </a:xfrm>
          <a:prstGeom prst="rect">
            <a:avLst/>
          </a:prstGeom>
          <a:noFill/>
          <a:ln/>
        </p:spPr>
        <p:txBody>
          <a:bodyPr wrap="square" lIns="0" tIns="0" rIns="0" bIns="0" rtlCol="0" anchor="t"/>
          <a:lstStyle/>
          <a:p>
            <a:pPr indent="0" marL="0">
              <a:buNone/>
            </a:pPr>
            <a:r>
              <a:rPr lang="en-US" sz="1400" dirty="0">
                <a:solidFill>
                  <a:schemeClr val="tx1"/>
                </a:solidFill>
              </a:rPr>
              <a:t>environments</a:t>
            </a:r>
            <a:endParaRPr lang="en-US" sz="1400" dirty="0"/>
          </a:p>
        </p:txBody>
      </p:sp>
      <p:sp>
        <p:nvSpPr>
          <p:cNvPr id="25" name="of sessions evaluated stat"/>
          <p:cNvSpPr/>
          <p:nvPr/>
        </p:nvSpPr>
        <p:spPr>
          <a:xfrm>
            <a:off x="9111996" y="3017520"/>
            <a:ext cx="2528316" cy="1097280"/>
          </a:xfrm>
          <a:prstGeom prst="roundRect">
            <a:avLst>
              <a:gd name="adj" fmla="val 8333"/>
            </a:avLst>
          </a:prstGeom>
          <a:solidFill>
            <a:schemeClr val="accent1">
              <a:alpha val="10000"/>
            </a:schemeClr>
          </a:solidFill>
          <a:ln/>
        </p:spPr>
      </p:sp>
      <p:sp>
        <p:nvSpPr>
          <p:cNvPr id="26" name="of sessions evaluated value"/>
          <p:cNvSpPr txBox="1"/>
          <p:nvPr/>
        </p:nvSpPr>
        <p:spPr>
          <a:xfrm>
            <a:off x="9340596" y="3108960"/>
            <a:ext cx="2071116" cy="566928"/>
          </a:xfrm>
          <a:prstGeom prst="rect">
            <a:avLst/>
          </a:prstGeom>
          <a:noFill/>
          <a:ln/>
        </p:spPr>
        <p:txBody>
          <a:bodyPr wrap="square" lIns="0" tIns="0" rIns="0" bIns="0" rtlCol="0" anchor="ctr"/>
          <a:lstStyle/>
          <a:p>
            <a:pPr indent="0" marL="0">
              <a:buNone/>
            </a:pPr>
            <a:r>
              <a:rPr lang="en-US" sz="3400" b="1" dirty="0">
                <a:solidFill>
                  <a:schemeClr val="tx2"/>
                </a:solidFill>
              </a:rPr>
              <a:t>20%</a:t>
            </a:r>
            <a:endParaRPr lang="en-US" sz="3400" dirty="0"/>
          </a:p>
        </p:txBody>
      </p:sp>
      <p:sp>
        <p:nvSpPr>
          <p:cNvPr id="27" name="of sessions evaluated label"/>
          <p:cNvSpPr txBox="1"/>
          <p:nvPr/>
        </p:nvSpPr>
        <p:spPr>
          <a:xfrm>
            <a:off x="9340596" y="3675888"/>
            <a:ext cx="2071116" cy="329184"/>
          </a:xfrm>
          <a:prstGeom prst="rect">
            <a:avLst/>
          </a:prstGeom>
          <a:noFill/>
          <a:ln/>
        </p:spPr>
        <p:txBody>
          <a:bodyPr wrap="square" lIns="0" tIns="0" rIns="0" bIns="0" rtlCol="0" anchor="t"/>
          <a:lstStyle/>
          <a:p>
            <a:pPr indent="0" marL="0">
              <a:buNone/>
            </a:pPr>
            <a:r>
              <a:rPr lang="en-US" sz="1400" dirty="0">
                <a:solidFill>
                  <a:schemeClr val="tx1"/>
                </a:solidFill>
              </a:rPr>
              <a:t>of sessions evaluated</a:t>
            </a:r>
            <a:endParaRPr lang="en-US" sz="1400" dirty="0"/>
          </a:p>
        </p:txBody>
      </p:sp>
      <p:sp>
        <p:nvSpPr>
          <p:cNvPr id="28" name="Volume stat"/>
          <p:cNvSpPr/>
          <p:nvPr/>
        </p:nvSpPr>
        <p:spPr>
          <a:xfrm>
            <a:off x="6355080" y="4251960"/>
            <a:ext cx="5285232" cy="1097280"/>
          </a:xfrm>
          <a:prstGeom prst="roundRect">
            <a:avLst>
              <a:gd name="adj" fmla="val 8333"/>
            </a:avLst>
          </a:prstGeom>
          <a:solidFill>
            <a:schemeClr val="accent1">
              <a:alpha val="10000"/>
            </a:schemeClr>
          </a:solidFill>
          <a:ln/>
        </p:spPr>
      </p:sp>
      <p:sp>
        <p:nvSpPr>
          <p:cNvPr id="29" name="Volume value"/>
          <p:cNvSpPr txBox="1"/>
          <p:nvPr/>
        </p:nvSpPr>
        <p:spPr>
          <a:xfrm>
            <a:off x="6583680" y="4343400"/>
            <a:ext cx="4828032" cy="566928"/>
          </a:xfrm>
          <a:prstGeom prst="rect">
            <a:avLst/>
          </a:prstGeom>
          <a:noFill/>
          <a:ln/>
        </p:spPr>
        <p:txBody>
          <a:bodyPr wrap="square" lIns="0" tIns="0" rIns="0" bIns="0" rtlCol="0" anchor="ctr"/>
          <a:lstStyle/>
          <a:p>
            <a:pPr indent="0" marL="0">
              <a:buNone/>
            </a:pPr>
            <a:r>
              <a:rPr lang="en-US" sz="3400" b="1" dirty="0">
                <a:solidFill>
                  <a:schemeClr val="tx2"/>
                </a:solidFill>
              </a:rPr>
              <a:t>5k, 50k, 500k</a:t>
            </a:r>
            <a:endParaRPr lang="en-US" sz="3400" dirty="0"/>
          </a:p>
        </p:txBody>
      </p:sp>
      <p:sp>
        <p:nvSpPr>
          <p:cNvPr id="30" name="Volume label"/>
          <p:cNvSpPr txBox="1"/>
          <p:nvPr/>
        </p:nvSpPr>
        <p:spPr>
          <a:xfrm>
            <a:off x="6583680" y="4910328"/>
            <a:ext cx="4828032" cy="329184"/>
          </a:xfrm>
          <a:prstGeom prst="rect">
            <a:avLst/>
          </a:prstGeom>
          <a:noFill/>
          <a:ln/>
        </p:spPr>
        <p:txBody>
          <a:bodyPr wrap="square" lIns="0" tIns="0" rIns="0" bIns="0" rtlCol="0" anchor="t"/>
          <a:lstStyle/>
          <a:p>
            <a:pPr indent="0" marL="0">
              <a:buNone/>
            </a:pPr>
            <a:r>
              <a:rPr lang="en-US" sz="1400" dirty="0">
                <a:solidFill>
                  <a:schemeClr val="tx1"/>
                </a:solidFill>
              </a:rPr>
              <a:t>sessions a month, priced at each volume</a:t>
            </a:r>
            <a:endParaRPr lang="en-US" sz="1400" dirty="0"/>
          </a:p>
        </p:txBody>
      </p:sp>
      <p:sp>
        <p:nvSpPr>
          <p:cNvPr id="31" name="Hypothesis"/>
          <p:cNvSpPr txBox="1"/>
          <p:nvPr/>
        </p:nvSpPr>
        <p:spPr>
          <a:xfrm>
            <a:off x="6355080" y="5486400"/>
            <a:ext cx="5285232" cy="548640"/>
          </a:xfrm>
          <a:prstGeom prst="rect">
            <a:avLst/>
          </a:prstGeom>
          <a:noFill/>
          <a:ln/>
        </p:spPr>
        <p:txBody>
          <a:bodyPr wrap="square" lIns="0" tIns="0" rIns="0" bIns="0" rtlCol="0" anchor="ctr"/>
          <a:lstStyle/>
          <a:p>
            <a:pPr indent="0" marL="0">
              <a:buNone/>
            </a:pPr>
            <a:r>
              <a:rPr lang="en-US" sz="1400" b="1" dirty="0">
                <a:solidFill>
                  <a:schemeClr val="tx1"/>
                </a:solidFill>
              </a:rPr>
              <a:t>Hypothesis to test: </a:t>
            </a:r>
            <a:pPr indent="0" marL="0">
              <a:buNone/>
            </a:pPr>
            <a:r>
              <a:rPr lang="en-US" sz="1400" dirty="0">
                <a:solidFill>
                  <a:schemeClr val="tx1"/>
                </a:solidFill>
              </a:rPr>
              <a:t>mostly fixed baseline at pilot volume, mostly inference at scale.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Compared with AgentCore on a shared basis</a:t>
            </a:r>
            <a:endParaRPr lang="en-US" sz="3600" dirty="0"/>
          </a:p>
        </p:txBody>
      </p:sp>
      <p:graphicFrame>
        <p:nvGraphicFramePr>
          <p:cNvPr id="19" name="Comparison table"/>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286000"/>
                <a:gridCol w="4389120"/>
                <a:gridCol w="4416552"/>
              </a:tblGrid>
              <a:tr h="530352">
                <a:tc>
                  <a:txBody>
                    <a:bodyPr/>
                    <a:lstStyle/>
                    <a:p>
                      <a:pPr indent="0" marL="0">
                        <a:buNone/>
                      </a:pPr>
                      <a:r>
                        <a:rPr lang="en-US" sz="1300" b="1" dirty="0">
                          <a:solidFill>
                            <a:schemeClr val="bg1"/>
                          </a:solidFill>
                        </a:rPr>
                        <a:t>Concern</a:t>
                      </a:r>
                      <a:endParaRPr lang="en-US" sz="13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This option</a:t>
                      </a:r>
                      <a:endParaRPr lang="en-US" sz="13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AgentCore option</a:t>
                      </a:r>
                      <a:endParaRPr lang="en-US" sz="13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solidFill>
                      <a:schemeClr val="tx2"/>
                    </a:solidFill>
                  </a:tcPr>
                </a:tc>
              </a:tr>
              <a:tr h="530352">
                <a:tc>
                  <a:txBody>
                    <a:bodyPr/>
                    <a:lstStyle/>
                    <a:p>
                      <a:pPr indent="0" marL="0">
                        <a:buNone/>
                      </a:pPr>
                      <a:r>
                        <a:rPr lang="en-US" sz="1400" b="1" dirty="0">
                          <a:solidFill>
                            <a:schemeClr val="tx1"/>
                          </a:solidFill>
                        </a:rPr>
                        <a:t>Tool governance</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Agentgateway on EKS</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AgentCore domain tool gateway</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r>
              <a:tr h="530352">
                <a:tc>
                  <a:txBody>
                    <a:bodyPr/>
                    <a:lstStyle/>
                    <a:p>
                      <a:pPr indent="0" marL="0">
                        <a:buNone/>
                      </a:pPr>
                      <a:r>
                        <a:rPr lang="en-US" sz="1400" b="1" dirty="0">
                          <a:solidFill>
                            <a:schemeClr val="tx1"/>
                          </a:solidFill>
                        </a:rPr>
                        <a:t>Model access</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Gateway endpoint; provider key held at the gateway</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Execution role and approved model list</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r>
              <a:tr h="530352">
                <a:tc>
                  <a:txBody>
                    <a:bodyPr/>
                    <a:lstStyle/>
                    <a:p>
                      <a:pPr indent="0" marL="0">
                        <a:buNone/>
                      </a:pPr>
                      <a:r>
                        <a:rPr lang="en-US" sz="1400" b="1" dirty="0">
                          <a:solidFill>
                            <a:schemeClr val="tx1"/>
                          </a:solidFill>
                        </a:rPr>
                        <a:t>Hosted execution</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Deployment or Job; kagent as candidate</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Managed harness or custom runtime</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r>
              <a:tr h="530352">
                <a:tc>
                  <a:txBody>
                    <a:bodyPr/>
                    <a:lstStyle/>
                    <a:p>
                      <a:pPr indent="0" marL="0">
                        <a:buNone/>
                      </a:pPr>
                      <a:r>
                        <a:rPr lang="en-US" sz="1400" b="1" dirty="0">
                          <a:solidFill>
                            <a:schemeClr val="tx1"/>
                          </a:solidFill>
                        </a:rPr>
                        <a:t>Session state</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CloudNativePG and S3 snapshots</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AgentCore memory, owned per workload</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r>
              <a:tr h="530352">
                <a:tc>
                  <a:txBody>
                    <a:bodyPr/>
                    <a:lstStyle/>
                    <a:p>
                      <a:pPr indent="0" marL="0">
                        <a:buNone/>
                      </a:pPr>
                      <a:r>
                        <a:rPr lang="en-US" sz="1400" b="1" dirty="0">
                          <a:solidFill>
                            <a:schemeClr val="tx1"/>
                          </a:solidFill>
                        </a:rPr>
                        <a:t>Deployment</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Helm values applied by Helmfile</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deployment.yaml applied by Terraform, candidate then active</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r>
              <a:tr h="530352">
                <a:tc>
                  <a:txBody>
                    <a:bodyPr/>
                    <a:lstStyle/>
                    <a:p>
                      <a:pPr indent="0" marL="0">
                        <a:buNone/>
                      </a:pPr>
                      <a:r>
                        <a:rPr lang="en-US" sz="1400" b="1" dirty="0">
                          <a:solidFill>
                            <a:schemeClr val="tx1"/>
                          </a:solidFill>
                        </a:rPr>
                        <a:t>Cost shape</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Provisioned capacity and operating effort; unpriced</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c>
                  <a:txBody>
                    <a:bodyPr/>
                    <a:lstStyle/>
                    <a:p>
                      <a:pPr indent="0" marL="0">
                        <a:buNone/>
                      </a:pPr>
                      <a:r>
                        <a:rPr lang="en-US" sz="1400" dirty="0">
                          <a:solidFill>
                            <a:schemeClr val="tx1"/>
                          </a:solidFill>
                        </a:rPr>
                        <a:t>Metered services; priced with illustrative totals</a:t>
                      </a:r>
                      <a:endParaRPr lang="en-US" sz="1400" dirty="0"/>
                    </a:p>
                  </a:txBody>
                  <a:tcPr marL="109728" marR="109728" marT="64008" marB="64008" anchor="ctr">
                    <a:lnL w="9525" cap="flat" cmpd="sng" algn="ctr">
                      <a:solidFill>
                        <a:srgbClr val="F1F3F5"/>
                      </a:solidFill>
                      <a:prstDash val="solid"/>
                      <a:round/>
                      <a:headEnd type="none" w="med" len="med"/>
                      <a:tailEnd type="none" w="med" len="med"/>
                    </a:lnL>
                    <a:lnR w="9525" cap="flat" cmpd="sng" algn="ctr">
                      <a:solidFill>
                        <a:srgbClr val="F1F3F5"/>
                      </a:solidFill>
                      <a:prstDash val="solid"/>
                      <a:round/>
                      <a:headEnd type="none" w="med" len="med"/>
                      <a:tailEnd type="none" w="med" len="med"/>
                    </a:lnR>
                    <a:lnT w="9525" cap="flat" cmpd="sng" algn="ctr">
                      <a:solidFill>
                        <a:srgbClr val="F1F3F5"/>
                      </a:solidFill>
                      <a:prstDash val="solid"/>
                      <a:round/>
                      <a:headEnd type="none" w="med" len="med"/>
                      <a:tailEnd type="none" w="med" len="med"/>
                    </a:lnT>
                    <a:lnB w="9525" cap="flat" cmpd="sng" algn="ctr">
                      <a:solidFill>
                        <a:srgbClr val="F1F3F5"/>
                      </a:solidFill>
                      <a:prstDash val="solid"/>
                      <a:round/>
                      <a:headEnd type="none" w="med" len="med"/>
                      <a:tailEnd type="none" w="med" len="med"/>
                    </a:lnB>
                  </a:tcPr>
                </a:tc>
              </a:tr>
            </a:tbl>
          </a:graphicData>
        </a:graphic>
      </p:graphicFrame>
      <p:sp>
        <p:nvSpPr>
          <p:cNvPr id="5" name="Hybrid note panel"/>
          <p:cNvSpPr/>
          <p:nvPr/>
        </p:nvSpPr>
        <p:spPr>
          <a:xfrm>
            <a:off x="548640" y="5440680"/>
            <a:ext cx="11091672" cy="640080"/>
          </a:xfrm>
          <a:prstGeom prst="roundRect">
            <a:avLst>
              <a:gd name="adj" fmla="val 14286"/>
            </a:avLst>
          </a:prstGeom>
          <a:solidFill>
            <a:schemeClr val="bg2"/>
          </a:solidFill>
          <a:ln/>
        </p:spPr>
      </p:sp>
      <p:sp>
        <p:nvSpPr>
          <p:cNvPr id="6" name="Hybrid note"/>
          <p:cNvSpPr txBox="1"/>
          <p:nvPr/>
        </p:nvSpPr>
        <p:spPr>
          <a:xfrm>
            <a:off x="822960" y="5440680"/>
            <a:ext cx="10543032" cy="640080"/>
          </a:xfrm>
          <a:prstGeom prst="rect">
            <a:avLst/>
          </a:prstGeom>
          <a:noFill/>
          <a:ln/>
        </p:spPr>
        <p:txBody>
          <a:bodyPr wrap="square" lIns="0" tIns="0" rIns="0" bIns="0" rtlCol="0" anchor="ctr"/>
          <a:lstStyle/>
          <a:p>
            <a:pPr algn="l" indent="0" marL="0">
              <a:buNone/>
            </a:pPr>
            <a:r>
              <a:rPr lang="en-US" sz="1400" b="1" dirty="0">
                <a:solidFill>
                  <a:schemeClr val="tx1"/>
                </a:solidFill>
              </a:rPr>
              <a:t>A hybrid is testable: </a:t>
            </a:r>
            <a:pPr algn="l" indent="0" marL="0">
              <a:buNone/>
            </a:pPr>
            <a:r>
              <a:rPr lang="en-US" sz="1400" dirty="0">
                <a:solidFill>
                  <a:schemeClr val="tx1"/>
                </a:solidFill>
              </a:rPr>
              <a:t>Agentgateway documents a backend that routes to an AgentCore Runtime, and the pilot has one experiment for it.</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Six risks shape the pilot</a:t>
            </a:r>
            <a:endParaRPr lang="en-US" sz="3600" dirty="0"/>
          </a:p>
        </p:txBody>
      </p:sp>
      <p:sp>
        <p:nvSpPr>
          <p:cNvPr id="4" name="kagent 1.0 is alpha card"/>
          <p:cNvSpPr/>
          <p:nvPr/>
        </p:nvSpPr>
        <p:spPr>
          <a:xfrm>
            <a:off x="548640" y="1554480"/>
            <a:ext cx="3514344" cy="2103120"/>
          </a:xfrm>
          <a:prstGeom prst="roundRect">
            <a:avLst>
              <a:gd name="adj" fmla="val 4348"/>
            </a:avLst>
          </a:prstGeom>
          <a:solidFill>
            <a:schemeClr val="bg2"/>
          </a:solidFill>
          <a:ln/>
        </p:spPr>
      </p:sp>
      <p:sp>
        <p:nvSpPr>
          <p:cNvPr id="5" name="kagent 1.0 is alpha circle"/>
          <p:cNvSpPr/>
          <p:nvPr/>
        </p:nvSpPr>
        <p:spPr>
          <a:xfrm>
            <a:off x="777240" y="1792224"/>
            <a:ext cx="475488" cy="475488"/>
          </a:xfrm>
          <a:prstGeom prst="ellipse">
            <a:avLst/>
          </a:prstGeom>
          <a:solidFill>
            <a:schemeClr val="accent2"/>
          </a:solidFill>
          <a:ln/>
        </p:spPr>
      </p:sp>
      <p:pic>
        <p:nvPicPr>
          <p:cNvPr id="6" name="kagent 1.0 is alpha icon" descr="preencoded.png">    </p:cNvPr>
          <p:cNvPicPr>
            <a:picLocks noChangeAspect="1"/>
          </p:cNvPicPr>
          <p:nvPr/>
        </p:nvPicPr>
        <p:blipFill>
          <a:blip r:embed="rId1"/>
          <a:stretch>
            <a:fillRect/>
          </a:stretch>
        </p:blipFill>
        <p:spPr>
          <a:xfrm>
            <a:off x="896112" y="1911096"/>
            <a:ext cx="237744" cy="237744"/>
          </a:xfrm>
          <a:prstGeom prst="rect">
            <a:avLst/>
          </a:prstGeom>
        </p:spPr>
      </p:pic>
      <p:sp>
        <p:nvSpPr>
          <p:cNvPr id="7" name="kagent 1.0 is alpha heading"/>
          <p:cNvSpPr txBox="1"/>
          <p:nvPr/>
        </p:nvSpPr>
        <p:spPr>
          <a:xfrm>
            <a:off x="1417320" y="1737360"/>
            <a:ext cx="2462784" cy="585216"/>
          </a:xfrm>
          <a:prstGeom prst="rect">
            <a:avLst/>
          </a:prstGeom>
          <a:noFill/>
          <a:ln/>
        </p:spPr>
        <p:txBody>
          <a:bodyPr wrap="square" lIns="0" tIns="0" rIns="0" bIns="0" rtlCol="0" anchor="ctr"/>
          <a:lstStyle/>
          <a:p>
            <a:pPr indent="0" marL="0">
              <a:buNone/>
            </a:pPr>
            <a:r>
              <a:rPr lang="en-US" sz="1600" b="1" dirty="0">
                <a:solidFill>
                  <a:schemeClr val="tx2"/>
                </a:solidFill>
              </a:rPr>
              <a:t>kagent 1.0 is alpha</a:t>
            </a:r>
            <a:endParaRPr lang="en-US" sz="1600" dirty="0"/>
          </a:p>
        </p:txBody>
      </p:sp>
      <p:sp>
        <p:nvSpPr>
          <p:cNvPr id="8" name="Text 4"/>
          <p:cNvSpPr txBox="1"/>
          <p:nvPr/>
        </p:nvSpPr>
        <p:spPr>
          <a:xfrm>
            <a:off x="777240" y="2468880"/>
            <a:ext cx="3057144" cy="237744"/>
          </a:xfrm>
          <a:prstGeom prst="rect">
            <a:avLst/>
          </a:prstGeom>
          <a:noFill/>
          <a:ln/>
        </p:spPr>
        <p:txBody>
          <a:bodyPr wrap="square" lIns="0" tIns="0" rIns="0" bIns="0" rtlCol="0" anchor="t"/>
          <a:lstStyle/>
          <a:p>
            <a:pPr algn="l" indent="0" marL="0">
              <a:buNone/>
            </a:pPr>
            <a:r>
              <a:rPr lang="en-US" sz="1050" b="1" spc="100" kern="0" dirty="0">
                <a:solidFill>
                  <a:schemeClr val="accent6"/>
                </a:solidFill>
              </a:rPr>
              <a:t>RESPONSE</a:t>
            </a:r>
            <a:endParaRPr lang="en-US" sz="1050" dirty="0"/>
          </a:p>
        </p:txBody>
      </p:sp>
      <p:sp>
        <p:nvSpPr>
          <p:cNvPr id="9" name="kagent 1.0 is alpha response"/>
          <p:cNvSpPr txBox="1"/>
          <p:nvPr/>
        </p:nvSpPr>
        <p:spPr>
          <a:xfrm>
            <a:off x="777240" y="2715768"/>
            <a:ext cx="3057144" cy="868680"/>
          </a:xfrm>
          <a:prstGeom prst="rect">
            <a:avLst/>
          </a:prstGeom>
          <a:noFill/>
          <a:ln/>
        </p:spPr>
        <p:txBody>
          <a:bodyPr wrap="square" lIns="0" tIns="0" rIns="0" bIns="0" rtlCol="0" anchor="t"/>
          <a:lstStyle/>
          <a:p>
            <a:pPr algn="l" indent="0" marL="0">
              <a:buNone/>
            </a:pPr>
            <a:r>
              <a:rPr lang="en-US" sz="1400" dirty="0">
                <a:solidFill>
                  <a:schemeClr val="tx1"/>
                </a:solidFill>
              </a:rPr>
              <a:t>The conventional path is the default. One pinned generation. No production recommendation while it is alpha.</a:t>
            </a:r>
            <a:endParaRPr lang="en-US" sz="1400" dirty="0"/>
          </a:p>
        </p:txBody>
      </p:sp>
      <p:sp>
        <p:nvSpPr>
          <p:cNvPr id="10" name="The gateway can be bypassed card"/>
          <p:cNvSpPr/>
          <p:nvPr/>
        </p:nvSpPr>
        <p:spPr>
          <a:xfrm>
            <a:off x="4337304" y="1554480"/>
            <a:ext cx="3514344" cy="2103120"/>
          </a:xfrm>
          <a:prstGeom prst="roundRect">
            <a:avLst>
              <a:gd name="adj" fmla="val 4348"/>
            </a:avLst>
          </a:prstGeom>
          <a:solidFill>
            <a:schemeClr val="bg2"/>
          </a:solidFill>
          <a:ln/>
        </p:spPr>
      </p:sp>
      <p:sp>
        <p:nvSpPr>
          <p:cNvPr id="11" name="The gateway can be bypassed circle"/>
          <p:cNvSpPr/>
          <p:nvPr/>
        </p:nvSpPr>
        <p:spPr>
          <a:xfrm>
            <a:off x="4565904" y="1792224"/>
            <a:ext cx="475488" cy="475488"/>
          </a:xfrm>
          <a:prstGeom prst="ellipse">
            <a:avLst/>
          </a:prstGeom>
          <a:solidFill>
            <a:schemeClr val="accent2"/>
          </a:solidFill>
          <a:ln/>
        </p:spPr>
      </p:sp>
      <p:pic>
        <p:nvPicPr>
          <p:cNvPr id="12" name="The gateway can be bypassed icon" descr="preencoded.png">    </p:cNvPr>
          <p:cNvPicPr>
            <a:picLocks noChangeAspect="1"/>
          </p:cNvPicPr>
          <p:nvPr/>
        </p:nvPicPr>
        <p:blipFill>
          <a:blip r:embed="rId2"/>
          <a:stretch>
            <a:fillRect/>
          </a:stretch>
        </p:blipFill>
        <p:spPr>
          <a:xfrm>
            <a:off x="4684776" y="1911096"/>
            <a:ext cx="237744" cy="237744"/>
          </a:xfrm>
          <a:prstGeom prst="rect">
            <a:avLst/>
          </a:prstGeom>
        </p:spPr>
      </p:pic>
      <p:sp>
        <p:nvSpPr>
          <p:cNvPr id="13" name="The gateway can be bypassed heading"/>
          <p:cNvSpPr txBox="1"/>
          <p:nvPr/>
        </p:nvSpPr>
        <p:spPr>
          <a:xfrm>
            <a:off x="5205984" y="1737360"/>
            <a:ext cx="2462784" cy="585216"/>
          </a:xfrm>
          <a:prstGeom prst="rect">
            <a:avLst/>
          </a:prstGeom>
          <a:noFill/>
          <a:ln/>
        </p:spPr>
        <p:txBody>
          <a:bodyPr wrap="square" lIns="0" tIns="0" rIns="0" bIns="0" rtlCol="0" anchor="ctr"/>
          <a:lstStyle/>
          <a:p>
            <a:pPr indent="0" marL="0">
              <a:buNone/>
            </a:pPr>
            <a:r>
              <a:rPr lang="en-US" sz="1600" b="1" dirty="0">
                <a:solidFill>
                  <a:schemeClr val="tx2"/>
                </a:solidFill>
              </a:rPr>
              <a:t>The gateway can be bypassed</a:t>
            </a:r>
            <a:endParaRPr lang="en-US" sz="1600" dirty="0"/>
          </a:p>
        </p:txBody>
      </p:sp>
      <p:sp>
        <p:nvSpPr>
          <p:cNvPr id="14" name="Text 9"/>
          <p:cNvSpPr txBox="1"/>
          <p:nvPr/>
        </p:nvSpPr>
        <p:spPr>
          <a:xfrm>
            <a:off x="4565904" y="2468880"/>
            <a:ext cx="3057144" cy="237744"/>
          </a:xfrm>
          <a:prstGeom prst="rect">
            <a:avLst/>
          </a:prstGeom>
          <a:noFill/>
          <a:ln/>
        </p:spPr>
        <p:txBody>
          <a:bodyPr wrap="square" lIns="0" tIns="0" rIns="0" bIns="0" rtlCol="0" anchor="t"/>
          <a:lstStyle/>
          <a:p>
            <a:pPr algn="l" indent="0" marL="0">
              <a:buNone/>
            </a:pPr>
            <a:r>
              <a:rPr lang="en-US" sz="1050" b="1" spc="100" kern="0" dirty="0">
                <a:solidFill>
                  <a:schemeClr val="accent6"/>
                </a:solidFill>
              </a:rPr>
              <a:t>RESPONSE</a:t>
            </a:r>
            <a:endParaRPr lang="en-US" sz="1050" dirty="0"/>
          </a:p>
        </p:txBody>
      </p:sp>
      <p:sp>
        <p:nvSpPr>
          <p:cNvPr id="15" name="The gateway can be bypassed response"/>
          <p:cNvSpPr txBox="1"/>
          <p:nvPr/>
        </p:nvSpPr>
        <p:spPr>
          <a:xfrm>
            <a:off x="4565904" y="2715768"/>
            <a:ext cx="3057144" cy="868680"/>
          </a:xfrm>
          <a:prstGeom prst="rect">
            <a:avLst/>
          </a:prstGeom>
          <a:noFill/>
          <a:ln/>
        </p:spPr>
        <p:txBody>
          <a:bodyPr wrap="square" lIns="0" tIns="0" rIns="0" bIns="0" rtlCol="0" anchor="t"/>
          <a:lstStyle/>
          <a:p>
            <a:pPr algn="l" indent="0" marL="0">
              <a:buNone/>
            </a:pPr>
            <a:r>
              <a:rPr lang="en-US" sz="1400" dirty="0">
                <a:solidFill>
                  <a:schemeClr val="tx1"/>
                </a:solidFill>
              </a:rPr>
              <a:t>Five denied-path checks. A path that cannot be blocked is not offered as governed.</a:t>
            </a:r>
            <a:endParaRPr lang="en-US" sz="1400" dirty="0"/>
          </a:p>
        </p:txBody>
      </p:sp>
      <p:sp>
        <p:nvSpPr>
          <p:cNvPr id="16" name="A team policy overrides a platform rule card"/>
          <p:cNvSpPr/>
          <p:nvPr/>
        </p:nvSpPr>
        <p:spPr>
          <a:xfrm>
            <a:off x="8125968" y="1554480"/>
            <a:ext cx="3514344" cy="2103120"/>
          </a:xfrm>
          <a:prstGeom prst="roundRect">
            <a:avLst>
              <a:gd name="adj" fmla="val 4348"/>
            </a:avLst>
          </a:prstGeom>
          <a:solidFill>
            <a:schemeClr val="bg2"/>
          </a:solidFill>
          <a:ln/>
        </p:spPr>
      </p:sp>
      <p:sp>
        <p:nvSpPr>
          <p:cNvPr id="17" name="A team policy overrides a platform rule circle"/>
          <p:cNvSpPr/>
          <p:nvPr/>
        </p:nvSpPr>
        <p:spPr>
          <a:xfrm>
            <a:off x="8354568" y="1792224"/>
            <a:ext cx="475488" cy="475488"/>
          </a:xfrm>
          <a:prstGeom prst="ellipse">
            <a:avLst/>
          </a:prstGeom>
          <a:solidFill>
            <a:schemeClr val="accent2"/>
          </a:solidFill>
          <a:ln/>
        </p:spPr>
      </p:sp>
      <p:pic>
        <p:nvPicPr>
          <p:cNvPr id="18" name="A team policy overrides a platform rule icon" descr="preencoded.png">    </p:cNvPr>
          <p:cNvPicPr>
            <a:picLocks noChangeAspect="1"/>
          </p:cNvPicPr>
          <p:nvPr/>
        </p:nvPicPr>
        <p:blipFill>
          <a:blip r:embed="rId3"/>
          <a:stretch>
            <a:fillRect/>
          </a:stretch>
        </p:blipFill>
        <p:spPr>
          <a:xfrm>
            <a:off x="8473440" y="1911096"/>
            <a:ext cx="237744" cy="237744"/>
          </a:xfrm>
          <a:prstGeom prst="rect">
            <a:avLst/>
          </a:prstGeom>
        </p:spPr>
      </p:pic>
      <p:sp>
        <p:nvSpPr>
          <p:cNvPr id="19" name="A team policy overrides a platform rule heading"/>
          <p:cNvSpPr txBox="1"/>
          <p:nvPr/>
        </p:nvSpPr>
        <p:spPr>
          <a:xfrm>
            <a:off x="8994648" y="1737360"/>
            <a:ext cx="2462784" cy="585216"/>
          </a:xfrm>
          <a:prstGeom prst="rect">
            <a:avLst/>
          </a:prstGeom>
          <a:noFill/>
          <a:ln/>
        </p:spPr>
        <p:txBody>
          <a:bodyPr wrap="square" lIns="0" tIns="0" rIns="0" bIns="0" rtlCol="0" anchor="ctr"/>
          <a:lstStyle/>
          <a:p>
            <a:pPr indent="0" marL="0">
              <a:buNone/>
            </a:pPr>
            <a:r>
              <a:rPr lang="en-US" sz="1600" b="1" dirty="0">
                <a:solidFill>
                  <a:schemeClr val="tx2"/>
                </a:solidFill>
              </a:rPr>
              <a:t>A team policy overrides a platform rule</a:t>
            </a:r>
            <a:endParaRPr lang="en-US" sz="1600" dirty="0"/>
          </a:p>
        </p:txBody>
      </p:sp>
      <p:sp>
        <p:nvSpPr>
          <p:cNvPr id="20" name="Text 14"/>
          <p:cNvSpPr txBox="1"/>
          <p:nvPr/>
        </p:nvSpPr>
        <p:spPr>
          <a:xfrm>
            <a:off x="8354568" y="2468880"/>
            <a:ext cx="3057144" cy="237744"/>
          </a:xfrm>
          <a:prstGeom prst="rect">
            <a:avLst/>
          </a:prstGeom>
          <a:noFill/>
          <a:ln/>
        </p:spPr>
        <p:txBody>
          <a:bodyPr wrap="square" lIns="0" tIns="0" rIns="0" bIns="0" rtlCol="0" anchor="t"/>
          <a:lstStyle/>
          <a:p>
            <a:pPr algn="l" indent="0" marL="0">
              <a:buNone/>
            </a:pPr>
            <a:r>
              <a:rPr lang="en-US" sz="1050" b="1" spc="100" kern="0" dirty="0">
                <a:solidFill>
                  <a:schemeClr val="accent6"/>
                </a:solidFill>
              </a:rPr>
              <a:t>RESPONSE</a:t>
            </a:r>
            <a:endParaRPr lang="en-US" sz="1050" dirty="0"/>
          </a:p>
        </p:txBody>
      </p:sp>
      <p:sp>
        <p:nvSpPr>
          <p:cNvPr id="21" name="A team policy overrides a platform rule response"/>
          <p:cNvSpPr txBox="1"/>
          <p:nvPr/>
        </p:nvSpPr>
        <p:spPr>
          <a:xfrm>
            <a:off x="8354568" y="2715768"/>
            <a:ext cx="3057144" cy="868680"/>
          </a:xfrm>
          <a:prstGeom prst="rect">
            <a:avLst/>
          </a:prstGeom>
          <a:noFill/>
          <a:ln/>
        </p:spPr>
        <p:txBody>
          <a:bodyPr wrap="square" lIns="0" tIns="0" rIns="0" bIns="0" rtlCol="0" anchor="t"/>
          <a:lstStyle/>
          <a:p>
            <a:pPr algn="l" indent="0" marL="0">
              <a:buNone/>
            </a:pPr>
            <a:r>
              <a:rPr lang="en-US" sz="1400" dirty="0">
                <a:solidFill>
                  <a:schemeClr val="tx1"/>
                </a:solidFill>
              </a:rPr>
              <a:t>RBAC on policy resources, Kyverno on permitted fields, and override tests.</a:t>
            </a:r>
            <a:endParaRPr lang="en-US" sz="1400" dirty="0"/>
          </a:p>
        </p:txBody>
      </p:sp>
      <p:sp>
        <p:nvSpPr>
          <p:cNvPr id="22" name="The gateway is a shared dependency card"/>
          <p:cNvSpPr/>
          <p:nvPr/>
        </p:nvSpPr>
        <p:spPr>
          <a:xfrm>
            <a:off x="548640" y="3886200"/>
            <a:ext cx="3514344" cy="2103120"/>
          </a:xfrm>
          <a:prstGeom prst="roundRect">
            <a:avLst>
              <a:gd name="adj" fmla="val 4348"/>
            </a:avLst>
          </a:prstGeom>
          <a:solidFill>
            <a:schemeClr val="bg2"/>
          </a:solidFill>
          <a:ln/>
        </p:spPr>
      </p:sp>
      <p:sp>
        <p:nvSpPr>
          <p:cNvPr id="23" name="The gateway is a shared dependency circle"/>
          <p:cNvSpPr/>
          <p:nvPr/>
        </p:nvSpPr>
        <p:spPr>
          <a:xfrm>
            <a:off x="777240" y="4123944"/>
            <a:ext cx="475488" cy="475488"/>
          </a:xfrm>
          <a:prstGeom prst="ellipse">
            <a:avLst/>
          </a:prstGeom>
          <a:solidFill>
            <a:schemeClr val="accent2"/>
          </a:solidFill>
          <a:ln/>
        </p:spPr>
      </p:sp>
      <p:pic>
        <p:nvPicPr>
          <p:cNvPr id="24" name="The gateway is a shared dependency icon" descr="preencoded.png">    </p:cNvPr>
          <p:cNvPicPr>
            <a:picLocks noChangeAspect="1"/>
          </p:cNvPicPr>
          <p:nvPr/>
        </p:nvPicPr>
        <p:blipFill>
          <a:blip r:embed="rId4"/>
          <a:stretch>
            <a:fillRect/>
          </a:stretch>
        </p:blipFill>
        <p:spPr>
          <a:xfrm>
            <a:off x="896112" y="4242816"/>
            <a:ext cx="237744" cy="237744"/>
          </a:xfrm>
          <a:prstGeom prst="rect">
            <a:avLst/>
          </a:prstGeom>
        </p:spPr>
      </p:pic>
      <p:sp>
        <p:nvSpPr>
          <p:cNvPr id="25" name="The gateway is a shared dependency heading"/>
          <p:cNvSpPr txBox="1"/>
          <p:nvPr/>
        </p:nvSpPr>
        <p:spPr>
          <a:xfrm>
            <a:off x="1417320" y="4069080"/>
            <a:ext cx="2462784" cy="585216"/>
          </a:xfrm>
          <a:prstGeom prst="rect">
            <a:avLst/>
          </a:prstGeom>
          <a:noFill/>
          <a:ln/>
        </p:spPr>
        <p:txBody>
          <a:bodyPr wrap="square" lIns="0" tIns="0" rIns="0" bIns="0" rtlCol="0" anchor="ctr"/>
          <a:lstStyle/>
          <a:p>
            <a:pPr indent="0" marL="0">
              <a:buNone/>
            </a:pPr>
            <a:r>
              <a:rPr lang="en-US" sz="1600" b="1" dirty="0">
                <a:solidFill>
                  <a:schemeClr val="tx2"/>
                </a:solidFill>
              </a:rPr>
              <a:t>The gateway is a shared dependency</a:t>
            </a:r>
            <a:endParaRPr lang="en-US" sz="1600" dirty="0"/>
          </a:p>
        </p:txBody>
      </p:sp>
      <p:sp>
        <p:nvSpPr>
          <p:cNvPr id="26" name="Text 19"/>
          <p:cNvSpPr txBox="1"/>
          <p:nvPr/>
        </p:nvSpPr>
        <p:spPr>
          <a:xfrm>
            <a:off x="777240" y="4800600"/>
            <a:ext cx="3057144" cy="237744"/>
          </a:xfrm>
          <a:prstGeom prst="rect">
            <a:avLst/>
          </a:prstGeom>
          <a:noFill/>
          <a:ln/>
        </p:spPr>
        <p:txBody>
          <a:bodyPr wrap="square" lIns="0" tIns="0" rIns="0" bIns="0" rtlCol="0" anchor="t"/>
          <a:lstStyle/>
          <a:p>
            <a:pPr algn="l" indent="0" marL="0">
              <a:buNone/>
            </a:pPr>
            <a:r>
              <a:rPr lang="en-US" sz="1050" b="1" spc="100" kern="0" dirty="0">
                <a:solidFill>
                  <a:schemeClr val="accent6"/>
                </a:solidFill>
              </a:rPr>
              <a:t>RESPONSE</a:t>
            </a:r>
            <a:endParaRPr lang="en-US" sz="1050" dirty="0"/>
          </a:p>
        </p:txBody>
      </p:sp>
      <p:sp>
        <p:nvSpPr>
          <p:cNvPr id="27" name="The gateway is a shared dependency response"/>
          <p:cNvSpPr txBox="1"/>
          <p:nvPr/>
        </p:nvSpPr>
        <p:spPr>
          <a:xfrm>
            <a:off x="777240" y="5047488"/>
            <a:ext cx="3057144" cy="868680"/>
          </a:xfrm>
          <a:prstGeom prst="rect">
            <a:avLst/>
          </a:prstGeom>
          <a:noFill/>
          <a:ln/>
        </p:spPr>
        <p:txBody>
          <a:bodyPr wrap="square" lIns="0" tIns="0" rIns="0" bIns="0" rtlCol="0" anchor="t"/>
          <a:lstStyle/>
          <a:p>
            <a:pPr algn="l" indent="0" marL="0">
              <a:buNone/>
            </a:pPr>
            <a:r>
              <a:rPr lang="en-US" sz="1400" dirty="0">
                <a:solidFill>
                  <a:schemeClr val="tx1"/>
                </a:solidFill>
              </a:rPr>
              <a:t>Baseline replicas, outage experiments, and a decided failure behavior for the rate-limit server.</a:t>
            </a:r>
            <a:endParaRPr lang="en-US" sz="1400" dirty="0"/>
          </a:p>
        </p:txBody>
      </p:sp>
      <p:sp>
        <p:nvSpPr>
          <p:cNvPr id="28" name="CI runners share the cluster card"/>
          <p:cNvSpPr/>
          <p:nvPr/>
        </p:nvSpPr>
        <p:spPr>
          <a:xfrm>
            <a:off x="4337304" y="3886200"/>
            <a:ext cx="3514344" cy="2103120"/>
          </a:xfrm>
          <a:prstGeom prst="roundRect">
            <a:avLst>
              <a:gd name="adj" fmla="val 4348"/>
            </a:avLst>
          </a:prstGeom>
          <a:solidFill>
            <a:schemeClr val="bg2"/>
          </a:solidFill>
          <a:ln/>
        </p:spPr>
      </p:sp>
      <p:sp>
        <p:nvSpPr>
          <p:cNvPr id="29" name="CI runners share the cluster circle"/>
          <p:cNvSpPr/>
          <p:nvPr/>
        </p:nvSpPr>
        <p:spPr>
          <a:xfrm>
            <a:off x="4565904" y="4123944"/>
            <a:ext cx="475488" cy="475488"/>
          </a:xfrm>
          <a:prstGeom prst="ellipse">
            <a:avLst/>
          </a:prstGeom>
          <a:solidFill>
            <a:schemeClr val="accent2"/>
          </a:solidFill>
          <a:ln/>
        </p:spPr>
      </p:sp>
      <p:pic>
        <p:nvPicPr>
          <p:cNvPr id="30" name="CI runners share the cluster icon" descr="preencoded.png">    </p:cNvPr>
          <p:cNvPicPr>
            <a:picLocks noChangeAspect="1"/>
          </p:cNvPicPr>
          <p:nvPr/>
        </p:nvPicPr>
        <p:blipFill>
          <a:blip r:embed="rId5"/>
          <a:stretch>
            <a:fillRect/>
          </a:stretch>
        </p:blipFill>
        <p:spPr>
          <a:xfrm>
            <a:off x="4684776" y="4242816"/>
            <a:ext cx="237744" cy="237744"/>
          </a:xfrm>
          <a:prstGeom prst="rect">
            <a:avLst/>
          </a:prstGeom>
        </p:spPr>
      </p:pic>
      <p:sp>
        <p:nvSpPr>
          <p:cNvPr id="31" name="CI runners share the cluster heading"/>
          <p:cNvSpPr txBox="1"/>
          <p:nvPr/>
        </p:nvSpPr>
        <p:spPr>
          <a:xfrm>
            <a:off x="5205984" y="4069080"/>
            <a:ext cx="2462784" cy="585216"/>
          </a:xfrm>
          <a:prstGeom prst="rect">
            <a:avLst/>
          </a:prstGeom>
          <a:noFill/>
          <a:ln/>
        </p:spPr>
        <p:txBody>
          <a:bodyPr wrap="square" lIns="0" tIns="0" rIns="0" bIns="0" rtlCol="0" anchor="ctr"/>
          <a:lstStyle/>
          <a:p>
            <a:pPr indent="0" marL="0">
              <a:buNone/>
            </a:pPr>
            <a:r>
              <a:rPr lang="en-US" sz="1600" b="1" dirty="0">
                <a:solidFill>
                  <a:schemeClr val="tx2"/>
                </a:solidFill>
              </a:rPr>
              <a:t>CI runners share the cluster</a:t>
            </a:r>
            <a:endParaRPr lang="en-US" sz="1600" dirty="0"/>
          </a:p>
        </p:txBody>
      </p:sp>
      <p:sp>
        <p:nvSpPr>
          <p:cNvPr id="32" name="Text 24"/>
          <p:cNvSpPr txBox="1"/>
          <p:nvPr/>
        </p:nvSpPr>
        <p:spPr>
          <a:xfrm>
            <a:off x="4565904" y="4800600"/>
            <a:ext cx="3057144" cy="237744"/>
          </a:xfrm>
          <a:prstGeom prst="rect">
            <a:avLst/>
          </a:prstGeom>
          <a:noFill/>
          <a:ln/>
        </p:spPr>
        <p:txBody>
          <a:bodyPr wrap="square" lIns="0" tIns="0" rIns="0" bIns="0" rtlCol="0" anchor="t"/>
          <a:lstStyle/>
          <a:p>
            <a:pPr algn="l" indent="0" marL="0">
              <a:buNone/>
            </a:pPr>
            <a:r>
              <a:rPr lang="en-US" sz="1050" b="1" spc="100" kern="0" dirty="0">
                <a:solidFill>
                  <a:schemeClr val="accent6"/>
                </a:solidFill>
              </a:rPr>
              <a:t>RESPONSE</a:t>
            </a:r>
            <a:endParaRPr lang="en-US" sz="1050" dirty="0"/>
          </a:p>
        </p:txBody>
      </p:sp>
      <p:sp>
        <p:nvSpPr>
          <p:cNvPr id="33" name="CI runners share the cluster response"/>
          <p:cNvSpPr txBox="1"/>
          <p:nvPr/>
        </p:nvSpPr>
        <p:spPr>
          <a:xfrm>
            <a:off x="4565904" y="5047488"/>
            <a:ext cx="3057144" cy="868680"/>
          </a:xfrm>
          <a:prstGeom prst="rect">
            <a:avLst/>
          </a:prstGeom>
          <a:noFill/>
          <a:ln/>
        </p:spPr>
        <p:txBody>
          <a:bodyPr wrap="square" lIns="0" tIns="0" rIns="0" bIns="0" rtlCol="0" anchor="t"/>
          <a:lstStyle/>
          <a:p>
            <a:pPr algn="l" indent="0" marL="0">
              <a:buNone/>
            </a:pPr>
            <a:r>
              <a:rPr lang="en-US" sz="1400" dirty="0">
                <a:solidFill>
                  <a:schemeClr val="tx1"/>
                </a:solidFill>
              </a:rPr>
              <a:t>Runners are treated as untrusted workloads. The emergency path works without the pipeline.</a:t>
            </a:r>
            <a:endParaRPr lang="en-US" sz="1400" dirty="0"/>
          </a:p>
        </p:txBody>
      </p:sp>
      <p:sp>
        <p:nvSpPr>
          <p:cNvPr id="34" name="Cost is unpriced, requirements not agreed card"/>
          <p:cNvSpPr/>
          <p:nvPr/>
        </p:nvSpPr>
        <p:spPr>
          <a:xfrm>
            <a:off x="8125968" y="3886200"/>
            <a:ext cx="3514344" cy="2103120"/>
          </a:xfrm>
          <a:prstGeom prst="roundRect">
            <a:avLst>
              <a:gd name="adj" fmla="val 4348"/>
            </a:avLst>
          </a:prstGeom>
          <a:solidFill>
            <a:schemeClr val="bg2"/>
          </a:solidFill>
          <a:ln/>
        </p:spPr>
      </p:sp>
      <p:sp>
        <p:nvSpPr>
          <p:cNvPr id="35" name="Cost is unpriced, requirements not agreed circle"/>
          <p:cNvSpPr/>
          <p:nvPr/>
        </p:nvSpPr>
        <p:spPr>
          <a:xfrm>
            <a:off x="8354568" y="4123944"/>
            <a:ext cx="475488" cy="475488"/>
          </a:xfrm>
          <a:prstGeom prst="ellipse">
            <a:avLst/>
          </a:prstGeom>
          <a:solidFill>
            <a:schemeClr val="accent2"/>
          </a:solidFill>
          <a:ln/>
        </p:spPr>
      </p:sp>
      <p:pic>
        <p:nvPicPr>
          <p:cNvPr id="36" name="Cost is unpriced, requirements not agreed icon" descr="preencoded.png">    </p:cNvPr>
          <p:cNvPicPr>
            <a:picLocks noChangeAspect="1"/>
          </p:cNvPicPr>
          <p:nvPr/>
        </p:nvPicPr>
        <p:blipFill>
          <a:blip r:embed="rId6"/>
          <a:stretch>
            <a:fillRect/>
          </a:stretch>
        </p:blipFill>
        <p:spPr>
          <a:xfrm>
            <a:off x="8473440" y="4242816"/>
            <a:ext cx="237744" cy="237744"/>
          </a:xfrm>
          <a:prstGeom prst="rect">
            <a:avLst/>
          </a:prstGeom>
        </p:spPr>
      </p:pic>
      <p:sp>
        <p:nvSpPr>
          <p:cNvPr id="37" name="Cost is unpriced, requirements not agreed heading"/>
          <p:cNvSpPr txBox="1"/>
          <p:nvPr/>
        </p:nvSpPr>
        <p:spPr>
          <a:xfrm>
            <a:off x="8994648" y="4069080"/>
            <a:ext cx="2462784" cy="585216"/>
          </a:xfrm>
          <a:prstGeom prst="rect">
            <a:avLst/>
          </a:prstGeom>
          <a:noFill/>
          <a:ln/>
        </p:spPr>
        <p:txBody>
          <a:bodyPr wrap="square" lIns="0" tIns="0" rIns="0" bIns="0" rtlCol="0" anchor="ctr"/>
          <a:lstStyle/>
          <a:p>
            <a:pPr indent="0" marL="0">
              <a:buNone/>
            </a:pPr>
            <a:r>
              <a:rPr lang="en-US" sz="1600" b="1" dirty="0">
                <a:solidFill>
                  <a:schemeClr val="tx2"/>
                </a:solidFill>
              </a:rPr>
              <a:t>Cost is unpriced, requirements not agreed</a:t>
            </a:r>
            <a:endParaRPr lang="en-US" sz="1600" dirty="0"/>
          </a:p>
        </p:txBody>
      </p:sp>
      <p:sp>
        <p:nvSpPr>
          <p:cNvPr id="38" name="Text 29"/>
          <p:cNvSpPr txBox="1"/>
          <p:nvPr/>
        </p:nvSpPr>
        <p:spPr>
          <a:xfrm>
            <a:off x="8354568" y="4800600"/>
            <a:ext cx="3057144" cy="237744"/>
          </a:xfrm>
          <a:prstGeom prst="rect">
            <a:avLst/>
          </a:prstGeom>
          <a:noFill/>
          <a:ln/>
        </p:spPr>
        <p:txBody>
          <a:bodyPr wrap="square" lIns="0" tIns="0" rIns="0" bIns="0" rtlCol="0" anchor="t"/>
          <a:lstStyle/>
          <a:p>
            <a:pPr algn="l" indent="0" marL="0">
              <a:buNone/>
            </a:pPr>
            <a:r>
              <a:rPr lang="en-US" sz="1050" b="1" spc="100" kern="0" dirty="0">
                <a:solidFill>
                  <a:schemeClr val="accent6"/>
                </a:solidFill>
              </a:rPr>
              <a:t>RESPONSE</a:t>
            </a:r>
            <a:endParaRPr lang="en-US" sz="1050" dirty="0"/>
          </a:p>
        </p:txBody>
      </p:sp>
      <p:sp>
        <p:nvSpPr>
          <p:cNvPr id="39" name="Cost is unpriced, requirements not agreed response"/>
          <p:cNvSpPr txBox="1"/>
          <p:nvPr/>
        </p:nvSpPr>
        <p:spPr>
          <a:xfrm>
            <a:off x="8354568" y="5047488"/>
            <a:ext cx="3057144" cy="868680"/>
          </a:xfrm>
          <a:prstGeom prst="rect">
            <a:avLst/>
          </a:prstGeom>
          <a:noFill/>
          <a:ln/>
        </p:spPr>
        <p:txBody>
          <a:bodyPr wrap="square" lIns="0" tIns="0" rIns="0" bIns="0" rtlCol="0" anchor="t"/>
          <a:lstStyle/>
          <a:p>
            <a:pPr algn="l" indent="0" marL="0">
              <a:buNone/>
            </a:pPr>
            <a:r>
              <a:rPr lang="en-US" sz="1400" dirty="0">
                <a:solidFill>
                  <a:schemeClr val="tx1"/>
                </a:solidFill>
              </a:rPr>
              <a:t>Price the shared profile, then measure. Agree the values in pilot step 1.</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What is assumed and what is still open</a:t>
            </a:r>
            <a:endParaRPr lang="en-US" sz="3600" dirty="0"/>
          </a:p>
        </p:txBody>
      </p:sp>
      <p:sp>
        <p:nvSpPr>
          <p:cNvPr id="4" name="Working assumptions card"/>
          <p:cNvSpPr/>
          <p:nvPr/>
        </p:nvSpPr>
        <p:spPr>
          <a:xfrm>
            <a:off x="548640" y="1554480"/>
            <a:ext cx="5394960" cy="4526280"/>
          </a:xfrm>
          <a:prstGeom prst="roundRect">
            <a:avLst>
              <a:gd name="adj" fmla="val 2020"/>
            </a:avLst>
          </a:prstGeom>
          <a:solidFill>
            <a:schemeClr val="accent1">
              <a:alpha val="9000"/>
            </a:schemeClr>
          </a:solidFill>
          <a:ln/>
        </p:spPr>
      </p:sp>
      <p:sp>
        <p:nvSpPr>
          <p:cNvPr id="5" name="Working assumptions heading"/>
          <p:cNvSpPr txBox="1"/>
          <p:nvPr/>
        </p:nvSpPr>
        <p:spPr>
          <a:xfrm>
            <a:off x="822960" y="1737360"/>
            <a:ext cx="4846320" cy="411480"/>
          </a:xfrm>
          <a:prstGeom prst="rect">
            <a:avLst/>
          </a:prstGeom>
          <a:noFill/>
          <a:ln/>
        </p:spPr>
        <p:txBody>
          <a:bodyPr wrap="square" lIns="0" tIns="0" rIns="0" bIns="0" rtlCol="0" anchor="t"/>
          <a:lstStyle/>
          <a:p>
            <a:pPr algn="l" indent="0" marL="0">
              <a:buNone/>
            </a:pPr>
            <a:r>
              <a:rPr lang="en-US" sz="2000" b="1" dirty="0">
                <a:solidFill>
                  <a:schemeClr val="tx2"/>
                </a:solidFill>
              </a:rPr>
              <a:t>Working assumptions</a:t>
            </a:r>
            <a:endParaRPr lang="en-US" sz="2000" dirty="0"/>
          </a:p>
        </p:txBody>
      </p:sp>
      <p:sp>
        <p:nvSpPr>
          <p:cNvPr id="6" name="WA-1"/>
          <p:cNvSpPr txBox="1"/>
          <p:nvPr/>
        </p:nvSpPr>
        <p:spPr>
          <a:xfrm>
            <a:off x="822960" y="2423160"/>
            <a:ext cx="914400" cy="384048"/>
          </a:xfrm>
          <a:prstGeom prst="roundRect">
            <a:avLst>
              <a:gd name="adj" fmla="val 19048"/>
            </a:avLst>
          </a:prstGeom>
          <a:solidFill>
            <a:schemeClr val="accent1">
              <a:alpha val="14000"/>
            </a:schemeClr>
          </a:solidFill>
          <a:ln w="15875">
            <a:solidFill>
              <a:schemeClr val="accent1"/>
            </a:solidFill>
            <a:prstDash val="solid"/>
          </a:ln>
        </p:spPr>
        <p:txBody>
          <a:bodyPr wrap="square" lIns="635" tIns="635" rIns="635" bIns="635" rtlCol="0" anchor="ctr"/>
          <a:lstStyle/>
          <a:p>
            <a:pPr algn="ctr" indent="0" marL="0">
              <a:buNone/>
            </a:pPr>
            <a:r>
              <a:rPr lang="en-US" sz="1200" b="1" dirty="0">
                <a:solidFill>
                  <a:schemeClr val="tx1"/>
                </a:solidFill>
              </a:rPr>
              <a:t>WA-1</a:t>
            </a:r>
            <a:endParaRPr lang="en-US" sz="1200" dirty="0"/>
          </a:p>
        </p:txBody>
      </p:sp>
      <p:sp>
        <p:nvSpPr>
          <p:cNvPr id="7" name="WA-1 text"/>
          <p:cNvSpPr txBox="1"/>
          <p:nvPr/>
        </p:nvSpPr>
        <p:spPr>
          <a:xfrm>
            <a:off x="1920240" y="2331720"/>
            <a:ext cx="3749040" cy="566928"/>
          </a:xfrm>
          <a:prstGeom prst="rect">
            <a:avLst/>
          </a:prstGeom>
          <a:noFill/>
          <a:ln/>
        </p:spPr>
        <p:txBody>
          <a:bodyPr wrap="square" lIns="0" tIns="0" rIns="0" bIns="0" rtlCol="0" anchor="ctr"/>
          <a:lstStyle/>
          <a:p>
            <a:pPr indent="0" marL="0">
              <a:buNone/>
            </a:pPr>
            <a:r>
              <a:rPr lang="en-US" sz="1400" dirty="0">
                <a:solidFill>
                  <a:schemeClr val="tx1"/>
                </a:solidFill>
              </a:rPr>
              <a:t>A standalone Agentgateway controller, not Istio-managed</a:t>
            </a:r>
            <a:endParaRPr lang="en-US" sz="1400" dirty="0"/>
          </a:p>
        </p:txBody>
      </p:sp>
      <p:sp>
        <p:nvSpPr>
          <p:cNvPr id="8" name="WA-2"/>
          <p:cNvSpPr txBox="1"/>
          <p:nvPr/>
        </p:nvSpPr>
        <p:spPr>
          <a:xfrm>
            <a:off x="822960" y="3154680"/>
            <a:ext cx="914400" cy="384048"/>
          </a:xfrm>
          <a:prstGeom prst="roundRect">
            <a:avLst>
              <a:gd name="adj" fmla="val 19048"/>
            </a:avLst>
          </a:prstGeom>
          <a:solidFill>
            <a:schemeClr val="accent1">
              <a:alpha val="14000"/>
            </a:schemeClr>
          </a:solidFill>
          <a:ln w="15875">
            <a:solidFill>
              <a:schemeClr val="accent1"/>
            </a:solidFill>
            <a:prstDash val="solid"/>
          </a:ln>
        </p:spPr>
        <p:txBody>
          <a:bodyPr wrap="square" lIns="635" tIns="635" rIns="635" bIns="635" rtlCol="0" anchor="ctr"/>
          <a:lstStyle/>
          <a:p>
            <a:pPr algn="ctr" indent="0" marL="0">
              <a:buNone/>
            </a:pPr>
            <a:r>
              <a:rPr lang="en-US" sz="1200" b="1" dirty="0">
                <a:solidFill>
                  <a:schemeClr val="tx1"/>
                </a:solidFill>
              </a:rPr>
              <a:t>WA-2</a:t>
            </a:r>
            <a:endParaRPr lang="en-US" sz="1200" dirty="0"/>
          </a:p>
        </p:txBody>
      </p:sp>
      <p:sp>
        <p:nvSpPr>
          <p:cNvPr id="9" name="WA-2 text"/>
          <p:cNvSpPr txBox="1"/>
          <p:nvPr/>
        </p:nvSpPr>
        <p:spPr>
          <a:xfrm>
            <a:off x="1920240" y="3063240"/>
            <a:ext cx="3749040" cy="566928"/>
          </a:xfrm>
          <a:prstGeom prst="rect">
            <a:avLst/>
          </a:prstGeom>
          <a:noFill/>
          <a:ln/>
        </p:spPr>
        <p:txBody>
          <a:bodyPr wrap="square" lIns="0" tIns="0" rIns="0" bIns="0" rtlCol="0" anchor="ctr"/>
          <a:lstStyle/>
          <a:p>
            <a:pPr indent="0" marL="0">
              <a:buNone/>
            </a:pPr>
            <a:r>
              <a:rPr lang="en-US" sz="1400" dirty="0">
                <a:solidFill>
                  <a:schemeClr val="tx1"/>
                </a:solidFill>
              </a:rPr>
              <a:t>A Deployment or Job is the default runtime for hosted agents</a:t>
            </a:r>
            <a:endParaRPr lang="en-US" sz="1400" dirty="0"/>
          </a:p>
        </p:txBody>
      </p:sp>
      <p:sp>
        <p:nvSpPr>
          <p:cNvPr id="10" name="WA-3"/>
          <p:cNvSpPr txBox="1"/>
          <p:nvPr/>
        </p:nvSpPr>
        <p:spPr>
          <a:xfrm>
            <a:off x="822960" y="3886200"/>
            <a:ext cx="914400" cy="384048"/>
          </a:xfrm>
          <a:prstGeom prst="roundRect">
            <a:avLst>
              <a:gd name="adj" fmla="val 19048"/>
            </a:avLst>
          </a:prstGeom>
          <a:solidFill>
            <a:schemeClr val="accent1">
              <a:alpha val="14000"/>
            </a:schemeClr>
          </a:solidFill>
          <a:ln w="15875">
            <a:solidFill>
              <a:schemeClr val="accent1"/>
            </a:solidFill>
            <a:prstDash val="solid"/>
          </a:ln>
        </p:spPr>
        <p:txBody>
          <a:bodyPr wrap="square" lIns="635" tIns="635" rIns="635" bIns="635" rtlCol="0" anchor="ctr"/>
          <a:lstStyle/>
          <a:p>
            <a:pPr algn="ctr" indent="0" marL="0">
              <a:buNone/>
            </a:pPr>
            <a:r>
              <a:rPr lang="en-US" sz="1200" b="1" dirty="0">
                <a:solidFill>
                  <a:schemeClr val="tx1"/>
                </a:solidFill>
              </a:rPr>
              <a:t>WA-3</a:t>
            </a:r>
            <a:endParaRPr lang="en-US" sz="1200" dirty="0"/>
          </a:p>
        </p:txBody>
      </p:sp>
      <p:sp>
        <p:nvSpPr>
          <p:cNvPr id="11" name="WA-3 text"/>
          <p:cNvSpPr txBox="1"/>
          <p:nvPr/>
        </p:nvSpPr>
        <p:spPr>
          <a:xfrm>
            <a:off x="1920240" y="3794760"/>
            <a:ext cx="3749040" cy="566928"/>
          </a:xfrm>
          <a:prstGeom prst="rect">
            <a:avLst/>
          </a:prstGeom>
          <a:noFill/>
          <a:ln/>
        </p:spPr>
        <p:txBody>
          <a:bodyPr wrap="square" lIns="0" tIns="0" rIns="0" bIns="0" rtlCol="0" anchor="ctr"/>
          <a:lstStyle/>
          <a:p>
            <a:pPr indent="0" marL="0">
              <a:buNone/>
            </a:pPr>
            <a:r>
              <a:rPr lang="en-US" sz="1400" dirty="0">
                <a:solidFill>
                  <a:schemeClr val="tx1"/>
                </a:solidFill>
              </a:rPr>
              <a:t>Agentregistry is a catalog only and writes no production object</a:t>
            </a:r>
            <a:endParaRPr lang="en-US" sz="1400" dirty="0"/>
          </a:p>
        </p:txBody>
      </p:sp>
      <p:sp>
        <p:nvSpPr>
          <p:cNvPr id="12" name="WA-5"/>
          <p:cNvSpPr txBox="1"/>
          <p:nvPr/>
        </p:nvSpPr>
        <p:spPr>
          <a:xfrm>
            <a:off x="822960" y="4617720"/>
            <a:ext cx="914400" cy="384048"/>
          </a:xfrm>
          <a:prstGeom prst="roundRect">
            <a:avLst>
              <a:gd name="adj" fmla="val 19048"/>
            </a:avLst>
          </a:prstGeom>
          <a:solidFill>
            <a:schemeClr val="accent1">
              <a:alpha val="14000"/>
            </a:schemeClr>
          </a:solidFill>
          <a:ln w="15875">
            <a:solidFill>
              <a:schemeClr val="accent1"/>
            </a:solidFill>
            <a:prstDash val="solid"/>
          </a:ln>
        </p:spPr>
        <p:txBody>
          <a:bodyPr wrap="square" lIns="635" tIns="635" rIns="635" bIns="635" rtlCol="0" anchor="ctr"/>
          <a:lstStyle/>
          <a:p>
            <a:pPr algn="ctr" indent="0" marL="0">
              <a:buNone/>
            </a:pPr>
            <a:r>
              <a:rPr lang="en-US" sz="1200" b="1" dirty="0">
                <a:solidFill>
                  <a:schemeClr val="tx1"/>
                </a:solidFill>
              </a:rPr>
              <a:t>WA-5</a:t>
            </a:r>
            <a:endParaRPr lang="en-US" sz="1200" dirty="0"/>
          </a:p>
        </p:txBody>
      </p:sp>
      <p:sp>
        <p:nvSpPr>
          <p:cNvPr id="13" name="WA-5 text"/>
          <p:cNvSpPr txBox="1"/>
          <p:nvPr/>
        </p:nvSpPr>
        <p:spPr>
          <a:xfrm>
            <a:off x="1920240" y="4526280"/>
            <a:ext cx="3749040" cy="566928"/>
          </a:xfrm>
          <a:prstGeom prst="rect">
            <a:avLst/>
          </a:prstGeom>
          <a:noFill/>
          <a:ln/>
        </p:spPr>
        <p:txBody>
          <a:bodyPr wrap="square" lIns="0" tIns="0" rIns="0" bIns="0" rtlCol="0" anchor="ctr"/>
          <a:lstStyle/>
          <a:p>
            <a:pPr indent="0" marL="0">
              <a:buNone/>
            </a:pPr>
            <a:r>
              <a:rPr lang="en-US" sz="1400" dirty="0">
                <a:solidFill>
                  <a:schemeClr val="tx1"/>
                </a:solidFill>
              </a:rPr>
              <a:t>Guidance and prompts are baked into the image at build time</a:t>
            </a:r>
            <a:endParaRPr lang="en-US" sz="1400" dirty="0"/>
          </a:p>
        </p:txBody>
      </p:sp>
      <p:sp>
        <p:nvSpPr>
          <p:cNvPr id="14" name="WA-6"/>
          <p:cNvSpPr txBox="1"/>
          <p:nvPr/>
        </p:nvSpPr>
        <p:spPr>
          <a:xfrm>
            <a:off x="822960" y="5349240"/>
            <a:ext cx="914400" cy="384048"/>
          </a:xfrm>
          <a:prstGeom prst="roundRect">
            <a:avLst>
              <a:gd name="adj" fmla="val 19048"/>
            </a:avLst>
          </a:prstGeom>
          <a:solidFill>
            <a:schemeClr val="accent1">
              <a:alpha val="14000"/>
            </a:schemeClr>
          </a:solidFill>
          <a:ln w="15875">
            <a:solidFill>
              <a:schemeClr val="accent1"/>
            </a:solidFill>
            <a:prstDash val="solid"/>
          </a:ln>
        </p:spPr>
        <p:txBody>
          <a:bodyPr wrap="square" lIns="635" tIns="635" rIns="635" bIns="635" rtlCol="0" anchor="ctr"/>
          <a:lstStyle/>
          <a:p>
            <a:pPr algn="ctr" indent="0" marL="0">
              <a:buNone/>
            </a:pPr>
            <a:r>
              <a:rPr lang="en-US" sz="1200" b="1" dirty="0">
                <a:solidFill>
                  <a:schemeClr val="tx1"/>
                </a:solidFill>
              </a:rPr>
              <a:t>WA-6</a:t>
            </a:r>
            <a:endParaRPr lang="en-US" sz="1200" dirty="0"/>
          </a:p>
        </p:txBody>
      </p:sp>
      <p:sp>
        <p:nvSpPr>
          <p:cNvPr id="15" name="WA-6 text"/>
          <p:cNvSpPr txBox="1"/>
          <p:nvPr/>
        </p:nvSpPr>
        <p:spPr>
          <a:xfrm>
            <a:off x="1920240" y="5257800"/>
            <a:ext cx="3749040" cy="566928"/>
          </a:xfrm>
          <a:prstGeom prst="rect">
            <a:avLst/>
          </a:prstGeom>
          <a:noFill/>
          <a:ln/>
        </p:spPr>
        <p:txBody>
          <a:bodyPr wrap="square" lIns="0" tIns="0" rIns="0" bIns="0" rtlCol="0" anchor="ctr"/>
          <a:lstStyle/>
          <a:p>
            <a:pPr indent="0" marL="0">
              <a:buNone/>
            </a:pPr>
            <a:r>
              <a:rPr lang="en-US" sz="1400" dirty="0">
                <a:solidFill>
                  <a:schemeClr val="tx1"/>
                </a:solidFill>
              </a:rPr>
              <a:t>Langfuse is not deployed in the initial pilot</a:t>
            </a:r>
            <a:endParaRPr lang="en-US" sz="1400" dirty="0"/>
          </a:p>
        </p:txBody>
      </p:sp>
      <p:sp>
        <p:nvSpPr>
          <p:cNvPr id="16" name="Still open card"/>
          <p:cNvSpPr/>
          <p:nvPr/>
        </p:nvSpPr>
        <p:spPr>
          <a:xfrm>
            <a:off x="6245352" y="1554480"/>
            <a:ext cx="5394960" cy="4526280"/>
          </a:xfrm>
          <a:prstGeom prst="roundRect">
            <a:avLst>
              <a:gd name="adj" fmla="val 2020"/>
            </a:avLst>
          </a:prstGeom>
          <a:solidFill>
            <a:schemeClr val="accent2">
              <a:alpha val="9000"/>
            </a:schemeClr>
          </a:solidFill>
          <a:ln/>
        </p:spPr>
      </p:sp>
      <p:sp>
        <p:nvSpPr>
          <p:cNvPr id="17" name="Still open heading"/>
          <p:cNvSpPr txBox="1"/>
          <p:nvPr/>
        </p:nvSpPr>
        <p:spPr>
          <a:xfrm>
            <a:off x="6519672" y="1737360"/>
            <a:ext cx="4846320" cy="411480"/>
          </a:xfrm>
          <a:prstGeom prst="rect">
            <a:avLst/>
          </a:prstGeom>
          <a:noFill/>
          <a:ln/>
        </p:spPr>
        <p:txBody>
          <a:bodyPr wrap="square" lIns="0" tIns="0" rIns="0" bIns="0" rtlCol="0" anchor="t"/>
          <a:lstStyle/>
          <a:p>
            <a:pPr algn="l" indent="0" marL="0">
              <a:buNone/>
            </a:pPr>
            <a:r>
              <a:rPr lang="en-US" sz="2000" b="1" dirty="0">
                <a:solidFill>
                  <a:schemeClr val="tx2"/>
                </a:solidFill>
              </a:rPr>
              <a:t>Still open</a:t>
            </a:r>
            <a:endParaRPr lang="en-US" sz="2000" dirty="0"/>
          </a:p>
        </p:txBody>
      </p:sp>
      <p:sp>
        <p:nvSpPr>
          <p:cNvPr id="18" name="D-4"/>
          <p:cNvSpPr txBox="1"/>
          <p:nvPr/>
        </p:nvSpPr>
        <p:spPr>
          <a:xfrm>
            <a:off x="6519672" y="2423160"/>
            <a:ext cx="914400" cy="384048"/>
          </a:xfrm>
          <a:prstGeom prst="roundRect">
            <a:avLst>
              <a:gd name="adj" fmla="val 19048"/>
            </a:avLst>
          </a:prstGeom>
          <a:solidFill>
            <a:schemeClr val="accent2">
              <a:alpha val="14000"/>
            </a:schemeClr>
          </a:solidFill>
          <a:ln w="15875">
            <a:solidFill>
              <a:schemeClr val="accent2"/>
            </a:solidFill>
            <a:prstDash val="sysDash"/>
          </a:ln>
        </p:spPr>
        <p:txBody>
          <a:bodyPr wrap="square" lIns="635" tIns="635" rIns="635" bIns="635" rtlCol="0" anchor="ctr"/>
          <a:lstStyle/>
          <a:p>
            <a:pPr algn="ctr" indent="0" marL="0">
              <a:buNone/>
            </a:pPr>
            <a:r>
              <a:rPr lang="en-US" sz="1200" b="1" dirty="0">
                <a:solidFill>
                  <a:schemeClr val="tx1"/>
                </a:solidFill>
              </a:rPr>
              <a:t>D-4</a:t>
            </a:r>
            <a:endParaRPr lang="en-US" sz="1200" dirty="0"/>
          </a:p>
        </p:txBody>
      </p:sp>
      <p:sp>
        <p:nvSpPr>
          <p:cNvPr id="19" name="D-4 text"/>
          <p:cNvSpPr txBox="1"/>
          <p:nvPr/>
        </p:nvSpPr>
        <p:spPr>
          <a:xfrm>
            <a:off x="7616952" y="2331720"/>
            <a:ext cx="3749040" cy="566928"/>
          </a:xfrm>
          <a:prstGeom prst="rect">
            <a:avLst/>
          </a:prstGeom>
          <a:noFill/>
          <a:ln/>
        </p:spPr>
        <p:txBody>
          <a:bodyPr wrap="square" lIns="0" tIns="0" rIns="0" bIns="0" rtlCol="0" anchor="ctr"/>
          <a:lstStyle/>
          <a:p>
            <a:pPr indent="0" marL="0">
              <a:buNone/>
            </a:pPr>
            <a:r>
              <a:rPr lang="en-US" sz="1400" dirty="0">
                <a:solidFill>
                  <a:schemeClr val="tx1"/>
                </a:solidFill>
              </a:rPr>
              <a:t>The credential on a model request: gateway key or Okta-derived token</a:t>
            </a:r>
            <a:endParaRPr lang="en-US" sz="1400" dirty="0"/>
          </a:p>
        </p:txBody>
      </p:sp>
      <p:sp>
        <p:nvSpPr>
          <p:cNvPr id="20" name="D-5"/>
          <p:cNvSpPr txBox="1"/>
          <p:nvPr/>
        </p:nvSpPr>
        <p:spPr>
          <a:xfrm>
            <a:off x="6519672" y="3154680"/>
            <a:ext cx="914400" cy="384048"/>
          </a:xfrm>
          <a:prstGeom prst="roundRect">
            <a:avLst>
              <a:gd name="adj" fmla="val 19048"/>
            </a:avLst>
          </a:prstGeom>
          <a:solidFill>
            <a:schemeClr val="accent2">
              <a:alpha val="14000"/>
            </a:schemeClr>
          </a:solidFill>
          <a:ln w="15875">
            <a:solidFill>
              <a:schemeClr val="accent2"/>
            </a:solidFill>
            <a:prstDash val="sysDash"/>
          </a:ln>
        </p:spPr>
        <p:txBody>
          <a:bodyPr wrap="square" lIns="635" tIns="635" rIns="635" bIns="635" rtlCol="0" anchor="ctr"/>
          <a:lstStyle/>
          <a:p>
            <a:pPr algn="ctr" indent="0" marL="0">
              <a:buNone/>
            </a:pPr>
            <a:r>
              <a:rPr lang="en-US" sz="1200" b="1" dirty="0">
                <a:solidFill>
                  <a:schemeClr val="tx1"/>
                </a:solidFill>
              </a:rPr>
              <a:t>D-5</a:t>
            </a:r>
            <a:endParaRPr lang="en-US" sz="1200" dirty="0"/>
          </a:p>
        </p:txBody>
      </p:sp>
      <p:sp>
        <p:nvSpPr>
          <p:cNvPr id="21" name="D-5 text"/>
          <p:cNvSpPr txBox="1"/>
          <p:nvPr/>
        </p:nvSpPr>
        <p:spPr>
          <a:xfrm>
            <a:off x="7616952" y="3063240"/>
            <a:ext cx="3749040" cy="566928"/>
          </a:xfrm>
          <a:prstGeom prst="rect">
            <a:avLst/>
          </a:prstGeom>
          <a:noFill/>
          <a:ln/>
        </p:spPr>
        <p:txBody>
          <a:bodyPr wrap="square" lIns="0" tIns="0" rIns="0" bIns="0" rtlCol="0" anchor="ctr"/>
          <a:lstStyle/>
          <a:p>
            <a:pPr indent="0" marL="0">
              <a:buNone/>
            </a:pPr>
            <a:r>
              <a:rPr lang="en-US" sz="1400" dirty="0">
                <a:solidFill>
                  <a:schemeClr val="tx1"/>
                </a:solidFill>
              </a:rPr>
              <a:t>The entry point for hosted agents, and who binds user to session</a:t>
            </a:r>
            <a:endParaRPr lang="en-US" sz="1400" dirty="0"/>
          </a:p>
        </p:txBody>
      </p:sp>
      <p:sp>
        <p:nvSpPr>
          <p:cNvPr id="22" name="D-6"/>
          <p:cNvSpPr txBox="1"/>
          <p:nvPr/>
        </p:nvSpPr>
        <p:spPr>
          <a:xfrm>
            <a:off x="6519672" y="3886200"/>
            <a:ext cx="914400" cy="384048"/>
          </a:xfrm>
          <a:prstGeom prst="roundRect">
            <a:avLst>
              <a:gd name="adj" fmla="val 19048"/>
            </a:avLst>
          </a:prstGeom>
          <a:solidFill>
            <a:schemeClr val="accent2">
              <a:alpha val="14000"/>
            </a:schemeClr>
          </a:solidFill>
          <a:ln w="15875">
            <a:solidFill>
              <a:schemeClr val="accent2"/>
            </a:solidFill>
            <a:prstDash val="sysDash"/>
          </a:ln>
        </p:spPr>
        <p:txBody>
          <a:bodyPr wrap="square" lIns="635" tIns="635" rIns="635" bIns="635" rtlCol="0" anchor="ctr"/>
          <a:lstStyle/>
          <a:p>
            <a:pPr algn="ctr" indent="0" marL="0">
              <a:buNone/>
            </a:pPr>
            <a:r>
              <a:rPr lang="en-US" sz="1200" b="1" dirty="0">
                <a:solidFill>
                  <a:schemeClr val="tx1"/>
                </a:solidFill>
              </a:rPr>
              <a:t>D-6</a:t>
            </a:r>
            <a:endParaRPr lang="en-US" sz="1200" dirty="0"/>
          </a:p>
        </p:txBody>
      </p:sp>
      <p:sp>
        <p:nvSpPr>
          <p:cNvPr id="23" name="D-6 text"/>
          <p:cNvSpPr txBox="1"/>
          <p:nvPr/>
        </p:nvSpPr>
        <p:spPr>
          <a:xfrm>
            <a:off x="7616952" y="3794760"/>
            <a:ext cx="3749040" cy="566928"/>
          </a:xfrm>
          <a:prstGeom prst="rect">
            <a:avLst/>
          </a:prstGeom>
          <a:noFill/>
          <a:ln/>
        </p:spPr>
        <p:txBody>
          <a:bodyPr wrap="square" lIns="0" tIns="0" rIns="0" bIns="0" rtlCol="0" anchor="ctr"/>
          <a:lstStyle/>
          <a:p>
            <a:pPr indent="0" marL="0">
              <a:buNone/>
            </a:pPr>
            <a:r>
              <a:rPr lang="en-US" sz="1400" dirty="0">
                <a:solidFill>
                  <a:schemeClr val="tx1"/>
                </a:solidFill>
              </a:rPr>
              <a:t>Refuse or allow model traffic when the rate-limit server is down</a:t>
            </a:r>
            <a:endParaRPr lang="en-US" sz="1400" dirty="0"/>
          </a:p>
        </p:txBody>
      </p:sp>
      <p:sp>
        <p:nvSpPr>
          <p:cNvPr id="24" name="D-7"/>
          <p:cNvSpPr txBox="1"/>
          <p:nvPr/>
        </p:nvSpPr>
        <p:spPr>
          <a:xfrm>
            <a:off x="6519672" y="4617720"/>
            <a:ext cx="914400" cy="384048"/>
          </a:xfrm>
          <a:prstGeom prst="roundRect">
            <a:avLst>
              <a:gd name="adj" fmla="val 19048"/>
            </a:avLst>
          </a:prstGeom>
          <a:solidFill>
            <a:schemeClr val="accent2">
              <a:alpha val="14000"/>
            </a:schemeClr>
          </a:solidFill>
          <a:ln w="15875">
            <a:solidFill>
              <a:schemeClr val="accent2"/>
            </a:solidFill>
            <a:prstDash val="sysDash"/>
          </a:ln>
        </p:spPr>
        <p:txBody>
          <a:bodyPr wrap="square" lIns="635" tIns="635" rIns="635" bIns="635" rtlCol="0" anchor="ctr"/>
          <a:lstStyle/>
          <a:p>
            <a:pPr algn="ctr" indent="0" marL="0">
              <a:buNone/>
            </a:pPr>
            <a:r>
              <a:rPr lang="en-US" sz="1200" b="1" dirty="0">
                <a:solidFill>
                  <a:schemeClr val="tx1"/>
                </a:solidFill>
              </a:rPr>
              <a:t>D-7</a:t>
            </a:r>
            <a:endParaRPr lang="en-US" sz="1200" dirty="0"/>
          </a:p>
        </p:txBody>
      </p:sp>
      <p:sp>
        <p:nvSpPr>
          <p:cNvPr id="25" name="D-7 text"/>
          <p:cNvSpPr txBox="1"/>
          <p:nvPr/>
        </p:nvSpPr>
        <p:spPr>
          <a:xfrm>
            <a:off x="7616952" y="4526280"/>
            <a:ext cx="3749040" cy="566928"/>
          </a:xfrm>
          <a:prstGeom prst="rect">
            <a:avLst/>
          </a:prstGeom>
          <a:noFill/>
          <a:ln/>
        </p:spPr>
        <p:txBody>
          <a:bodyPr wrap="square" lIns="0" tIns="0" rIns="0" bIns="0" rtlCol="0" anchor="ctr"/>
          <a:lstStyle/>
          <a:p>
            <a:pPr indent="0" marL="0">
              <a:buNone/>
            </a:pPr>
            <a:r>
              <a:rPr lang="en-US" sz="1400" dirty="0">
                <a:solidFill>
                  <a:schemeClr val="tx1"/>
                </a:solidFill>
              </a:rPr>
              <a:t>Which control denies each bypass path</a:t>
            </a:r>
            <a:endParaRPr lang="en-US" sz="1400" dirty="0"/>
          </a:p>
        </p:txBody>
      </p:sp>
      <p:sp>
        <p:nvSpPr>
          <p:cNvPr id="26" name="Inventory"/>
          <p:cNvSpPr txBox="1"/>
          <p:nvPr/>
        </p:nvSpPr>
        <p:spPr>
          <a:xfrm>
            <a:off x="6519672" y="5349240"/>
            <a:ext cx="914400" cy="384048"/>
          </a:xfrm>
          <a:prstGeom prst="roundRect">
            <a:avLst>
              <a:gd name="adj" fmla="val 19048"/>
            </a:avLst>
          </a:prstGeom>
          <a:solidFill>
            <a:schemeClr val="accent2">
              <a:alpha val="14000"/>
            </a:schemeClr>
          </a:solidFill>
          <a:ln w="15875">
            <a:solidFill>
              <a:schemeClr val="accent2"/>
            </a:solidFill>
            <a:prstDash val="sysDash"/>
          </a:ln>
        </p:spPr>
        <p:txBody>
          <a:bodyPr wrap="square" lIns="635" tIns="635" rIns="635" bIns="635" rtlCol="0" anchor="ctr"/>
          <a:lstStyle/>
          <a:p>
            <a:pPr algn="ctr" indent="0" marL="0">
              <a:buNone/>
            </a:pPr>
            <a:r>
              <a:rPr lang="en-US" sz="1200" b="1" dirty="0">
                <a:solidFill>
                  <a:schemeClr val="tx1"/>
                </a:solidFill>
              </a:rPr>
              <a:t>Inventory</a:t>
            </a:r>
            <a:endParaRPr lang="en-US" sz="1200" dirty="0"/>
          </a:p>
        </p:txBody>
      </p:sp>
      <p:sp>
        <p:nvSpPr>
          <p:cNvPr id="27" name="Inventory text"/>
          <p:cNvSpPr txBox="1"/>
          <p:nvPr/>
        </p:nvSpPr>
        <p:spPr>
          <a:xfrm>
            <a:off x="7616952" y="5257800"/>
            <a:ext cx="3749040" cy="566928"/>
          </a:xfrm>
          <a:prstGeom prst="rect">
            <a:avLst/>
          </a:prstGeom>
          <a:noFill/>
          <a:ln/>
        </p:spPr>
        <p:txBody>
          <a:bodyPr wrap="square" lIns="0" tIns="0" rIns="0" bIns="0" rtlCol="0" anchor="ctr"/>
          <a:lstStyle/>
          <a:p>
            <a:pPr indent="0" marL="0">
              <a:buNone/>
            </a:pPr>
            <a:r>
              <a:rPr lang="en-US" sz="1400" dirty="0">
                <a:solidFill>
                  <a:schemeClr val="tx1"/>
                </a:solidFill>
              </a:rPr>
              <a:t>Telemetry backend, secret mechanism, network policy engine, model providers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868680"/>
          </a:xfrm>
          <a:prstGeom prst="rect">
            <a:avLst/>
          </a:prstGeom>
          <a:noFill/>
          <a:ln/>
        </p:spPr>
        <p:txBody>
          <a:bodyPr wrap="square" lIns="0" tIns="0" rIns="0" bIns="0" rtlCol="0" anchor="ctr"/>
          <a:lstStyle/>
          <a:p>
            <a:pPr algn="l" indent="0" marL="0">
              <a:buNone/>
            </a:pPr>
            <a:r>
              <a:rPr lang="en-US" sz="3600" b="1" dirty="0">
                <a:solidFill>
                  <a:schemeClr val="tx2"/>
                </a:solidFill>
              </a:rPr>
              <a:t>A six-step pilot with stop conditions</a:t>
            </a:r>
            <a:endParaRPr lang="en-US" sz="3600" dirty="0"/>
          </a:p>
        </p:txBody>
      </p:sp>
      <p:sp>
        <p:nvSpPr>
          <p:cNvPr id="4" name="Timeline"/>
          <p:cNvSpPr/>
          <p:nvPr/>
        </p:nvSpPr>
        <p:spPr>
          <a:xfrm>
            <a:off x="1396746" y="1975104"/>
            <a:ext cx="9395460" cy="0"/>
          </a:xfrm>
          <a:prstGeom prst="line">
            <a:avLst/>
          </a:prstGeom>
          <a:noFill/>
          <a:ln w="25400">
            <a:solidFill>
              <a:schemeClr val="accent4"/>
            </a:solidFill>
            <a:prstDash val="solid"/>
          </a:ln>
        </p:spPr>
      </p:sp>
      <p:sp>
        <p:nvSpPr>
          <p:cNvPr id="5" name="Step 1"/>
          <p:cNvSpPr txBox="1"/>
          <p:nvPr/>
        </p:nvSpPr>
        <p:spPr>
          <a:xfrm>
            <a:off x="1113282" y="1691640"/>
            <a:ext cx="566928" cy="566928"/>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Inventory heading"/>
          <p:cNvSpPr txBox="1"/>
          <p:nvPr/>
        </p:nvSpPr>
        <p:spPr>
          <a:xfrm>
            <a:off x="548640" y="2395728"/>
            <a:ext cx="1696212" cy="566928"/>
          </a:xfrm>
          <a:prstGeom prst="rect">
            <a:avLst/>
          </a:prstGeom>
          <a:noFill/>
          <a:ln/>
        </p:spPr>
        <p:txBody>
          <a:bodyPr wrap="square" lIns="0" tIns="0" rIns="0" bIns="0" rtlCol="0" anchor="t"/>
          <a:lstStyle/>
          <a:p>
            <a:pPr algn="ctr" indent="0" marL="0">
              <a:buNone/>
            </a:pPr>
            <a:r>
              <a:rPr lang="en-US" sz="1500" b="1" dirty="0">
                <a:solidFill>
                  <a:schemeClr val="tx2"/>
                </a:solidFill>
              </a:rPr>
              <a:t>Inventory</a:t>
            </a:r>
            <a:endParaRPr lang="en-US" sz="1500" dirty="0"/>
          </a:p>
        </p:txBody>
      </p:sp>
      <p:sp>
        <p:nvSpPr>
          <p:cNvPr id="7" name="Inventory text"/>
          <p:cNvSpPr txBox="1"/>
          <p:nvPr/>
        </p:nvSpPr>
        <p:spPr>
          <a:xfrm>
            <a:off x="594360" y="2990088"/>
            <a:ext cx="1604772" cy="822960"/>
          </a:xfrm>
          <a:prstGeom prst="rect">
            <a:avLst/>
          </a:prstGeom>
          <a:noFill/>
          <a:ln/>
        </p:spPr>
        <p:txBody>
          <a:bodyPr wrap="square" lIns="0" tIns="0" rIns="0" bIns="0" rtlCol="0" anchor="t"/>
          <a:lstStyle/>
          <a:p>
            <a:pPr algn="ctr" indent="0" marL="0">
              <a:buNone/>
            </a:pPr>
            <a:r>
              <a:rPr lang="en-US" sz="1200" dirty="0">
                <a:solidFill>
                  <a:schemeClr val="accent6"/>
                </a:solidFill>
              </a:rPr>
              <a:t>Versions, controllers, identity, secrets, network policy and capacity</a:t>
            </a:r>
            <a:endParaRPr lang="en-US" sz="1200" dirty="0"/>
          </a:p>
        </p:txBody>
      </p:sp>
      <p:sp>
        <p:nvSpPr>
          <p:cNvPr id="8" name="Step 2"/>
          <p:cNvSpPr txBox="1"/>
          <p:nvPr/>
        </p:nvSpPr>
        <p:spPr>
          <a:xfrm>
            <a:off x="2992374" y="1691640"/>
            <a:ext cx="566928" cy="566928"/>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Useful access heading"/>
          <p:cNvSpPr txBox="1"/>
          <p:nvPr/>
        </p:nvSpPr>
        <p:spPr>
          <a:xfrm>
            <a:off x="2427732" y="2395728"/>
            <a:ext cx="1696212" cy="566928"/>
          </a:xfrm>
          <a:prstGeom prst="rect">
            <a:avLst/>
          </a:prstGeom>
          <a:noFill/>
          <a:ln/>
        </p:spPr>
        <p:txBody>
          <a:bodyPr wrap="square" lIns="0" tIns="0" rIns="0" bIns="0" rtlCol="0" anchor="t"/>
          <a:lstStyle/>
          <a:p>
            <a:pPr algn="ctr" indent="0" marL="0">
              <a:buNone/>
            </a:pPr>
            <a:r>
              <a:rPr lang="en-US" sz="1500" b="1" dirty="0">
                <a:solidFill>
                  <a:schemeClr val="tx2"/>
                </a:solidFill>
              </a:rPr>
              <a:t>Useful access</a:t>
            </a:r>
            <a:endParaRPr lang="en-US" sz="1500" dirty="0"/>
          </a:p>
        </p:txBody>
      </p:sp>
      <p:sp>
        <p:nvSpPr>
          <p:cNvPr id="10" name="Useful access text"/>
          <p:cNvSpPr txBox="1"/>
          <p:nvPr/>
        </p:nvSpPr>
        <p:spPr>
          <a:xfrm>
            <a:off x="2473452" y="2990088"/>
            <a:ext cx="1604772" cy="822960"/>
          </a:xfrm>
          <a:prstGeom prst="rect">
            <a:avLst/>
          </a:prstGeom>
          <a:noFill/>
          <a:ln/>
        </p:spPr>
        <p:txBody>
          <a:bodyPr wrap="square" lIns="0" tIns="0" rIns="0" bIns="0" rtlCol="0" anchor="t"/>
          <a:lstStyle/>
          <a:p>
            <a:pPr algn="ctr" indent="0" marL="0">
              <a:buNone/>
            </a:pPr>
            <a:r>
              <a:rPr lang="en-US" sz="1200" dirty="0">
                <a:solidFill>
                  <a:schemeClr val="accent6"/>
                </a:solidFill>
              </a:rPr>
              <a:t>One client, one read-only tool and one approved model</a:t>
            </a:r>
            <a:endParaRPr lang="en-US" sz="1200" dirty="0"/>
          </a:p>
        </p:txBody>
      </p:sp>
      <p:sp>
        <p:nvSpPr>
          <p:cNvPr id="11" name="Step 3"/>
          <p:cNvSpPr txBox="1"/>
          <p:nvPr/>
        </p:nvSpPr>
        <p:spPr>
          <a:xfrm>
            <a:off x="4871466" y="1691640"/>
            <a:ext cx="566928" cy="566928"/>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2" name="Publication heading"/>
          <p:cNvSpPr txBox="1"/>
          <p:nvPr/>
        </p:nvSpPr>
        <p:spPr>
          <a:xfrm>
            <a:off x="4306824" y="2395728"/>
            <a:ext cx="1696212" cy="566928"/>
          </a:xfrm>
          <a:prstGeom prst="rect">
            <a:avLst/>
          </a:prstGeom>
          <a:noFill/>
          <a:ln/>
        </p:spPr>
        <p:txBody>
          <a:bodyPr wrap="square" lIns="0" tIns="0" rIns="0" bIns="0" rtlCol="0" anchor="t"/>
          <a:lstStyle/>
          <a:p>
            <a:pPr algn="ctr" indent="0" marL="0">
              <a:buNone/>
            </a:pPr>
            <a:r>
              <a:rPr lang="en-US" sz="1500" b="1" dirty="0">
                <a:solidFill>
                  <a:schemeClr val="tx2"/>
                </a:solidFill>
              </a:rPr>
              <a:t>Publication</a:t>
            </a:r>
            <a:endParaRPr lang="en-US" sz="1500" dirty="0"/>
          </a:p>
        </p:txBody>
      </p:sp>
      <p:sp>
        <p:nvSpPr>
          <p:cNvPr id="13" name="Publication text"/>
          <p:cNvSpPr txBox="1"/>
          <p:nvPr/>
        </p:nvSpPr>
        <p:spPr>
          <a:xfrm>
            <a:off x="4352544" y="2990088"/>
            <a:ext cx="1604772" cy="822960"/>
          </a:xfrm>
          <a:prstGeom prst="rect">
            <a:avLst/>
          </a:prstGeom>
          <a:noFill/>
          <a:ln/>
        </p:spPr>
        <p:txBody>
          <a:bodyPr wrap="square" lIns="0" tIns="0" rIns="0" bIns="0" rtlCol="0" anchor="t"/>
          <a:lstStyle/>
          <a:p>
            <a:pPr algn="ctr" indent="0" marL="0">
              <a:buNone/>
            </a:pPr>
            <a:r>
              <a:rPr lang="en-US" sz="1200" dirty="0">
                <a:solidFill>
                  <a:schemeClr val="accent6"/>
                </a:solidFill>
              </a:rPr>
              <a:t>Guidance and metadata published without compute</a:t>
            </a:r>
            <a:endParaRPr lang="en-US" sz="1200" dirty="0"/>
          </a:p>
        </p:txBody>
      </p:sp>
      <p:sp>
        <p:nvSpPr>
          <p:cNvPr id="14" name="Step 4"/>
          <p:cNvSpPr txBox="1"/>
          <p:nvPr/>
        </p:nvSpPr>
        <p:spPr>
          <a:xfrm>
            <a:off x="6750558" y="1691640"/>
            <a:ext cx="566928" cy="566928"/>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5" name="Hosted execution heading"/>
          <p:cNvSpPr txBox="1"/>
          <p:nvPr/>
        </p:nvSpPr>
        <p:spPr>
          <a:xfrm>
            <a:off x="6185916" y="2395728"/>
            <a:ext cx="1696212" cy="566928"/>
          </a:xfrm>
          <a:prstGeom prst="rect">
            <a:avLst/>
          </a:prstGeom>
          <a:noFill/>
          <a:ln/>
        </p:spPr>
        <p:txBody>
          <a:bodyPr wrap="square" lIns="0" tIns="0" rIns="0" bIns="0" rtlCol="0" anchor="t"/>
          <a:lstStyle/>
          <a:p>
            <a:pPr algn="ctr" indent="0" marL="0">
              <a:buNone/>
            </a:pPr>
            <a:r>
              <a:rPr lang="en-US" sz="1500" b="1" dirty="0">
                <a:solidFill>
                  <a:schemeClr val="tx2"/>
                </a:solidFill>
              </a:rPr>
              <a:t>Hosted execution</a:t>
            </a:r>
            <a:endParaRPr lang="en-US" sz="1500" dirty="0"/>
          </a:p>
        </p:txBody>
      </p:sp>
      <p:sp>
        <p:nvSpPr>
          <p:cNvPr id="16" name="Hosted execution text"/>
          <p:cNvSpPr txBox="1"/>
          <p:nvPr/>
        </p:nvSpPr>
        <p:spPr>
          <a:xfrm>
            <a:off x="6231636" y="2990088"/>
            <a:ext cx="1604772" cy="822960"/>
          </a:xfrm>
          <a:prstGeom prst="rect">
            <a:avLst/>
          </a:prstGeom>
          <a:noFill/>
          <a:ln/>
        </p:spPr>
        <p:txBody>
          <a:bodyPr wrap="square" lIns="0" tIns="0" rIns="0" bIns="0" rtlCol="0" anchor="t"/>
          <a:lstStyle/>
          <a:p>
            <a:pPr algn="ctr" indent="0" marL="0">
              <a:buNone/>
            </a:pPr>
            <a:r>
              <a:rPr lang="en-US" sz="1200" dirty="0">
                <a:solidFill>
                  <a:schemeClr val="accent6"/>
                </a:solidFill>
              </a:rPr>
              <a:t>The same agent as a Deployment and on kagent</a:t>
            </a:r>
            <a:endParaRPr lang="en-US" sz="1200" dirty="0"/>
          </a:p>
        </p:txBody>
      </p:sp>
      <p:sp>
        <p:nvSpPr>
          <p:cNvPr id="17" name="Step 5"/>
          <p:cNvSpPr txBox="1"/>
          <p:nvPr/>
        </p:nvSpPr>
        <p:spPr>
          <a:xfrm>
            <a:off x="8629650" y="1691640"/>
            <a:ext cx="566928" cy="566928"/>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8" name="Recovery and economics heading"/>
          <p:cNvSpPr txBox="1"/>
          <p:nvPr/>
        </p:nvSpPr>
        <p:spPr>
          <a:xfrm>
            <a:off x="8065008" y="2395728"/>
            <a:ext cx="1696212" cy="566928"/>
          </a:xfrm>
          <a:prstGeom prst="rect">
            <a:avLst/>
          </a:prstGeom>
          <a:noFill/>
          <a:ln/>
        </p:spPr>
        <p:txBody>
          <a:bodyPr wrap="square" lIns="0" tIns="0" rIns="0" bIns="0" rtlCol="0" anchor="t"/>
          <a:lstStyle/>
          <a:p>
            <a:pPr algn="ctr" indent="0" marL="0">
              <a:buNone/>
            </a:pPr>
            <a:r>
              <a:rPr lang="en-US" sz="1500" b="1" dirty="0">
                <a:solidFill>
                  <a:schemeClr val="tx2"/>
                </a:solidFill>
              </a:rPr>
              <a:t>Recovery and economics</a:t>
            </a:r>
            <a:endParaRPr lang="en-US" sz="1500" dirty="0"/>
          </a:p>
        </p:txBody>
      </p:sp>
      <p:sp>
        <p:nvSpPr>
          <p:cNvPr id="19" name="Recovery and economics text"/>
          <p:cNvSpPr txBox="1"/>
          <p:nvPr/>
        </p:nvSpPr>
        <p:spPr>
          <a:xfrm>
            <a:off x="8110728" y="2990088"/>
            <a:ext cx="1604772" cy="822960"/>
          </a:xfrm>
          <a:prstGeom prst="rect">
            <a:avLst/>
          </a:prstGeom>
          <a:noFill/>
          <a:ln/>
        </p:spPr>
        <p:txBody>
          <a:bodyPr wrap="square" lIns="0" tIns="0" rIns="0" bIns="0" rtlCol="0" anchor="t"/>
          <a:lstStyle/>
          <a:p>
            <a:pPr algn="ctr" indent="0" marL="0">
              <a:buNone/>
            </a:pPr>
            <a:r>
              <a:rPr lang="en-US" sz="1200" dirty="0">
                <a:solidFill>
                  <a:schemeClr val="accent6"/>
                </a:solidFill>
              </a:rPr>
              <a:t>Failure drills, state recovery, cost and effort</a:t>
            </a:r>
            <a:endParaRPr lang="en-US" sz="1200" dirty="0"/>
          </a:p>
        </p:txBody>
      </p:sp>
      <p:sp>
        <p:nvSpPr>
          <p:cNvPr id="20" name="Step 6"/>
          <p:cNvSpPr txBox="1"/>
          <p:nvPr/>
        </p:nvSpPr>
        <p:spPr>
          <a:xfrm>
            <a:off x="10508742" y="1691640"/>
            <a:ext cx="566928" cy="566928"/>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1" name="Comparison heading"/>
          <p:cNvSpPr txBox="1"/>
          <p:nvPr/>
        </p:nvSpPr>
        <p:spPr>
          <a:xfrm>
            <a:off x="9944100" y="2395728"/>
            <a:ext cx="1696212" cy="566928"/>
          </a:xfrm>
          <a:prstGeom prst="rect">
            <a:avLst/>
          </a:prstGeom>
          <a:noFill/>
          <a:ln/>
        </p:spPr>
        <p:txBody>
          <a:bodyPr wrap="square" lIns="0" tIns="0" rIns="0" bIns="0" rtlCol="0" anchor="t"/>
          <a:lstStyle/>
          <a:p>
            <a:pPr algn="ctr" indent="0" marL="0">
              <a:buNone/>
            </a:pPr>
            <a:r>
              <a:rPr lang="en-US" sz="1500" b="1" dirty="0">
                <a:solidFill>
                  <a:schemeClr val="tx2"/>
                </a:solidFill>
              </a:rPr>
              <a:t>Comparison</a:t>
            </a:r>
            <a:endParaRPr lang="en-US" sz="1500" dirty="0"/>
          </a:p>
        </p:txBody>
      </p:sp>
      <p:sp>
        <p:nvSpPr>
          <p:cNvPr id="22" name="Comparison text"/>
          <p:cNvSpPr txBox="1"/>
          <p:nvPr/>
        </p:nvSpPr>
        <p:spPr>
          <a:xfrm>
            <a:off x="9989820" y="2990088"/>
            <a:ext cx="1604772" cy="822960"/>
          </a:xfrm>
          <a:prstGeom prst="rect">
            <a:avLst/>
          </a:prstGeom>
          <a:noFill/>
          <a:ln/>
        </p:spPr>
        <p:txBody>
          <a:bodyPr wrap="square" lIns="0" tIns="0" rIns="0" bIns="0" rtlCol="0" anchor="t"/>
          <a:lstStyle/>
          <a:p>
            <a:pPr algn="ctr" indent="0" marL="0">
              <a:buNone/>
            </a:pPr>
            <a:r>
              <a:rPr lang="en-US" sz="1200" dirty="0">
                <a:solidFill>
                  <a:schemeClr val="accent6"/>
                </a:solidFill>
              </a:rPr>
              <a:t>AgentCore on the same basis; the outcome in an ADR</a:t>
            </a:r>
            <a:endParaRPr lang="en-US" sz="1200" dirty="0"/>
          </a:p>
        </p:txBody>
      </p:sp>
      <p:sp>
        <p:nvSpPr>
          <p:cNvPr id="23" name="Text 20"/>
          <p:cNvSpPr txBox="1"/>
          <p:nvPr/>
        </p:nvSpPr>
        <p:spPr>
          <a:xfrm>
            <a:off x="548640" y="4096512"/>
            <a:ext cx="3657600" cy="237744"/>
          </a:xfrm>
          <a:prstGeom prst="rect">
            <a:avLst/>
          </a:prstGeom>
          <a:noFill/>
          <a:ln/>
        </p:spPr>
        <p:txBody>
          <a:bodyPr wrap="square" lIns="0" tIns="0" rIns="0" bIns="0" rtlCol="0" anchor="t"/>
          <a:lstStyle/>
          <a:p>
            <a:pPr algn="l" indent="0" marL="0">
              <a:buNone/>
            </a:pPr>
            <a:r>
              <a:rPr lang="en-US" sz="1050" b="1" spc="100" kern="0" dirty="0">
                <a:solidFill>
                  <a:schemeClr val="accent6"/>
                </a:solidFill>
              </a:rPr>
              <a:t>STOP CONDITIONS</a:t>
            </a:r>
            <a:endParaRPr lang="en-US" sz="1050" dirty="0"/>
          </a:p>
        </p:txBody>
      </p:sp>
      <p:sp>
        <p:nvSpPr>
          <p:cNvPr id="24" name="Stop 1 card"/>
          <p:cNvSpPr/>
          <p:nvPr/>
        </p:nvSpPr>
        <p:spPr>
          <a:xfrm>
            <a:off x="548640" y="4389120"/>
            <a:ext cx="2601468" cy="1188720"/>
          </a:xfrm>
          <a:prstGeom prst="roundRect">
            <a:avLst>
              <a:gd name="adj" fmla="val 7692"/>
            </a:avLst>
          </a:prstGeom>
          <a:solidFill>
            <a:schemeClr val="accent5">
              <a:alpha val="7000"/>
            </a:schemeClr>
          </a:solidFill>
          <a:ln w="15875">
            <a:solidFill>
              <a:schemeClr val="accent5"/>
            </a:solidFill>
            <a:prstDash val="dash"/>
          </a:ln>
        </p:spPr>
      </p:sp>
      <p:sp>
        <p:nvSpPr>
          <p:cNvPr id="25" name="Stop 1 step"/>
          <p:cNvSpPr txBox="1"/>
          <p:nvPr/>
        </p:nvSpPr>
        <p:spPr>
          <a:xfrm>
            <a:off x="713232" y="4526280"/>
            <a:ext cx="365760" cy="365760"/>
          </a:xfrm>
          <a:prstGeom prst="ellipse">
            <a:avLst/>
          </a:prstGeom>
          <a:solidFill>
            <a:schemeClr val="accent5"/>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6" name="Stop 1"/>
          <p:cNvSpPr txBox="1"/>
          <p:nvPr/>
        </p:nvSpPr>
        <p:spPr>
          <a:xfrm>
            <a:off x="1207008" y="4480560"/>
            <a:ext cx="1778508" cy="1024128"/>
          </a:xfrm>
          <a:prstGeom prst="rect">
            <a:avLst/>
          </a:prstGeom>
          <a:noFill/>
          <a:ln/>
        </p:spPr>
        <p:txBody>
          <a:bodyPr wrap="square" lIns="0" tIns="0" rIns="0" bIns="0" rtlCol="0" anchor="ctr"/>
          <a:lstStyle/>
          <a:p>
            <a:pPr algn="l" indent="0" marL="0">
              <a:buNone/>
            </a:pPr>
            <a:r>
              <a:rPr lang="en-US" sz="1300" dirty="0">
                <a:solidFill>
                  <a:schemeClr val="tx1"/>
                </a:solidFill>
              </a:rPr>
              <a:t>The client cannot authenticate: stop before hosted execution</a:t>
            </a:r>
            <a:endParaRPr lang="en-US" sz="1300" dirty="0"/>
          </a:p>
        </p:txBody>
      </p:sp>
      <p:sp>
        <p:nvSpPr>
          <p:cNvPr id="27" name="Stop 2 card"/>
          <p:cNvSpPr/>
          <p:nvPr/>
        </p:nvSpPr>
        <p:spPr>
          <a:xfrm>
            <a:off x="3378708" y="4389120"/>
            <a:ext cx="2601468" cy="1188720"/>
          </a:xfrm>
          <a:prstGeom prst="roundRect">
            <a:avLst>
              <a:gd name="adj" fmla="val 7692"/>
            </a:avLst>
          </a:prstGeom>
          <a:solidFill>
            <a:schemeClr val="accent5">
              <a:alpha val="7000"/>
            </a:schemeClr>
          </a:solidFill>
          <a:ln w="15875">
            <a:solidFill>
              <a:schemeClr val="accent5"/>
            </a:solidFill>
            <a:prstDash val="dash"/>
          </a:ln>
        </p:spPr>
      </p:sp>
      <p:sp>
        <p:nvSpPr>
          <p:cNvPr id="28" name="Stop 2 step"/>
          <p:cNvSpPr txBox="1"/>
          <p:nvPr/>
        </p:nvSpPr>
        <p:spPr>
          <a:xfrm>
            <a:off x="3543300" y="4526280"/>
            <a:ext cx="365760" cy="365760"/>
          </a:xfrm>
          <a:prstGeom prst="ellipse">
            <a:avLst/>
          </a:prstGeom>
          <a:solidFill>
            <a:schemeClr val="accent5"/>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9" name="Stop 2"/>
          <p:cNvSpPr txBox="1"/>
          <p:nvPr/>
        </p:nvSpPr>
        <p:spPr>
          <a:xfrm>
            <a:off x="4037076" y="4480560"/>
            <a:ext cx="1778508" cy="1024128"/>
          </a:xfrm>
          <a:prstGeom prst="rect">
            <a:avLst/>
          </a:prstGeom>
          <a:noFill/>
          <a:ln/>
        </p:spPr>
        <p:txBody>
          <a:bodyPr wrap="square" lIns="0" tIns="0" rIns="0" bIns="0" rtlCol="0" anchor="ctr"/>
          <a:lstStyle/>
          <a:p>
            <a:pPr algn="l" indent="0" marL="0">
              <a:buNone/>
            </a:pPr>
            <a:r>
              <a:rPr lang="en-US" sz="1300" dirty="0">
                <a:solidFill>
                  <a:schemeClr val="tx1"/>
                </a:solidFill>
              </a:rPr>
              <a:t>Direct calls cannot be blocked: that path is not offered as governed</a:t>
            </a:r>
            <a:endParaRPr lang="en-US" sz="1300" dirty="0"/>
          </a:p>
        </p:txBody>
      </p:sp>
      <p:sp>
        <p:nvSpPr>
          <p:cNvPr id="30" name="Stop 3 card"/>
          <p:cNvSpPr/>
          <p:nvPr/>
        </p:nvSpPr>
        <p:spPr>
          <a:xfrm>
            <a:off x="6208776" y="4389120"/>
            <a:ext cx="2601468" cy="1188720"/>
          </a:xfrm>
          <a:prstGeom prst="roundRect">
            <a:avLst>
              <a:gd name="adj" fmla="val 7692"/>
            </a:avLst>
          </a:prstGeom>
          <a:solidFill>
            <a:schemeClr val="accent5">
              <a:alpha val="7000"/>
            </a:schemeClr>
          </a:solidFill>
          <a:ln w="15875">
            <a:solidFill>
              <a:schemeClr val="accent5"/>
            </a:solidFill>
            <a:prstDash val="dash"/>
          </a:ln>
        </p:spPr>
      </p:sp>
      <p:sp>
        <p:nvSpPr>
          <p:cNvPr id="31" name="Stop 3 step"/>
          <p:cNvSpPr txBox="1"/>
          <p:nvPr/>
        </p:nvSpPr>
        <p:spPr>
          <a:xfrm>
            <a:off x="6373368" y="4526280"/>
            <a:ext cx="365760" cy="365760"/>
          </a:xfrm>
          <a:prstGeom prst="ellipse">
            <a:avLst/>
          </a:prstGeom>
          <a:solidFill>
            <a:schemeClr val="accent5"/>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2" name="Stop 3"/>
          <p:cNvSpPr txBox="1"/>
          <p:nvPr/>
        </p:nvSpPr>
        <p:spPr>
          <a:xfrm>
            <a:off x="6867144" y="4480560"/>
            <a:ext cx="1778508" cy="1024128"/>
          </a:xfrm>
          <a:prstGeom prst="rect">
            <a:avLst/>
          </a:prstGeom>
          <a:noFill/>
          <a:ln/>
        </p:spPr>
        <p:txBody>
          <a:bodyPr wrap="square" lIns="0" tIns="0" rIns="0" bIns="0" rtlCol="0" anchor="ctr"/>
          <a:lstStyle/>
          <a:p>
            <a:pPr algn="l" indent="0" marL="0">
              <a:buNone/>
            </a:pPr>
            <a:r>
              <a:rPr lang="en-US" sz="1300" dirty="0">
                <a:solidFill>
                  <a:schemeClr val="tx1"/>
                </a:solidFill>
              </a:rPr>
              <a:t>A component is still alpha at the review date: keep the conventional path</a:t>
            </a:r>
            <a:endParaRPr lang="en-US" sz="1300" dirty="0"/>
          </a:p>
        </p:txBody>
      </p:sp>
      <p:sp>
        <p:nvSpPr>
          <p:cNvPr id="33" name="Stop 4 card"/>
          <p:cNvSpPr/>
          <p:nvPr/>
        </p:nvSpPr>
        <p:spPr>
          <a:xfrm>
            <a:off x="9038844" y="4389120"/>
            <a:ext cx="2601468" cy="1188720"/>
          </a:xfrm>
          <a:prstGeom prst="roundRect">
            <a:avLst>
              <a:gd name="adj" fmla="val 7692"/>
            </a:avLst>
          </a:prstGeom>
          <a:solidFill>
            <a:schemeClr val="accent5">
              <a:alpha val="7000"/>
            </a:schemeClr>
          </a:solidFill>
          <a:ln w="15875">
            <a:solidFill>
              <a:schemeClr val="accent5"/>
            </a:solidFill>
            <a:prstDash val="dash"/>
          </a:ln>
        </p:spPr>
      </p:sp>
      <p:sp>
        <p:nvSpPr>
          <p:cNvPr id="34" name="Stop 4 step"/>
          <p:cNvSpPr txBox="1"/>
          <p:nvPr/>
        </p:nvSpPr>
        <p:spPr>
          <a:xfrm>
            <a:off x="9203436" y="4526280"/>
            <a:ext cx="365760" cy="365760"/>
          </a:xfrm>
          <a:prstGeom prst="ellipse">
            <a:avLst/>
          </a:prstGeom>
          <a:solidFill>
            <a:schemeClr val="accent5"/>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5" name="Stop 4"/>
          <p:cNvSpPr txBox="1"/>
          <p:nvPr/>
        </p:nvSpPr>
        <p:spPr>
          <a:xfrm>
            <a:off x="9697212" y="4480560"/>
            <a:ext cx="1778508" cy="1024128"/>
          </a:xfrm>
          <a:prstGeom prst="rect">
            <a:avLst/>
          </a:prstGeom>
          <a:noFill/>
          <a:ln/>
        </p:spPr>
        <p:txBody>
          <a:bodyPr wrap="square" lIns="0" tIns="0" rIns="0" bIns="0" rtlCol="0" anchor="ctr"/>
          <a:lstStyle/>
          <a:p>
            <a:pPr algn="l" indent="0" marL="0">
              <a:buNone/>
            </a:pPr>
            <a:r>
              <a:rPr lang="en-US" sz="1300" dirty="0">
                <a:solidFill>
                  <a:schemeClr val="tx1"/>
                </a:solidFill>
              </a:rPr>
              <a:t>Effort exceeds the budget: compare a smaller scope or a managed alternative</a:t>
            </a:r>
            <a:endParaRPr lang="en-US" sz="1300" dirty="0"/>
          </a:p>
        </p:txBody>
      </p:sp>
      <p:sp>
        <p:nvSpPr>
          <p:cNvPr id="36" name="Stop note"/>
          <p:cNvSpPr txBox="1"/>
          <p:nvPr/>
        </p:nvSpPr>
        <p:spPr>
          <a:xfrm>
            <a:off x="548640" y="5760720"/>
            <a:ext cx="11091672" cy="320040"/>
          </a:xfrm>
          <a:prstGeom prst="rect">
            <a:avLst/>
          </a:prstGeom>
          <a:noFill/>
          <a:ln/>
        </p:spPr>
        <p:txBody>
          <a:bodyPr wrap="square" lIns="0" tIns="0" rIns="0" bIns="0" rtlCol="0" anchor="t"/>
          <a:lstStyle/>
          <a:p>
            <a:pPr algn="l" indent="0" marL="0">
              <a:buNone/>
            </a:pPr>
            <a:r>
              <a:rPr lang="en-US" sz="1400" dirty="0">
                <a:solidFill>
                  <a:schemeClr val="accent6"/>
                </a:solidFill>
              </a:rPr>
              <a:t>Meeting a stop condition narrows or ends the option. It does not extend the pilot.</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868680"/>
          </a:xfrm>
          <a:prstGeom prst="rect">
            <a:avLst/>
          </a:prstGeom>
          <a:noFill/>
          <a:ln/>
        </p:spPr>
        <p:txBody>
          <a:bodyPr wrap="square" lIns="0" tIns="0" rIns="0" bIns="0" rtlCol="0" anchor="ctr"/>
          <a:lstStyle/>
          <a:p>
            <a:pPr algn="l" indent="0" marL="0">
              <a:buNone/>
            </a:pPr>
            <a:r>
              <a:rPr lang="en-US" sz="3600" b="1" dirty="0">
                <a:solidFill>
                  <a:schemeClr val="bg1"/>
                </a:solidFill>
              </a:rPr>
              <a:t>What we need to start the pilot</a:t>
            </a:r>
            <a:endParaRPr lang="en-US" sz="3600" dirty="0"/>
          </a:p>
        </p:txBody>
      </p:sp>
      <p:sp>
        <p:nvSpPr>
          <p:cNvPr id="3" name="Ask 1 number"/>
          <p:cNvSpPr txBox="1"/>
          <p:nvPr/>
        </p:nvSpPr>
        <p:spPr>
          <a:xfrm>
            <a:off x="548640" y="1700784"/>
            <a:ext cx="512064" cy="512064"/>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4" name="Ask 1"/>
          <p:cNvSpPr txBox="1"/>
          <p:nvPr/>
        </p:nvSpPr>
        <p:spPr>
          <a:xfrm>
            <a:off x="1325880" y="1645920"/>
            <a:ext cx="6309360" cy="621792"/>
          </a:xfrm>
          <a:prstGeom prst="rect">
            <a:avLst/>
          </a:prstGeom>
          <a:noFill/>
          <a:ln/>
        </p:spPr>
        <p:txBody>
          <a:bodyPr wrap="square" lIns="0" tIns="0" rIns="0" bIns="0" rtlCol="0" anchor="ctr"/>
          <a:lstStyle/>
          <a:p>
            <a:pPr indent="0" marL="0">
              <a:buNone/>
            </a:pPr>
            <a:r>
              <a:rPr lang="en-US" sz="1800" dirty="0">
                <a:solidFill>
                  <a:schemeClr val="bg1"/>
                </a:solidFill>
              </a:rPr>
              <a:t>A decision owner, a pilot duration and a review date</a:t>
            </a:r>
            <a:endParaRPr lang="en-US" sz="1800" dirty="0"/>
          </a:p>
        </p:txBody>
      </p:sp>
      <p:sp>
        <p:nvSpPr>
          <p:cNvPr id="5" name="Ask 2 number"/>
          <p:cNvSpPr txBox="1"/>
          <p:nvPr/>
        </p:nvSpPr>
        <p:spPr>
          <a:xfrm>
            <a:off x="548640" y="2542032"/>
            <a:ext cx="512064" cy="512064"/>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6" name="Ask 2"/>
          <p:cNvSpPr txBox="1"/>
          <p:nvPr/>
        </p:nvSpPr>
        <p:spPr>
          <a:xfrm>
            <a:off x="1325880" y="2487168"/>
            <a:ext cx="6309360" cy="621792"/>
          </a:xfrm>
          <a:prstGeom prst="rect">
            <a:avLst/>
          </a:prstGeom>
          <a:noFill/>
          <a:ln/>
        </p:spPr>
        <p:txBody>
          <a:bodyPr wrap="square" lIns="0" tIns="0" rIns="0" bIns="0" rtlCol="0" anchor="ctr"/>
          <a:lstStyle/>
          <a:p>
            <a:pPr indent="0" marL="0">
              <a:buNone/>
            </a:pPr>
            <a:r>
              <a:rPr lang="en-US" sz="1800" dirty="0">
                <a:solidFill>
                  <a:schemeClr val="bg1"/>
                </a:solidFill>
              </a:rPr>
              <a:t>One developer client, one read-only service and one approved model</a:t>
            </a:r>
            <a:endParaRPr lang="en-US" sz="1800" dirty="0"/>
          </a:p>
        </p:txBody>
      </p:sp>
      <p:sp>
        <p:nvSpPr>
          <p:cNvPr id="7" name="Ask 3 number"/>
          <p:cNvSpPr txBox="1"/>
          <p:nvPr/>
        </p:nvSpPr>
        <p:spPr>
          <a:xfrm>
            <a:off x="548640" y="3383280"/>
            <a:ext cx="512064" cy="512064"/>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8" name="Ask 3"/>
          <p:cNvSpPr txBox="1"/>
          <p:nvPr/>
        </p:nvSpPr>
        <p:spPr>
          <a:xfrm>
            <a:off x="1325880" y="3328416"/>
            <a:ext cx="6309360" cy="621792"/>
          </a:xfrm>
          <a:prstGeom prst="rect">
            <a:avLst/>
          </a:prstGeom>
          <a:noFill/>
          <a:ln/>
        </p:spPr>
        <p:txBody>
          <a:bodyPr wrap="square" lIns="0" tIns="0" rIns="0" bIns="0" rtlCol="0" anchor="ctr"/>
          <a:lstStyle/>
          <a:p>
            <a:pPr indent="0" marL="0">
              <a:buNone/>
            </a:pPr>
            <a:r>
              <a:rPr lang="en-US" sz="1800" dirty="0">
                <a:solidFill>
                  <a:schemeClr val="bg1"/>
                </a:solidFill>
              </a:rPr>
              <a:t>The operational telemetry backend: New Relic or Dynatrace</a:t>
            </a:r>
            <a:endParaRPr lang="en-US" sz="1800" dirty="0"/>
          </a:p>
        </p:txBody>
      </p:sp>
      <p:sp>
        <p:nvSpPr>
          <p:cNvPr id="9" name="Ask 4 number"/>
          <p:cNvSpPr txBox="1"/>
          <p:nvPr/>
        </p:nvSpPr>
        <p:spPr>
          <a:xfrm>
            <a:off x="548640" y="4224528"/>
            <a:ext cx="512064" cy="512064"/>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10" name="Ask 4"/>
          <p:cNvSpPr txBox="1"/>
          <p:nvPr/>
        </p:nvSpPr>
        <p:spPr>
          <a:xfrm>
            <a:off x="1325880" y="4169664"/>
            <a:ext cx="6309360" cy="621792"/>
          </a:xfrm>
          <a:prstGeom prst="rect">
            <a:avLst/>
          </a:prstGeom>
          <a:noFill/>
          <a:ln/>
        </p:spPr>
        <p:txBody>
          <a:bodyPr wrap="square" lIns="0" tIns="0" rIns="0" bIns="0" rtlCol="0" anchor="ctr"/>
          <a:lstStyle/>
          <a:p>
            <a:pPr indent="0" marL="0">
              <a:buNone/>
            </a:pPr>
            <a:r>
              <a:rPr lang="en-US" sz="1800" dirty="0">
                <a:solidFill>
                  <a:schemeClr val="bg1"/>
                </a:solidFill>
              </a:rPr>
              <a:t>What "tenant" means, and which operations need the user's delegated permissions</a:t>
            </a:r>
            <a:endParaRPr lang="en-US" sz="1800" dirty="0"/>
          </a:p>
        </p:txBody>
      </p:sp>
      <p:sp>
        <p:nvSpPr>
          <p:cNvPr id="11" name="Ask 5 number"/>
          <p:cNvSpPr txBox="1"/>
          <p:nvPr/>
        </p:nvSpPr>
        <p:spPr>
          <a:xfrm>
            <a:off x="548640" y="5065776"/>
            <a:ext cx="512064" cy="512064"/>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5</a:t>
            </a:r>
            <a:endParaRPr lang="en-US" sz="1700" dirty="0"/>
          </a:p>
        </p:txBody>
      </p:sp>
      <p:sp>
        <p:nvSpPr>
          <p:cNvPr id="12" name="Ask 5"/>
          <p:cNvSpPr txBox="1"/>
          <p:nvPr/>
        </p:nvSpPr>
        <p:spPr>
          <a:xfrm>
            <a:off x="1325880" y="5010912"/>
            <a:ext cx="6309360" cy="621792"/>
          </a:xfrm>
          <a:prstGeom prst="rect">
            <a:avLst/>
          </a:prstGeom>
          <a:noFill/>
          <a:ln/>
        </p:spPr>
        <p:txBody>
          <a:bodyPr wrap="square" lIns="0" tIns="0" rIns="0" bIns="0" rtlCol="0" anchor="ctr"/>
          <a:lstStyle/>
          <a:p>
            <a:pPr indent="0" marL="0">
              <a:buNone/>
            </a:pPr>
            <a:r>
              <a:rPr lang="en-US" sz="1800" dirty="0">
                <a:solidFill>
                  <a:schemeClr val="bg1"/>
                </a:solidFill>
              </a:rPr>
              <a:t>A cluster inventory: versions, Istio mode, network policy engine and secret delivery</a:t>
            </a:r>
            <a:endParaRPr lang="en-US" sz="1800" dirty="0"/>
          </a:p>
        </p:txBody>
      </p:sp>
      <p:sp>
        <p:nvSpPr>
          <p:cNvPr id="13" name="Document card"/>
          <p:cNvSpPr/>
          <p:nvPr/>
        </p:nvSpPr>
        <p:spPr>
          <a:xfrm>
            <a:off x="8001000" y="1691640"/>
            <a:ext cx="3639312" cy="3017520"/>
          </a:xfrm>
          <a:prstGeom prst="roundRect">
            <a:avLst>
              <a:gd name="adj" fmla="val 3636"/>
            </a:avLst>
          </a:prstGeom>
          <a:solidFill>
            <a:schemeClr val="bg1">
              <a:alpha val="8000"/>
            </a:schemeClr>
          </a:solidFill>
          <a:ln w="12700">
            <a:solidFill>
              <a:schemeClr val="bg1">
                <a:alpha val="45000"/>
              </a:schemeClr>
            </a:solidFill>
            <a:prstDash val="solid"/>
          </a:ln>
        </p:spPr>
      </p:sp>
      <p:sp>
        <p:nvSpPr>
          <p:cNvPr id="14" name="Document circle"/>
          <p:cNvSpPr/>
          <p:nvPr/>
        </p:nvSpPr>
        <p:spPr>
          <a:xfrm>
            <a:off x="8275320" y="1965960"/>
            <a:ext cx="640080" cy="640080"/>
          </a:xfrm>
          <a:prstGeom prst="ellipse">
            <a:avLst/>
          </a:prstGeom>
          <a:solidFill>
            <a:schemeClr val="accent1"/>
          </a:solidFill>
          <a:ln/>
        </p:spPr>
      </p:sp>
      <p:pic>
        <p:nvPicPr>
          <p:cNvPr id="15" name="Document icon" descr="preencoded.png">    </p:cNvPr>
          <p:cNvPicPr>
            <a:picLocks noChangeAspect="1"/>
          </p:cNvPicPr>
          <p:nvPr/>
        </p:nvPicPr>
        <p:blipFill>
          <a:blip r:embed="rId1"/>
          <a:stretch>
            <a:fillRect/>
          </a:stretch>
        </p:blipFill>
        <p:spPr>
          <a:xfrm>
            <a:off x="8435340" y="2125980"/>
            <a:ext cx="320040" cy="320040"/>
          </a:xfrm>
          <a:prstGeom prst="rect">
            <a:avLst/>
          </a:prstGeom>
        </p:spPr>
      </p:pic>
      <p:sp>
        <p:nvSpPr>
          <p:cNvPr id="16" name="Document heading"/>
          <p:cNvSpPr txBox="1"/>
          <p:nvPr/>
        </p:nvSpPr>
        <p:spPr>
          <a:xfrm>
            <a:off x="8275320" y="2788920"/>
            <a:ext cx="3108960" cy="365760"/>
          </a:xfrm>
          <a:prstGeom prst="rect">
            <a:avLst/>
          </a:prstGeom>
          <a:noFill/>
          <a:ln/>
        </p:spPr>
        <p:txBody>
          <a:bodyPr wrap="square" lIns="0" tIns="0" rIns="0" bIns="0" rtlCol="0" anchor="t"/>
          <a:lstStyle/>
          <a:p>
            <a:pPr algn="l" indent="0" marL="0">
              <a:buNone/>
            </a:pPr>
            <a:r>
              <a:rPr lang="en-US" sz="1900" b="1" dirty="0">
                <a:solidFill>
                  <a:schemeClr val="bg1"/>
                </a:solidFill>
              </a:rPr>
              <a:t>The full document</a:t>
            </a:r>
            <a:endParaRPr lang="en-US" sz="1900" dirty="0"/>
          </a:p>
        </p:txBody>
      </p:sp>
      <p:sp>
        <p:nvSpPr>
          <p:cNvPr id="17" name="Document path"/>
          <p:cNvSpPr txBox="1"/>
          <p:nvPr/>
        </p:nvSpPr>
        <p:spPr>
          <a:xfrm>
            <a:off x="8275320" y="3200400"/>
            <a:ext cx="3108960" cy="320040"/>
          </a:xfrm>
          <a:prstGeom prst="rect">
            <a:avLst/>
          </a:prstGeom>
          <a:noFill/>
          <a:ln/>
        </p:spPr>
        <p:txBody>
          <a:bodyPr wrap="square" lIns="0" tIns="0" rIns="0" bIns="0" rtlCol="0" anchor="t"/>
          <a:lstStyle/>
          <a:p>
            <a:pPr algn="l" indent="0" marL="0">
              <a:buNone/>
            </a:pPr>
            <a:r>
              <a:rPr lang="en-US" sz="1300" dirty="0">
                <a:solidFill>
                  <a:schemeClr val="bg1"/>
                </a:solidFill>
              </a:rPr>
              <a:t>Docs/AgentGateway/architecture.md</a:t>
            </a:r>
            <a:endParaRPr lang="en-US" sz="1300" dirty="0"/>
          </a:p>
        </p:txBody>
      </p:sp>
      <p:sp>
        <p:nvSpPr>
          <p:cNvPr id="18" name="Document summary"/>
          <p:cNvSpPr txBox="1"/>
          <p:nvPr/>
        </p:nvSpPr>
        <p:spPr>
          <a:xfrm>
            <a:off x="8275320" y="3611880"/>
            <a:ext cx="3108960" cy="960120"/>
          </a:xfrm>
          <a:prstGeom prst="rect">
            <a:avLst/>
          </a:prstGeom>
          <a:noFill/>
          <a:ln/>
        </p:spPr>
        <p:txBody>
          <a:bodyPr wrap="square" lIns="0" tIns="0" rIns="0" bIns="0" rtlCol="0" anchor="t"/>
          <a:lstStyle/>
          <a:p>
            <a:pPr algn="l" indent="0" marL="0">
              <a:buNone/>
            </a:pPr>
            <a:r>
              <a:rPr lang="en-US" sz="1400" dirty="0">
                <a:solidFill>
                  <a:schemeClr val="bg1"/>
                </a:solidFill>
              </a:rPr>
              <a:t>20 sections with diagrams, 15 open decisions, the 26 pilot experiments and the sources.</a:t>
            </a:r>
            <a:endParaRPr lang="en-US" sz="1400" dirty="0"/>
          </a:p>
        </p:txBody>
      </p:sp>
      <p:sp>
        <p:nvSpPr>
          <p:cNvPr id="19" name="Closing note"/>
          <p:cNvSpPr txBox="1"/>
          <p:nvPr/>
        </p:nvSpPr>
        <p:spPr>
          <a:xfrm>
            <a:off x="548640" y="6126480"/>
            <a:ext cx="11091672" cy="365760"/>
          </a:xfrm>
          <a:prstGeom prst="rect">
            <a:avLst/>
          </a:prstGeom>
          <a:noFill/>
          <a:ln/>
        </p:spPr>
        <p:txBody>
          <a:bodyPr wrap="square" lIns="0" tIns="0" rIns="0" bIns="0" rtlCol="0" anchor="t"/>
          <a:lstStyle/>
          <a:p>
            <a:pPr algn="l" indent="0" marL="0">
              <a:buNone/>
            </a:pPr>
            <a:r>
              <a:rPr lang="en-US" sz="1300" dirty="0">
                <a:solidFill>
                  <a:schemeClr val="bg1"/>
                </a:solidFill>
              </a:rPr>
              <a:t>Nothing in this deck is selected, deployed or measured. The decision is recorded in an ADR when it is made.</a:t>
            </a:r>
            <a:endParaRPr lang="en-US" sz="1300" dirty="0"/>
          </a:p>
        </p:txBody>
      </p:sp>
    </p:spTree>
  </p:cSld>
  <p:clrMapOvr>
    <a:masterClrMapping/>
  </p:clrMapOvr>
</p:sld>
</file>

<file path=ppt/theme/theme1.xml><?xml version="1.0" encoding="utf-8"?>
<a:theme xmlns:a="http://schemas.openxmlformats.org/drawingml/2006/main" name="EKS Agent Platform">
  <a:themeElements>
    <a:clrScheme name="EKS Agent Platform">
      <a:dk1>
        <a:srgbClr val="0B0B0B"/>
      </a:dk1>
      <a:lt1>
        <a:srgbClr val="FFFFFF"/>
      </a:lt1>
      <a:dk2>
        <a:srgbClr val="17212B"/>
      </a:dk2>
      <a:lt2>
        <a:srgbClr val="F1F3F5"/>
      </a:lt2>
      <a:accent1>
        <a:srgbClr val="2A78D6"/>
      </a:accent1>
      <a:accent2>
        <a:srgbClr val="EB6834"/>
      </a:accent2>
      <a:accent3>
        <a:srgbClr val="1BAF7A"/>
      </a:accent3>
      <a:accent4>
        <a:srgbClr val="8F8E88"/>
      </a:accent4>
      <a:accent5>
        <a:srgbClr val="D03B3B"/>
      </a:accent5>
      <a:accent6>
        <a:srgbClr val="52514E"/>
      </a:accent6>
      <a:hlink>
        <a:srgbClr val="2A78D6"/>
      </a:hlink>
      <a:folHlink>
        <a:srgbClr val="4A3AA7"/>
      </a:folHlink>
    </a:clrScheme>
    <a:fontScheme name="EKS Agent Platfor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EKS Agent Platform (Agentgateway): Architecture</dc:title>
  <dc:subject>Proposed target architecture</dc:subject>
  <dc:creator>Platform architecture</dc:creator>
  <cp:lastModifiedBy>Platform architecture</cp:lastModifiedBy>
  <cp:revision>1</cp:revision>
  <dcterms:created xsi:type="dcterms:W3CDTF">2026-10-06T06:33:43Z</dcterms:created>
  <dcterms:modified xsi:type="dcterms:W3CDTF">2026-10-06T06:33:43Z</dcterms:modified>
</cp:coreProperties>
</file>